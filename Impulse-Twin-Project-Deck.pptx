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v</c:v>
                </c:pt>
              </c:strCache>
            </c:strRef>
          </c:tx>
          <c:dPt>
            <c:idx val="0"/>
            <c:spPr>
              <a:solidFill>
                <a:srgbClr val="B3261E"/>
              </a:solidFill>
            </c:spPr>
          </c:dPt>
          <c:dPt>
            <c:idx val="1"/>
            <c:spPr>
              <a:solidFill>
                <a:srgbClr val="5B6775"/>
              </a:solidFill>
            </c:spPr>
          </c:dPt>
          <c:dPt>
            <c:idx val="2"/>
            <c:spPr>
              <a:solidFill>
                <a:srgbClr val="138808"/>
              </a:solidFill>
            </c:spPr>
          </c:dPt>
          <c:dPt>
            <c:idx val="3"/>
            <c:spPr>
              <a:solidFill>
                <a:srgbClr val="E8871E"/>
              </a:solidFill>
            </c:spPr>
          </c:dPt>
          <c:cat>
            <c:strRef>
              <c:f>Sheet1!$A$2:$A$5</c:f>
              <c:strCache>
                <c:ptCount val="4"/>
                <c:pt idx="0">
                  <c:v>Black-box AI</c:v>
                </c:pt>
                <c:pt idx="1">
                  <c:v>Current practice</c:v>
                </c:pt>
                <c:pt idx="2">
                  <c:v>App with memory</c:v>
                </c:pt>
                <c:pt idx="3">
                  <c:v>Lab memory</c:v>
                </c:pt>
              </c:strCache>
            </c:strRef>
          </c:cat>
          <c:val>
            <c:numRef>
              <c:f>Sheet1!$B$2:$B$5</c:f>
              <c:numCache>
                <c:formatCode>General</c:formatCode>
                <c:ptCount val="4"/>
                <c:pt idx="0">
                  <c:v>4.72</c:v>
                </c:pt>
                <c:pt idx="1">
                  <c:v>2.1</c:v>
                </c:pt>
                <c:pt idx="2">
                  <c:v>0.48</c:v>
                </c:pt>
                <c:pt idx="3">
                  <c:v>0.38</c:v>
                </c:pt>
              </c:numCache>
            </c:numRef>
          </c:val>
        </c:ser>
        <c:dLbls>
          <c:numFmt formatCode="0.00" sourceLinked="0"/>
          <c:txPr>
            <a:bodyPr/>
            <a:lstStyle/>
            <a:p>
              <a:pPr>
                <a:defRPr sz="1500" b="1">
                  <a:solidFill>
                    <a:srgbClr val="1F2A37"/>
                  </a:solidFill>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axMin"/>
        </c:scaling>
        <c:delete val="0"/>
        <c:axPos val="l"/>
        <c:majorTickMark val="out"/>
        <c:minorTickMark val="none"/>
        <c:tickLblPos val="nextTo"/>
        <c:spPr>
          <a:ln>
            <a:solidFill>
              <a:srgbClr val="C9D2DD"/>
            </a:solidFill>
          </a:ln>
        </c:spPr>
        <c:txPr>
          <a:bodyPr/>
          <a:lstStyle/>
          <a:p>
            <a:pPr>
              <a:defRPr sz="1400">
                <a:solidFill>
                  <a:srgbClr val="1F2A37"/>
                </a:solidFill>
              </a:defRPr>
            </a:pPr>
          </a:p>
        </c:txPr>
        <c:crossAx val="-2113994440"/>
        <c:crosses val="autoZero"/>
        <c:auto val="1"/>
        <c:lblAlgn val="ctr"/>
        <c:lblOffset val="100"/>
        <c:noMultiLvlLbl val="0"/>
      </c:catAx>
      <c:valAx>
        <c:axId val="-2113994440"/>
        <c:scaling>
          <c:max val="5.8"/>
          <c:min val="0.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v</c:v>
                </c:pt>
              </c:strCache>
            </c:strRef>
          </c:tx>
          <c:dPt>
            <c:idx val="0"/>
            <c:spPr>
              <a:solidFill>
                <a:srgbClr val="5B6775"/>
              </a:solidFill>
            </c:spPr>
          </c:dPt>
          <c:dPt>
            <c:idx val="1"/>
            <c:spPr>
              <a:solidFill>
                <a:srgbClr val="1D4E89"/>
              </a:solidFill>
            </c:spPr>
          </c:dPt>
          <c:dPt>
            <c:idx val="2"/>
            <c:spPr>
              <a:solidFill>
                <a:srgbClr val="138808"/>
              </a:solidFill>
            </c:spPr>
          </c:dPt>
          <c:dPt>
            <c:idx val="3"/>
            <c:spPr>
              <a:solidFill>
                <a:srgbClr val="E8871E"/>
              </a:solidFill>
            </c:spPr>
          </c:dPt>
          <c:cat>
            <c:strRef>
              <c:f>Sheet1!$A$2:$A$5</c:f>
              <c:strCache>
                <c:ptCount val="4"/>
                <c:pt idx="0">
                  <c:v>Current practice</c:v>
                </c:pt>
                <c:pt idx="1">
                  <c:v>Physics calibration</c:v>
                </c:pt>
                <c:pt idx="2">
                  <c:v>App with memory</c:v>
                </c:pt>
                <c:pt idx="3">
                  <c:v>Lab memory</c:v>
                </c:pt>
              </c:strCache>
            </c:strRef>
          </c:cat>
          <c:val>
            <c:numRef>
              <c:f>Sheet1!$B$2:$B$5</c:f>
              <c:numCache>
                <c:formatCode>General</c:formatCode>
                <c:ptCount val="4"/>
                <c:pt idx="0">
                  <c:v>28</c:v>
                </c:pt>
                <c:pt idx="1">
                  <c:v>31</c:v>
                </c:pt>
                <c:pt idx="2">
                  <c:v>59</c:v>
                </c:pt>
                <c:pt idx="3">
                  <c:v>62</c:v>
                </c:pt>
              </c:numCache>
            </c:numRef>
          </c:val>
        </c:ser>
        <c:dLbls>
          <c:numFmt formatCode="0&quot;%&quot;" sourceLinked="0"/>
          <c:txPr>
            <a:bodyPr/>
            <a:lstStyle/>
            <a:p>
              <a:pPr>
                <a:defRPr sz="1500" b="1">
                  <a:solidFill>
                    <a:srgbClr val="1F2A37"/>
                  </a:solidFill>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axMin"/>
        </c:scaling>
        <c:delete val="0"/>
        <c:axPos val="l"/>
        <c:majorTickMark val="out"/>
        <c:minorTickMark val="none"/>
        <c:tickLblPos val="nextTo"/>
        <c:spPr>
          <a:ln>
            <a:solidFill>
              <a:srgbClr val="C9D2DD"/>
            </a:solidFill>
          </a:ln>
        </c:spPr>
        <c:txPr>
          <a:bodyPr/>
          <a:lstStyle/>
          <a:p>
            <a:pPr>
              <a:defRPr sz="1400">
                <a:solidFill>
                  <a:srgbClr val="1F2A37"/>
                </a:solidFill>
              </a:defRPr>
            </a:pPr>
          </a:p>
        </c:txPr>
        <c:crossAx val="-2113994440"/>
        <c:crosses val="autoZero"/>
        <c:auto val="1"/>
        <c:lblAlgn val="ctr"/>
        <c:lblOffset val="100"/>
        <c:noMultiLvlLbl val="0"/>
      </c:catAx>
      <c:valAx>
        <c:axId val="-2113994440"/>
        <c:scaling>
          <c:max val="80.0"/>
          <c:min val="0.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v</c:v>
                </c:pt>
              </c:strCache>
            </c:strRef>
          </c:tx>
          <c:dPt>
            <c:idx val="0"/>
            <c:spPr>
              <a:solidFill>
                <a:srgbClr val="5B6775"/>
              </a:solidFill>
            </c:spPr>
          </c:dPt>
          <c:dPt>
            <c:idx val="1"/>
            <c:spPr>
              <a:solidFill>
                <a:srgbClr val="5B6775"/>
              </a:solidFill>
            </c:spPr>
          </c:dPt>
          <c:dPt>
            <c:idx val="2"/>
            <c:spPr>
              <a:solidFill>
                <a:srgbClr val="5B6775"/>
              </a:solidFill>
            </c:spPr>
          </c:dPt>
          <c:dPt>
            <c:idx val="3"/>
            <c:spPr>
              <a:solidFill>
                <a:srgbClr val="5B6775"/>
              </a:solidFill>
            </c:spPr>
          </c:dPt>
          <c:dPt>
            <c:idx val="4"/>
            <c:spPr>
              <a:solidFill>
                <a:srgbClr val="E8871E"/>
              </a:solidFill>
            </c:spPr>
          </c:dPt>
          <c:cat>
            <c:strRef>
              <c:f>Sheet1!$A$2:$A$6</c:f>
              <c:strCache>
                <c:ptCount val="5"/>
                <c:pt idx="0">
                  <c:v>Textbook</c:v>
                </c:pt>
                <c:pt idx="1">
                  <c:v>CPRI weighted kNN</c:v>
                </c:pt>
                <c:pt idx="2">
                  <c:v>Neural network</c:v>
                </c:pt>
                <c:pt idx="3">
                  <c:v>Gradient boosting</c:v>
                </c:pt>
                <c:pt idx="4">
                  <c:v>Physics + learned</c:v>
                </c:pt>
              </c:strCache>
            </c:strRef>
          </c:cat>
          <c:val>
            <c:numRef>
              <c:f>Sheet1!$B$2:$B$6</c:f>
              <c:numCache>
                <c:formatCode>General</c:formatCode>
                <c:ptCount val="5"/>
                <c:pt idx="0">
                  <c:v>8.57</c:v>
                </c:pt>
                <c:pt idx="1">
                  <c:v>5.38</c:v>
                </c:pt>
                <c:pt idx="2">
                  <c:v>2.16</c:v>
                </c:pt>
                <c:pt idx="3">
                  <c:v>1.2</c:v>
                </c:pt>
                <c:pt idx="4">
                  <c:v>0.8</c:v>
                </c:pt>
              </c:numCache>
            </c:numRef>
          </c:val>
        </c:ser>
        <c:dLbls>
          <c:numFmt formatCode="0.00" sourceLinked="0"/>
          <c:txPr>
            <a:bodyPr/>
            <a:lstStyle/>
            <a:p>
              <a:pPr>
                <a:defRPr sz="1500" b="1">
                  <a:solidFill>
                    <a:srgbClr val="1F2A37"/>
                  </a:solidFill>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axMin"/>
        </c:scaling>
        <c:delete val="0"/>
        <c:axPos val="l"/>
        <c:majorTickMark val="out"/>
        <c:minorTickMark val="none"/>
        <c:tickLblPos val="nextTo"/>
        <c:spPr>
          <a:ln>
            <a:solidFill>
              <a:srgbClr val="C9D2DD"/>
            </a:solidFill>
          </a:ln>
        </c:spPr>
        <c:txPr>
          <a:bodyPr/>
          <a:lstStyle/>
          <a:p>
            <a:pPr>
              <a:defRPr sz="1400">
                <a:solidFill>
                  <a:srgbClr val="1F2A37"/>
                </a:solidFill>
              </a:defRPr>
            </a:pPr>
          </a:p>
        </c:txPr>
        <c:crossAx val="-2113994440"/>
        <c:crosses val="autoZero"/>
        <c:auto val="1"/>
        <c:lblAlgn val="ctr"/>
        <c:lblOffset val="100"/>
        <c:noMultiLvlLbl val="0"/>
      </c:catAx>
      <c:valAx>
        <c:axId val="-2113994440"/>
        <c:scaling>
          <c:max val="10.5"/>
          <c:min val="0.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v</c:v>
                </c:pt>
              </c:strCache>
            </c:strRef>
          </c:tx>
          <c:dPt>
            <c:idx val="0"/>
            <c:spPr>
              <a:solidFill>
                <a:srgbClr val="5B6775"/>
              </a:solidFill>
            </c:spPr>
          </c:dPt>
          <c:dPt>
            <c:idx val="1"/>
            <c:spPr>
              <a:solidFill>
                <a:srgbClr val="1D4E89"/>
              </a:solidFill>
            </c:spPr>
          </c:dPt>
          <c:dPt>
            <c:idx val="2"/>
            <c:spPr>
              <a:solidFill>
                <a:srgbClr val="E8871E"/>
              </a:solidFill>
            </c:spPr>
          </c:dPt>
          <c:dPt>
            <c:idx val="3"/>
            <c:spPr>
              <a:solidFill>
                <a:srgbClr val="5B6775"/>
              </a:solidFill>
            </c:spPr>
          </c:dPt>
          <c:dPt>
            <c:idx val="4"/>
            <c:spPr>
              <a:solidFill>
                <a:srgbClr val="5B6775"/>
              </a:solidFill>
            </c:spPr>
          </c:dPt>
          <c:cat>
            <c:strRef>
              <c:f>Sheet1!$A$2:$A$6</c:f>
              <c:strCache>
                <c:ptCount val="5"/>
                <c:pt idx="0">
                  <c:v>kNN as shipped (k = 7)</c:v>
                </c:pt>
                <c:pt idx="1">
                  <c:v>kNN tuned (k = 25)</c:v>
                </c:pt>
                <c:pt idx="2">
                  <c:v>Ridge</c:v>
                </c:pt>
                <c:pt idx="3">
                  <c:v>Neural network</c:v>
                </c:pt>
                <c:pt idx="4">
                  <c:v>Gradient boosting</c:v>
                </c:pt>
              </c:strCache>
            </c:strRef>
          </c:cat>
          <c:val>
            <c:numRef>
              <c:f>Sheet1!$B$2:$B$6</c:f>
              <c:numCache>
                <c:formatCode>General</c:formatCode>
                <c:ptCount val="5"/>
                <c:pt idx="0">
                  <c:v>0.609</c:v>
                </c:pt>
                <c:pt idx="1">
                  <c:v>0.587</c:v>
                </c:pt>
                <c:pt idx="2">
                  <c:v>0.57</c:v>
                </c:pt>
                <c:pt idx="3">
                  <c:v>0.574</c:v>
                </c:pt>
                <c:pt idx="4">
                  <c:v>0.578</c:v>
                </c:pt>
              </c:numCache>
            </c:numRef>
          </c:val>
        </c:ser>
        <c:dLbls>
          <c:numFmt formatCode="0.000" sourceLinked="0"/>
          <c:txPr>
            <a:bodyPr/>
            <a:lstStyle/>
            <a:p>
              <a:pPr>
                <a:defRPr sz="1500" b="1">
                  <a:solidFill>
                    <a:srgbClr val="1F2A37"/>
                  </a:solidFill>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axMin"/>
        </c:scaling>
        <c:delete val="0"/>
        <c:axPos val="l"/>
        <c:majorTickMark val="out"/>
        <c:minorTickMark val="none"/>
        <c:tickLblPos val="nextTo"/>
        <c:spPr>
          <a:ln>
            <a:solidFill>
              <a:srgbClr val="C9D2DD"/>
            </a:solidFill>
          </a:ln>
        </c:spPr>
        <c:txPr>
          <a:bodyPr/>
          <a:lstStyle/>
          <a:p>
            <a:pPr>
              <a:defRPr sz="1400">
                <a:solidFill>
                  <a:srgbClr val="1F2A37"/>
                </a:solidFill>
              </a:defRPr>
            </a:pPr>
          </a:p>
        </c:txPr>
        <c:crossAx val="-2113994440"/>
        <c:crosses val="autoZero"/>
        <c:auto val="1"/>
        <c:lblAlgn val="ctr"/>
        <c:lblOffset val="100"/>
        <c:noMultiLvlLbl val="0"/>
      </c:catAx>
      <c:valAx>
        <c:axId val="-2113994440"/>
        <c:scaling>
          <c:max val="0.78"/>
          <c:min val="0.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team and the track. One line on the idea: physics computes the waveform and the IEC procedure judges it; a learned correction handles what the textbook cannot know about a particular hall.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Labs compute settings, fire reduced-voltage trial shots, read the IEC shape and adjust resistors. Every adjustment is physical work on a 2.4 MV generator. CPRI asked for stage count, charging voltage, front and tail resistance, compliant with the lightning and switching standards, with fewer trial shots.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pipeline reads left to right. Validation uses the IEC 60071 table. The target voltage is corrected for the atmosphere. The physics model predicts every stocked setting, the learned correction adjusts the prediction for this hall, and the ranked recommendation comes with a hardware check. After a shot the loop and the hall memory refine the next setting.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 stages in series and p parallel columns. The circuit is linear, so it is solved by eigendecomposition with no time stepping. The textbook expressions are cross-checks. The nameplate agrees with the physics: Rt per stage = T2 / (0.7 C_stage) gives 571 ohm and the plate says 520.</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evaluator follows the standard: a fitted double-exponential base curve and the k-factor test-voltage function. Using the circuit's zero-inductance curve instead once made us reject the only compliant settings, so the procedure itself must be replicated. Margin is the worst error divided by its tolerance; below one means inside every band.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Calibration fits four effective circuit parameters and one efficiency to the hall's shots. The fitted values are effective: loop inductance and divider response both slow the front and the fit trades one for the other, so the app does not present them as measurements. Boosting learns the relative residual with 300 trees of depth 3. The training shots come from a simulated hall and must be replaced with real ones.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item on CPRI's input list can be entered. Resistor availability works over the nameplate units in the browser; any other stock runs in the Python engine, which takes the stock as a parameter.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waveform plot is an idealised double exponential matched to the predicted T1 or Tp and T2, and is labelled as such. The deviation table shows signed percentage error against the target with its band.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Atmospheric correction changes the target voltage, not the waveform. k2 is a declared approximation because the standard gives it as a graph. Polarity is a sign flip of a linear circuit. Series-parallel connections are physics only. Lead inductance runs the physics at the entered value.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charge is capped at 90 percent of the capacitor rating everywhere and the app shows the loading explicitly. Every recommendation is drawn from stocked units, so it is buildable by construction; the panel shows the recipe and the unit count. CPRI's Excel calculator stock is a second description of equipment: our values can be built from it, while their switching dataset's front values exceed their own inventory.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Climbs are Dr. Sheshu's own pain point. At the hardest severity lab memory needs 0.38 climbs a session against the technician's 2.10, and black-box AI without physics is worse than a technician. Paired tests: lab memory climbs p = 0.0007 and app memory p = 0.0004, each surviving the Bonferroni threshold of 0.0019. In a well-characterised hall current practice already works; the gain is where the hall is poorly known.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our simulated hall the residual has physical structure and the hybrid is 6.7 times more accurate than kNN on front time and 6.1 times on larger insulators. That is not evidence about CPRI's data. On CPRI's own dataset the gain is small: Ridge 0.570 against 0.609 for kNN as shipped, and level with their kNN once its k is tuned from 7 to 25. Their synthetic residuals are mostly noise; the best model explains about 40 percent of the front-time residual.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CPRI's dataset is generated for the Excel calculator's machine: 3 microfarad per stage, 15 stages, 25 ohm tail per stage. The nameplate machine is 0.125 microfarad, 12 stages, 520 ohm tail. Training on the 3 microfarad rows for the 0.125 microfarad machine would look accurate in a benchmark and be wrong on the generator, so their data is the benchmark against their kNN and the learned model is built for the nameplate machine.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Physics is checked against Kuffel's textbook expressions and the IEC procedure. CPRI's kNN is reimplemented and matched to their sheet to four decimals. The app's JavaScript is run in Node against Python's predictions before the page is written. A Playwright run drives the finished page the way a hostile judge would.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is Python for the modelling and a single self-contained HTML file for the operator application. Boosted trees are trained with scikit-learn and exported to JSON so the browser executes the same model. The page's JavaScript is verified against Python in Node before every build.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shot records answer the one question the simulator cannot: which severity a real hall is. They would also let the learned correction be retrained on the real machine, and confirm the hardware facts the nameplate does not give.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repository and invite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chart" Target="../charts/chart1.xml"/><Relationship Id="rId4" Type="http://schemas.openxmlformats.org/officeDocument/2006/relationships/chart" Target="../charts/char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chart" Target="../charts/chart3.xml"/><Relationship Id="rId4" Type="http://schemas.openxmlformats.org/officeDocument/2006/relationships/chart" Target="../charts/char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709160"/>
            <a:ext cx="12191695" cy="73152"/>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782312"/>
            <a:ext cx="12191695" cy="731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4855464"/>
            <a:ext cx="12191695" cy="73152"/>
          </a:xfrm>
          <a:prstGeom prst="rect">
            <a:avLst/>
          </a:prstGeom>
          <a:solidFill>
            <a:srgbClr val="138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10515600" cy="457200"/>
          </a:xfrm>
          <a:prstGeom prst="rect">
            <a:avLst/>
          </a:prstGeom>
          <a:noFill/>
        </p:spPr>
        <p:txBody>
          <a:bodyPr wrap="square" anchor="t" lIns="54864" rIns="54864" tIns="27432" bIns="27432">
            <a:spAutoFit/>
          </a:bodyPr>
          <a:lstStyle/>
          <a:p>
            <a:pPr algn="l">
              <a:spcAft>
                <a:spcPts val="400"/>
              </a:spcAft>
            </a:pPr>
            <a:r>
              <a:rPr sz="1600" b="1">
                <a:solidFill>
                  <a:srgbClr val="E8871E"/>
                </a:solidFill>
                <a:latin typeface="Calibri"/>
              </a:rPr>
              <a:t>POWERNEXT-AI  ·  CPRI WITH MIT BENGALURU  ·  TRACK 1</a:t>
            </a:r>
          </a:p>
        </p:txBody>
      </p:sp>
      <p:sp>
        <p:nvSpPr>
          <p:cNvPr id="7" name="TextBox 6"/>
          <p:cNvSpPr txBox="1"/>
          <p:nvPr/>
        </p:nvSpPr>
        <p:spPr>
          <a:xfrm>
            <a:off x="822960" y="1645920"/>
            <a:ext cx="10607040" cy="1463040"/>
          </a:xfrm>
          <a:prstGeom prst="rect">
            <a:avLst/>
          </a:prstGeom>
          <a:noFill/>
        </p:spPr>
        <p:txBody>
          <a:bodyPr wrap="square" anchor="t" lIns="54864" rIns="54864" tIns="27432" bIns="27432">
            <a:spAutoFit/>
          </a:bodyPr>
          <a:lstStyle/>
          <a:p>
            <a:pPr algn="l">
              <a:spcAft>
                <a:spcPts val="400"/>
              </a:spcAft>
            </a:pPr>
            <a:r>
              <a:rPr sz="4000" b="1">
                <a:solidFill>
                  <a:srgbClr val="FFFFFF"/>
                </a:solidFill>
                <a:latin typeface="Calibri"/>
              </a:rPr>
              <a:t>AI-Driven Optimisation of High-Voltage Impulse Generator Settings</a:t>
            </a:r>
          </a:p>
        </p:txBody>
      </p:sp>
      <p:sp>
        <p:nvSpPr>
          <p:cNvPr id="8" name="TextBox 7"/>
          <p:cNvSpPr txBox="1"/>
          <p:nvPr/>
        </p:nvSpPr>
        <p:spPr>
          <a:xfrm>
            <a:off x="822960" y="3337560"/>
            <a:ext cx="10607040" cy="731520"/>
          </a:xfrm>
          <a:prstGeom prst="rect">
            <a:avLst/>
          </a:prstGeom>
          <a:noFill/>
        </p:spPr>
        <p:txBody>
          <a:bodyPr wrap="square" anchor="t" lIns="54864" rIns="54864" tIns="27432" bIns="27432">
            <a:spAutoFit/>
          </a:bodyPr>
          <a:lstStyle/>
          <a:p>
            <a:pPr algn="l">
              <a:spcAft>
                <a:spcPts val="400"/>
              </a:spcAft>
            </a:pPr>
            <a:r>
              <a:rPr sz="2400" b="0">
                <a:solidFill>
                  <a:srgbClr val="C9D2DD"/>
                </a:solidFill>
                <a:latin typeface="Calibri"/>
              </a:rPr>
              <a:t>Decision support for 400 kV insulator testing to IEC 60060-1</a:t>
            </a:r>
          </a:p>
        </p:txBody>
      </p:sp>
      <p:sp>
        <p:nvSpPr>
          <p:cNvPr id="9" name="TextBox 8"/>
          <p:cNvSpPr txBox="1"/>
          <p:nvPr/>
        </p:nvSpPr>
        <p:spPr>
          <a:xfrm>
            <a:off x="822960" y="5212080"/>
            <a:ext cx="7315200" cy="457200"/>
          </a:xfrm>
          <a:prstGeom prst="rect">
            <a:avLst/>
          </a:prstGeom>
          <a:noFill/>
        </p:spPr>
        <p:txBody>
          <a:bodyPr wrap="square" anchor="t" lIns="54864" rIns="54864" tIns="27432" bIns="27432">
            <a:spAutoFit/>
          </a:bodyPr>
          <a:lstStyle/>
          <a:p>
            <a:pPr algn="l">
              <a:spcAft>
                <a:spcPts val="400"/>
              </a:spcAft>
            </a:pPr>
            <a:r>
              <a:rPr sz="2400" b="1">
                <a:solidFill>
                  <a:srgbClr val="FFFFFF"/>
                </a:solidFill>
                <a:latin typeface="Calibri"/>
              </a:rPr>
              <a:t>Team Slayers</a:t>
            </a:r>
          </a:p>
        </p:txBody>
      </p:sp>
      <p:sp>
        <p:nvSpPr>
          <p:cNvPr id="10" name="TextBox 9"/>
          <p:cNvSpPr txBox="1"/>
          <p:nvPr/>
        </p:nvSpPr>
        <p:spPr>
          <a:xfrm>
            <a:off x="822960" y="5669280"/>
            <a:ext cx="10058400" cy="457200"/>
          </a:xfrm>
          <a:prstGeom prst="rect">
            <a:avLst/>
          </a:prstGeom>
          <a:noFill/>
        </p:spPr>
        <p:txBody>
          <a:bodyPr wrap="square" anchor="t" lIns="54864" rIns="54864" tIns="27432" bIns="27432">
            <a:spAutoFit/>
          </a:bodyPr>
          <a:lstStyle/>
          <a:p>
            <a:pPr algn="l">
              <a:spcAft>
                <a:spcPts val="400"/>
              </a:spcAft>
            </a:pPr>
            <a:r>
              <a:rPr sz="1600" b="0">
                <a:solidFill>
                  <a:srgbClr val="C9D2DD"/>
                </a:solidFill>
                <a:latin typeface="Calibri"/>
              </a:rPr>
              <a:t>Exact circuit physics  ·  learned hall correction  ·  one offline application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11155680" cy="731520"/>
          </a:xfrm>
          <a:prstGeom prst="rect">
            <a:avLst/>
          </a:prstGeom>
          <a:noFill/>
        </p:spPr>
        <p:txBody>
          <a:bodyPr wrap="square" anchor="ctr" lIns="54864" rIns="54864" tIns="27432" bIns="27432">
            <a:spAutoFit/>
          </a:bodyPr>
          <a:lstStyle/>
          <a:p>
            <a:pPr algn="l">
              <a:spcAft>
                <a:spcPts val="400"/>
              </a:spcAft>
            </a:pPr>
            <a:r>
              <a:rPr sz="2800" b="1">
                <a:solidFill>
                  <a:srgbClr val="FFFFFF"/>
                </a:solidFill>
                <a:latin typeface="Calibri"/>
              </a:rPr>
              <a:t>Problem statement</a:t>
            </a:r>
          </a:p>
        </p:txBody>
      </p:sp>
      <p:sp>
        <p:nvSpPr>
          <p:cNvPr id="5" name="TextBox 4"/>
          <p:cNvSpPr txBox="1"/>
          <p:nvPr/>
        </p:nvSpPr>
        <p:spPr>
          <a:xfrm>
            <a:off x="548640" y="1143000"/>
            <a:ext cx="11155680" cy="457200"/>
          </a:xfrm>
          <a:prstGeom prst="rect">
            <a:avLst/>
          </a:prstGeom>
          <a:noFill/>
        </p:spPr>
        <p:txBody>
          <a:bodyPr wrap="square" anchor="t" lIns="54864" rIns="54864" tIns="27432" bIns="27432">
            <a:spAutoFit/>
          </a:bodyPr>
          <a:lstStyle/>
          <a:p>
            <a:pPr algn="l">
              <a:spcAft>
                <a:spcPts val="400"/>
              </a:spcAft>
            </a:pPr>
            <a:r>
              <a:rPr sz="1600" b="0">
                <a:solidFill>
                  <a:srgbClr val="5B6775"/>
                </a:solidFill>
                <a:latin typeface="Calibri"/>
              </a:rPr>
              <a:t>Track 1: optimise impulse generator settings for 400 kV insulator testing</a:t>
            </a:r>
          </a:p>
        </p:txBody>
      </p:sp>
      <p:sp>
        <p:nvSpPr>
          <p:cNvPr id="6" name="Rectangle 5"/>
          <p:cNvSpPr/>
          <p:nvPr/>
        </p:nvSpPr>
        <p:spPr>
          <a:xfrm>
            <a:off x="548640" y="6400800"/>
            <a:ext cx="11091672" cy="9144"/>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28232"/>
            <a:ext cx="8229600" cy="274320"/>
          </a:xfrm>
          <a:prstGeom prst="rect">
            <a:avLst/>
          </a:prstGeom>
          <a:noFill/>
        </p:spPr>
        <p:txBody>
          <a:bodyPr wrap="square" anchor="t" lIns="54864" rIns="54864" tIns="27432" bIns="27432">
            <a:spAutoFit/>
          </a:bodyPr>
          <a:lstStyle/>
          <a:p>
            <a:pPr algn="l">
              <a:spcAft>
                <a:spcPts val="400"/>
              </a:spcAft>
            </a:pPr>
            <a:r>
              <a:rPr sz="1100" b="0">
                <a:solidFill>
                  <a:srgbClr val="5B6775"/>
                </a:solidFill>
                <a:latin typeface="Calibri"/>
              </a:rPr>
              <a:t>PowerNext-AI  ·  CPRI × MIT Bengaluru  ·  Track 1  ·  Impulse Generator Settings</a:t>
            </a:r>
          </a:p>
        </p:txBody>
      </p:sp>
      <p:sp>
        <p:nvSpPr>
          <p:cNvPr id="8" name="TextBox 7"/>
          <p:cNvSpPr txBox="1"/>
          <p:nvPr/>
        </p:nvSpPr>
        <p:spPr>
          <a:xfrm>
            <a:off x="9144000" y="6428232"/>
            <a:ext cx="2496312" cy="274320"/>
          </a:xfrm>
          <a:prstGeom prst="rect">
            <a:avLst/>
          </a:prstGeom>
          <a:noFill/>
        </p:spPr>
        <p:txBody>
          <a:bodyPr wrap="square" anchor="t" lIns="54864" rIns="54864" tIns="27432" bIns="27432">
            <a:spAutoFit/>
          </a:bodyPr>
          <a:lstStyle/>
          <a:p>
            <a:pPr algn="r">
              <a:spcAft>
                <a:spcPts val="400"/>
              </a:spcAft>
            </a:pPr>
            <a:r>
              <a:rPr sz="1100" b="0">
                <a:solidFill>
                  <a:srgbClr val="5B6775"/>
                </a:solidFill>
                <a:latin typeface="Calibri"/>
              </a:rPr>
              <a:t>Team Slayers   |   2</a:t>
            </a:r>
          </a:p>
        </p:txBody>
      </p:sp>
      <p:sp>
        <p:nvSpPr>
          <p:cNvPr id="9" name="Pentagon 8"/>
          <p:cNvSpPr/>
          <p:nvPr/>
        </p:nvSpPr>
        <p:spPr>
          <a:xfrm>
            <a:off x="548640" y="1828800"/>
            <a:ext cx="2875788" cy="1005840"/>
          </a:xfrm>
          <a:prstGeom prst="homePlat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828800"/>
            <a:ext cx="2354579" cy="1005840"/>
          </a:xfrm>
          <a:prstGeom prst="rect">
            <a:avLst/>
          </a:prstGeom>
          <a:noFill/>
        </p:spPr>
        <p:txBody>
          <a:bodyPr wrap="square" anchor="ctr" lIns="54864" rIns="54864" tIns="27432" bIns="27432">
            <a:spAutoFit/>
          </a:bodyPr>
          <a:lstStyle/>
          <a:p>
            <a:pPr algn="ctr">
              <a:spcAft>
                <a:spcPts val="400"/>
              </a:spcAft>
            </a:pPr>
            <a:r>
              <a:rPr sz="1800" b="1">
                <a:solidFill>
                  <a:srgbClr val="FFFFFF"/>
                </a:solidFill>
                <a:latin typeface="Calibri"/>
              </a:rPr>
              <a:t>Calculate settings</a:t>
            </a:r>
          </a:p>
        </p:txBody>
      </p:sp>
      <p:sp>
        <p:nvSpPr>
          <p:cNvPr id="11" name="Chevron 10"/>
          <p:cNvSpPr/>
          <p:nvPr/>
        </p:nvSpPr>
        <p:spPr>
          <a:xfrm>
            <a:off x="3314700" y="1828800"/>
            <a:ext cx="2875788" cy="1005840"/>
          </a:xfrm>
          <a:prstGeom prst="chevron">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89020" y="1828800"/>
            <a:ext cx="2354579" cy="1005840"/>
          </a:xfrm>
          <a:prstGeom prst="rect">
            <a:avLst/>
          </a:prstGeom>
          <a:noFill/>
        </p:spPr>
        <p:txBody>
          <a:bodyPr wrap="square" anchor="ctr" lIns="54864" rIns="54864" tIns="27432" bIns="27432">
            <a:spAutoFit/>
          </a:bodyPr>
          <a:lstStyle/>
          <a:p>
            <a:pPr algn="ctr">
              <a:spcAft>
                <a:spcPts val="400"/>
              </a:spcAft>
            </a:pPr>
            <a:r>
              <a:rPr sz="1800" b="1">
                <a:solidFill>
                  <a:srgbClr val="FFFFFF"/>
                </a:solidFill>
                <a:latin typeface="Calibri"/>
              </a:rPr>
              <a:t>Fire a trial shot</a:t>
            </a:r>
          </a:p>
        </p:txBody>
      </p:sp>
      <p:sp>
        <p:nvSpPr>
          <p:cNvPr id="13" name="Chevron 12"/>
          <p:cNvSpPr/>
          <p:nvPr/>
        </p:nvSpPr>
        <p:spPr>
          <a:xfrm>
            <a:off x="6080759" y="1828800"/>
            <a:ext cx="2875788" cy="1005840"/>
          </a:xfrm>
          <a:prstGeom prst="chevron">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79" y="1828800"/>
            <a:ext cx="2354579" cy="1005840"/>
          </a:xfrm>
          <a:prstGeom prst="rect">
            <a:avLst/>
          </a:prstGeom>
          <a:noFill/>
        </p:spPr>
        <p:txBody>
          <a:bodyPr wrap="square" anchor="ctr" lIns="54864" rIns="54864" tIns="27432" bIns="27432">
            <a:spAutoFit/>
          </a:bodyPr>
          <a:lstStyle/>
          <a:p>
            <a:pPr algn="ctr">
              <a:spcAft>
                <a:spcPts val="400"/>
              </a:spcAft>
            </a:pPr>
            <a:r>
              <a:rPr sz="1800" b="1">
                <a:solidFill>
                  <a:srgbClr val="FFFFFF"/>
                </a:solidFill>
                <a:latin typeface="Calibri"/>
              </a:rPr>
              <a:t>Read the IEC shape</a:t>
            </a:r>
          </a:p>
        </p:txBody>
      </p:sp>
      <p:sp>
        <p:nvSpPr>
          <p:cNvPr id="15" name="Chevron 14"/>
          <p:cNvSpPr/>
          <p:nvPr/>
        </p:nvSpPr>
        <p:spPr>
          <a:xfrm>
            <a:off x="8846819" y="1828800"/>
            <a:ext cx="2875788" cy="1005840"/>
          </a:xfrm>
          <a:prstGeom prst="chevron">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21140" y="1828800"/>
            <a:ext cx="2354579" cy="1005840"/>
          </a:xfrm>
          <a:prstGeom prst="rect">
            <a:avLst/>
          </a:prstGeom>
          <a:noFill/>
        </p:spPr>
        <p:txBody>
          <a:bodyPr wrap="square" anchor="ctr" lIns="54864" rIns="54864" tIns="27432" bIns="27432">
            <a:spAutoFit/>
          </a:bodyPr>
          <a:lstStyle/>
          <a:p>
            <a:pPr algn="ctr">
              <a:spcAft>
                <a:spcPts val="400"/>
              </a:spcAft>
            </a:pPr>
            <a:r>
              <a:rPr sz="1800" b="1">
                <a:solidFill>
                  <a:srgbClr val="FFFFFF"/>
                </a:solidFill>
                <a:latin typeface="Calibri"/>
              </a:rPr>
              <a:t>Adjust: climb up</a:t>
            </a:r>
          </a:p>
        </p:txBody>
      </p:sp>
      <p:sp>
        <p:nvSpPr>
          <p:cNvPr id="17" name="Rectangle 16"/>
          <p:cNvSpPr/>
          <p:nvPr/>
        </p:nvSpPr>
        <p:spPr>
          <a:xfrm>
            <a:off x="548640" y="3200400"/>
            <a:ext cx="3566160" cy="237744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200400"/>
            <a:ext cx="64008" cy="2377440"/>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3291840"/>
            <a:ext cx="3291839" cy="457200"/>
          </a:xfrm>
          <a:prstGeom prst="rect">
            <a:avLst/>
          </a:prstGeom>
          <a:noFill/>
        </p:spPr>
        <p:txBody>
          <a:bodyPr wrap="square" anchor="t" lIns="54864" rIns="54864" tIns="27432" bIns="27432">
            <a:spAutoFit/>
          </a:bodyPr>
          <a:lstStyle/>
          <a:p>
            <a:pPr algn="l">
              <a:spcAft>
                <a:spcPts val="400"/>
              </a:spcAft>
            </a:pPr>
            <a:r>
              <a:rPr sz="1800" b="1">
                <a:solidFill>
                  <a:srgbClr val="0B2545"/>
                </a:solidFill>
                <a:latin typeface="Calibri"/>
              </a:rPr>
              <a:t>Standards</a:t>
            </a:r>
          </a:p>
        </p:txBody>
      </p:sp>
      <p:sp>
        <p:nvSpPr>
          <p:cNvPr id="20" name="TextBox 19"/>
          <p:cNvSpPr txBox="1"/>
          <p:nvPr/>
        </p:nvSpPr>
        <p:spPr>
          <a:xfrm>
            <a:off x="731520" y="3767328"/>
            <a:ext cx="3246120" cy="1737360"/>
          </a:xfrm>
          <a:prstGeom prst="rect">
            <a:avLst/>
          </a:prstGeom>
          <a:noFill/>
        </p:spPr>
        <p:txBody>
          <a:bodyPr wrap="square" anchor="t" lIns="54864" rIns="54864" tIns="27432" bIns="27432">
            <a:spAutoFit/>
          </a:bodyPr>
          <a:lstStyle/>
          <a:p>
            <a:pPr algn="l">
              <a:spcAft>
                <a:spcPts val="400"/>
              </a:spcAft>
            </a:pPr>
            <a:r>
              <a:rPr sz="1500" b="0">
                <a:solidFill>
                  <a:srgbClr val="1F2A37"/>
                </a:solidFill>
                <a:latin typeface="Calibri"/>
              </a:rPr>
              <a:t>Lightning 1.2/50 µs</a:t>
            </a:r>
          </a:p>
          <a:p>
            <a:pPr algn="l">
              <a:spcAft>
                <a:spcPts val="400"/>
              </a:spcAft>
            </a:pPr>
            <a:r>
              <a:rPr sz="1500" b="0">
                <a:solidFill>
                  <a:srgbClr val="1F2A37"/>
                </a:solidFill>
                <a:latin typeface="Calibri"/>
              </a:rPr>
              <a:t>Switching 250/2500 µs</a:t>
            </a:r>
          </a:p>
          <a:p>
            <a:pPr algn="l">
              <a:spcAft>
                <a:spcPts val="400"/>
              </a:spcAft>
            </a:pPr>
            <a:r>
              <a:rPr sz="1500" b="0">
                <a:solidFill>
                  <a:srgbClr val="1F2A37"/>
                </a:solidFill>
                <a:latin typeface="Calibri"/>
              </a:rPr>
              <a:t>IEC 60060-1 tolerances on shape, crest and overshoot</a:t>
            </a:r>
          </a:p>
        </p:txBody>
      </p:sp>
      <p:sp>
        <p:nvSpPr>
          <p:cNvPr id="21" name="Rectangle 20"/>
          <p:cNvSpPr/>
          <p:nvPr/>
        </p:nvSpPr>
        <p:spPr>
          <a:xfrm>
            <a:off x="4315968" y="3200400"/>
            <a:ext cx="3566160" cy="237744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315968" y="3200400"/>
            <a:ext cx="64008" cy="2377440"/>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98848" y="3291840"/>
            <a:ext cx="3291839" cy="457200"/>
          </a:xfrm>
          <a:prstGeom prst="rect">
            <a:avLst/>
          </a:prstGeom>
          <a:noFill/>
        </p:spPr>
        <p:txBody>
          <a:bodyPr wrap="square" anchor="t" lIns="54864" rIns="54864" tIns="27432" bIns="27432">
            <a:spAutoFit/>
          </a:bodyPr>
          <a:lstStyle/>
          <a:p>
            <a:pPr algn="l">
              <a:spcAft>
                <a:spcPts val="400"/>
              </a:spcAft>
            </a:pPr>
            <a:r>
              <a:rPr sz="1800" b="1">
                <a:solidFill>
                  <a:srgbClr val="0B2545"/>
                </a:solidFill>
                <a:latin typeface="Calibri"/>
              </a:rPr>
              <a:t>Machine</a:t>
            </a:r>
          </a:p>
        </p:txBody>
      </p:sp>
      <p:sp>
        <p:nvSpPr>
          <p:cNvPr id="24" name="TextBox 23"/>
          <p:cNvSpPr txBox="1"/>
          <p:nvPr/>
        </p:nvSpPr>
        <p:spPr>
          <a:xfrm>
            <a:off x="4498848" y="3767328"/>
            <a:ext cx="3246120" cy="1737360"/>
          </a:xfrm>
          <a:prstGeom prst="rect">
            <a:avLst/>
          </a:prstGeom>
          <a:noFill/>
        </p:spPr>
        <p:txBody>
          <a:bodyPr wrap="square" anchor="t" lIns="54864" rIns="54864" tIns="27432" bIns="27432">
            <a:spAutoFit/>
          </a:bodyPr>
          <a:lstStyle/>
          <a:p>
            <a:pPr algn="l">
              <a:spcAft>
                <a:spcPts val="400"/>
              </a:spcAft>
            </a:pPr>
            <a:r>
              <a:rPr sz="1500" b="0">
                <a:solidFill>
                  <a:srgbClr val="1F2A37"/>
                </a:solidFill>
                <a:latin typeface="Calibri"/>
              </a:rPr>
              <a:t>HAEFELY 508085/E</a:t>
            </a:r>
          </a:p>
          <a:p>
            <a:pPr algn="l">
              <a:spcAft>
                <a:spcPts val="400"/>
              </a:spcAft>
            </a:pPr>
            <a:r>
              <a:rPr sz="1500" b="0">
                <a:solidFill>
                  <a:srgbClr val="1F2A37"/>
                </a:solidFill>
                <a:latin typeface="Calibri"/>
              </a:rPr>
              <a:t>12 stages, 0.125 µF and 200 kV each</a:t>
            </a:r>
          </a:p>
          <a:p>
            <a:pPr algn="l">
              <a:spcAft>
                <a:spcPts val="400"/>
              </a:spcAft>
            </a:pPr>
            <a:r>
              <a:rPr sz="1500" b="0">
                <a:solidFill>
                  <a:srgbClr val="1F2A37"/>
                </a:solidFill>
                <a:latin typeface="Calibri"/>
              </a:rPr>
              <a:t>Front 30 / 465 / 3700 Ω, tail 520 Ω and 22 kΩ</a:t>
            </a:r>
          </a:p>
        </p:txBody>
      </p:sp>
      <p:sp>
        <p:nvSpPr>
          <p:cNvPr id="25" name="Rectangle 24"/>
          <p:cNvSpPr/>
          <p:nvPr/>
        </p:nvSpPr>
        <p:spPr>
          <a:xfrm>
            <a:off x="8083296" y="3200400"/>
            <a:ext cx="3566160" cy="237744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083296" y="3200400"/>
            <a:ext cx="64008" cy="237744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66175" y="3291840"/>
            <a:ext cx="3291840" cy="457200"/>
          </a:xfrm>
          <a:prstGeom prst="rect">
            <a:avLst/>
          </a:prstGeom>
          <a:noFill/>
        </p:spPr>
        <p:txBody>
          <a:bodyPr wrap="square" anchor="t" lIns="54864" rIns="54864" tIns="27432" bIns="27432">
            <a:spAutoFit/>
          </a:bodyPr>
          <a:lstStyle/>
          <a:p>
            <a:pPr algn="l">
              <a:spcAft>
                <a:spcPts val="400"/>
              </a:spcAft>
            </a:pPr>
            <a:r>
              <a:rPr sz="1800" b="1">
                <a:solidFill>
                  <a:srgbClr val="0B2545"/>
                </a:solidFill>
                <a:latin typeface="Calibri"/>
              </a:rPr>
              <a:t>Objective</a:t>
            </a:r>
          </a:p>
        </p:txBody>
      </p:sp>
      <p:sp>
        <p:nvSpPr>
          <p:cNvPr id="28" name="TextBox 27"/>
          <p:cNvSpPr txBox="1"/>
          <p:nvPr/>
        </p:nvSpPr>
        <p:spPr>
          <a:xfrm>
            <a:off x="8266175" y="3767328"/>
            <a:ext cx="3246120" cy="1737360"/>
          </a:xfrm>
          <a:prstGeom prst="rect">
            <a:avLst/>
          </a:prstGeom>
          <a:noFill/>
        </p:spPr>
        <p:txBody>
          <a:bodyPr wrap="square" anchor="t" lIns="54864" rIns="54864" tIns="27432" bIns="27432">
            <a:spAutoFit/>
          </a:bodyPr>
          <a:lstStyle/>
          <a:p>
            <a:pPr algn="l">
              <a:spcAft>
                <a:spcPts val="400"/>
              </a:spcAft>
            </a:pPr>
            <a:r>
              <a:rPr sz="1500" b="0">
                <a:solidFill>
                  <a:srgbClr val="1F2A37"/>
                </a:solidFill>
                <a:latin typeface="Calibri"/>
              </a:rPr>
              <a:t>Recommend stages, charge, Rf and Rt</a:t>
            </a:r>
          </a:p>
          <a:p>
            <a:pPr algn="l">
              <a:spcAft>
                <a:spcPts val="400"/>
              </a:spcAft>
            </a:pPr>
            <a:r>
              <a:rPr sz="1500" b="0">
                <a:solidFill>
                  <a:srgbClr val="1F2A37"/>
                </a:solidFill>
                <a:latin typeface="Calibri"/>
              </a:rPr>
              <a:t>Fewer trial shots</a:t>
            </a:r>
          </a:p>
          <a:p>
            <a:pPr algn="l">
              <a:spcAft>
                <a:spcPts val="400"/>
              </a:spcAft>
            </a:pPr>
            <a:r>
              <a:rPr sz="1500" b="0">
                <a:solidFill>
                  <a:srgbClr val="1F2A37"/>
                </a:solidFill>
                <a:latin typeface="Calibri"/>
              </a:rPr>
              <a:t>Fewer climbs up the generator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11155680" cy="731520"/>
          </a:xfrm>
          <a:prstGeom prst="rect">
            <a:avLst/>
          </a:prstGeom>
          <a:noFill/>
        </p:spPr>
        <p:txBody>
          <a:bodyPr wrap="square" anchor="ctr" lIns="54864" rIns="54864" tIns="27432" bIns="27432">
            <a:spAutoFit/>
          </a:bodyPr>
          <a:lstStyle/>
          <a:p>
            <a:pPr algn="l">
              <a:spcAft>
                <a:spcPts val="400"/>
              </a:spcAft>
            </a:pPr>
            <a:r>
              <a:rPr sz="2800" b="1">
                <a:solidFill>
                  <a:srgbClr val="FFFFFF"/>
                </a:solidFill>
                <a:latin typeface="Calibri"/>
              </a:rPr>
              <a:t>Solution at a glance</a:t>
            </a:r>
          </a:p>
        </p:txBody>
      </p:sp>
      <p:sp>
        <p:nvSpPr>
          <p:cNvPr id="5" name="TextBox 4"/>
          <p:cNvSpPr txBox="1"/>
          <p:nvPr/>
        </p:nvSpPr>
        <p:spPr>
          <a:xfrm>
            <a:off x="548640" y="1143000"/>
            <a:ext cx="11155680" cy="457200"/>
          </a:xfrm>
          <a:prstGeom prst="rect">
            <a:avLst/>
          </a:prstGeom>
          <a:noFill/>
        </p:spPr>
        <p:txBody>
          <a:bodyPr wrap="square" anchor="t" lIns="54864" rIns="54864" tIns="27432" bIns="27432">
            <a:spAutoFit/>
          </a:bodyPr>
          <a:lstStyle/>
          <a:p>
            <a:pPr algn="l">
              <a:spcAft>
                <a:spcPts val="400"/>
              </a:spcAft>
            </a:pPr>
            <a:r>
              <a:rPr sz="1600" b="0">
                <a:solidFill>
                  <a:srgbClr val="5B6775"/>
                </a:solidFill>
                <a:latin typeface="Calibri"/>
              </a:rPr>
              <a:t>Physics first; learning only where the equations cannot reach</a:t>
            </a:r>
          </a:p>
        </p:txBody>
      </p:sp>
      <p:sp>
        <p:nvSpPr>
          <p:cNvPr id="6" name="Rectangle 5"/>
          <p:cNvSpPr/>
          <p:nvPr/>
        </p:nvSpPr>
        <p:spPr>
          <a:xfrm>
            <a:off x="548640" y="6400800"/>
            <a:ext cx="11091672" cy="9144"/>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28232"/>
            <a:ext cx="8229600" cy="274320"/>
          </a:xfrm>
          <a:prstGeom prst="rect">
            <a:avLst/>
          </a:prstGeom>
          <a:noFill/>
        </p:spPr>
        <p:txBody>
          <a:bodyPr wrap="square" anchor="t" lIns="54864" rIns="54864" tIns="27432" bIns="27432">
            <a:spAutoFit/>
          </a:bodyPr>
          <a:lstStyle/>
          <a:p>
            <a:pPr algn="l">
              <a:spcAft>
                <a:spcPts val="400"/>
              </a:spcAft>
            </a:pPr>
            <a:r>
              <a:rPr sz="1100" b="0">
                <a:solidFill>
                  <a:srgbClr val="5B6775"/>
                </a:solidFill>
                <a:latin typeface="Calibri"/>
              </a:rPr>
              <a:t>PowerNext-AI  ·  CPRI × MIT Bengaluru  ·  Track 1  ·  Impulse Generator Settings</a:t>
            </a:r>
          </a:p>
        </p:txBody>
      </p:sp>
      <p:sp>
        <p:nvSpPr>
          <p:cNvPr id="8" name="TextBox 7"/>
          <p:cNvSpPr txBox="1"/>
          <p:nvPr/>
        </p:nvSpPr>
        <p:spPr>
          <a:xfrm>
            <a:off x="9144000" y="6428232"/>
            <a:ext cx="2496312" cy="274320"/>
          </a:xfrm>
          <a:prstGeom prst="rect">
            <a:avLst/>
          </a:prstGeom>
          <a:noFill/>
        </p:spPr>
        <p:txBody>
          <a:bodyPr wrap="square" anchor="t" lIns="54864" rIns="54864" tIns="27432" bIns="27432">
            <a:spAutoFit/>
          </a:bodyPr>
          <a:lstStyle/>
          <a:p>
            <a:pPr algn="r">
              <a:spcAft>
                <a:spcPts val="400"/>
              </a:spcAft>
            </a:pPr>
            <a:r>
              <a:rPr sz="1100" b="0">
                <a:solidFill>
                  <a:srgbClr val="5B6775"/>
                </a:solidFill>
                <a:latin typeface="Calibri"/>
              </a:rPr>
              <a:t>Team Slayers   |   3</a:t>
            </a:r>
          </a:p>
        </p:txBody>
      </p:sp>
      <p:sp>
        <p:nvSpPr>
          <p:cNvPr id="9" name="Pentagon 8"/>
          <p:cNvSpPr/>
          <p:nvPr/>
        </p:nvSpPr>
        <p:spPr>
          <a:xfrm>
            <a:off x="548640" y="1828800"/>
            <a:ext cx="2322576" cy="1097280"/>
          </a:xfrm>
          <a:prstGeom prst="homePlate">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828800"/>
            <a:ext cx="1801368" cy="1097280"/>
          </a:xfrm>
          <a:prstGeom prst="rect">
            <a:avLst/>
          </a:prstGeom>
          <a:noFill/>
        </p:spPr>
        <p:txBody>
          <a:bodyPr wrap="square" anchor="ctr" lIns="54864" rIns="54864" tIns="27432" bIns="27432">
            <a:spAutoFit/>
          </a:bodyPr>
          <a:lstStyle/>
          <a:p>
            <a:pPr algn="ctr">
              <a:spcAft>
                <a:spcPts val="400"/>
              </a:spcAft>
            </a:pPr>
            <a:r>
              <a:rPr sz="1600" b="1">
                <a:solidFill>
                  <a:srgbClr val="FFFFFF"/>
                </a:solidFill>
                <a:latin typeface="Calibri"/>
              </a:rPr>
              <a:t>Inputs and validation</a:t>
            </a:r>
          </a:p>
        </p:txBody>
      </p:sp>
      <p:sp>
        <p:nvSpPr>
          <p:cNvPr id="11" name="Chevron 10"/>
          <p:cNvSpPr/>
          <p:nvPr/>
        </p:nvSpPr>
        <p:spPr>
          <a:xfrm>
            <a:off x="2761488" y="1828800"/>
            <a:ext cx="2322576" cy="1097280"/>
          </a:xfrm>
          <a:prstGeom prst="chevron">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35808" y="1828800"/>
            <a:ext cx="1801368" cy="1097280"/>
          </a:xfrm>
          <a:prstGeom prst="rect">
            <a:avLst/>
          </a:prstGeom>
          <a:noFill/>
        </p:spPr>
        <p:txBody>
          <a:bodyPr wrap="square" anchor="ctr" lIns="54864" rIns="54864" tIns="27432" bIns="27432">
            <a:spAutoFit/>
          </a:bodyPr>
          <a:lstStyle/>
          <a:p>
            <a:pPr algn="ctr">
              <a:spcAft>
                <a:spcPts val="400"/>
              </a:spcAft>
            </a:pPr>
            <a:r>
              <a:rPr sz="1600" b="1">
                <a:solidFill>
                  <a:srgbClr val="FFFFFF"/>
                </a:solidFill>
                <a:latin typeface="Calibri"/>
              </a:rPr>
              <a:t>Physics model</a:t>
            </a:r>
          </a:p>
        </p:txBody>
      </p:sp>
      <p:sp>
        <p:nvSpPr>
          <p:cNvPr id="13" name="Chevron 12"/>
          <p:cNvSpPr/>
          <p:nvPr/>
        </p:nvSpPr>
        <p:spPr>
          <a:xfrm>
            <a:off x="4974336" y="1828800"/>
            <a:ext cx="2322576" cy="1097280"/>
          </a:xfrm>
          <a:prstGeom prst="chevron">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48655" y="1828800"/>
            <a:ext cx="1801368" cy="1097280"/>
          </a:xfrm>
          <a:prstGeom prst="rect">
            <a:avLst/>
          </a:prstGeom>
          <a:noFill/>
        </p:spPr>
        <p:txBody>
          <a:bodyPr wrap="square" anchor="ctr" lIns="54864" rIns="54864" tIns="27432" bIns="27432">
            <a:spAutoFit/>
          </a:bodyPr>
          <a:lstStyle/>
          <a:p>
            <a:pPr algn="ctr">
              <a:spcAft>
                <a:spcPts val="400"/>
              </a:spcAft>
            </a:pPr>
            <a:r>
              <a:rPr sz="1600" b="1">
                <a:solidFill>
                  <a:srgbClr val="FFFFFF"/>
                </a:solidFill>
                <a:latin typeface="Calibri"/>
              </a:rPr>
              <a:t>Learned hall correction</a:t>
            </a:r>
          </a:p>
        </p:txBody>
      </p:sp>
      <p:sp>
        <p:nvSpPr>
          <p:cNvPr id="15" name="Chevron 14"/>
          <p:cNvSpPr/>
          <p:nvPr/>
        </p:nvSpPr>
        <p:spPr>
          <a:xfrm>
            <a:off x="7187183" y="1828800"/>
            <a:ext cx="2322576" cy="1097280"/>
          </a:xfrm>
          <a:prstGeom prst="chevron">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61504" y="1828800"/>
            <a:ext cx="1801368" cy="1097280"/>
          </a:xfrm>
          <a:prstGeom prst="rect">
            <a:avLst/>
          </a:prstGeom>
          <a:noFill/>
        </p:spPr>
        <p:txBody>
          <a:bodyPr wrap="square" anchor="ctr" lIns="54864" rIns="54864" tIns="27432" bIns="27432">
            <a:spAutoFit/>
          </a:bodyPr>
          <a:lstStyle/>
          <a:p>
            <a:pPr algn="ctr">
              <a:spcAft>
                <a:spcPts val="400"/>
              </a:spcAft>
            </a:pPr>
            <a:r>
              <a:rPr sz="1600" b="1">
                <a:solidFill>
                  <a:srgbClr val="FFFFFF"/>
                </a:solidFill>
                <a:latin typeface="Calibri"/>
              </a:rPr>
              <a:t>Ranked settings</a:t>
            </a:r>
          </a:p>
        </p:txBody>
      </p:sp>
      <p:sp>
        <p:nvSpPr>
          <p:cNvPr id="17" name="Chevron 16"/>
          <p:cNvSpPr/>
          <p:nvPr/>
        </p:nvSpPr>
        <p:spPr>
          <a:xfrm>
            <a:off x="9400032" y="1828800"/>
            <a:ext cx="2322576" cy="1097280"/>
          </a:xfrm>
          <a:prstGeom prst="chevron">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74352" y="1828800"/>
            <a:ext cx="1801368" cy="1097280"/>
          </a:xfrm>
          <a:prstGeom prst="rect">
            <a:avLst/>
          </a:prstGeom>
          <a:noFill/>
        </p:spPr>
        <p:txBody>
          <a:bodyPr wrap="square" anchor="ctr" lIns="54864" rIns="54864" tIns="27432" bIns="27432">
            <a:spAutoFit/>
          </a:bodyPr>
          <a:lstStyle/>
          <a:p>
            <a:pPr algn="ctr">
              <a:spcAft>
                <a:spcPts val="400"/>
              </a:spcAft>
            </a:pPr>
            <a:r>
              <a:rPr sz="1600" b="1">
                <a:solidFill>
                  <a:srgbClr val="FFFFFF"/>
                </a:solidFill>
                <a:latin typeface="Calibri"/>
              </a:rPr>
              <a:t>Shot loop and memory</a:t>
            </a:r>
          </a:p>
        </p:txBody>
      </p:sp>
      <p:sp>
        <p:nvSpPr>
          <p:cNvPr id="19" name="Rectangle 18"/>
          <p:cNvSpPr/>
          <p:nvPr/>
        </p:nvSpPr>
        <p:spPr>
          <a:xfrm>
            <a:off x="548640" y="3291840"/>
            <a:ext cx="3566160" cy="123444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291840"/>
            <a:ext cx="64008" cy="123444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383280"/>
            <a:ext cx="3291839" cy="457200"/>
          </a:xfrm>
          <a:prstGeom prst="rect">
            <a:avLst/>
          </a:prstGeom>
          <a:noFill/>
        </p:spPr>
        <p:txBody>
          <a:bodyPr wrap="square" anchor="t" lIns="54864" rIns="54864" tIns="27432" bIns="27432">
            <a:spAutoFit/>
          </a:bodyPr>
          <a:lstStyle/>
          <a:p>
            <a:pPr algn="l">
              <a:spcAft>
                <a:spcPts val="400"/>
              </a:spcAft>
            </a:pPr>
            <a:r>
              <a:rPr sz="1700" b="1">
                <a:solidFill>
                  <a:srgbClr val="0B2545"/>
                </a:solidFill>
                <a:latin typeface="Calibri"/>
              </a:rPr>
              <a:t>Exact circuit physics</a:t>
            </a:r>
          </a:p>
        </p:txBody>
      </p:sp>
      <p:sp>
        <p:nvSpPr>
          <p:cNvPr id="22" name="TextBox 21"/>
          <p:cNvSpPr txBox="1"/>
          <p:nvPr/>
        </p:nvSpPr>
        <p:spPr>
          <a:xfrm>
            <a:off x="731520" y="3858768"/>
            <a:ext cx="3246120" cy="594360"/>
          </a:xfrm>
          <a:prstGeom prst="rect">
            <a:avLst/>
          </a:prstGeom>
          <a:noFill/>
        </p:spPr>
        <p:txBody>
          <a:bodyPr wrap="square" anchor="t" lIns="54864" rIns="54864" tIns="27432" bIns="27432">
            <a:spAutoFit/>
          </a:bodyPr>
          <a:lstStyle/>
          <a:p>
            <a:pPr algn="l">
              <a:spcAft>
                <a:spcPts val="400"/>
              </a:spcAft>
            </a:pPr>
            <a:r>
              <a:rPr sz="1400" b="0">
                <a:solidFill>
                  <a:srgbClr val="1F2A37"/>
                </a:solidFill>
                <a:latin typeface="Calibri"/>
              </a:rPr>
              <a:t>Solved by eigendecomposition; IEC evaluation, deterministic</a:t>
            </a:r>
          </a:p>
        </p:txBody>
      </p:sp>
      <p:sp>
        <p:nvSpPr>
          <p:cNvPr id="23" name="Rectangle 22"/>
          <p:cNvSpPr/>
          <p:nvPr/>
        </p:nvSpPr>
        <p:spPr>
          <a:xfrm>
            <a:off x="4315968" y="3291840"/>
            <a:ext cx="3566160" cy="123444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315968" y="3291840"/>
            <a:ext cx="64008" cy="123444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498848" y="3383280"/>
            <a:ext cx="3291839" cy="457200"/>
          </a:xfrm>
          <a:prstGeom prst="rect">
            <a:avLst/>
          </a:prstGeom>
          <a:noFill/>
        </p:spPr>
        <p:txBody>
          <a:bodyPr wrap="square" anchor="t" lIns="54864" rIns="54864" tIns="27432" bIns="27432">
            <a:spAutoFit/>
          </a:bodyPr>
          <a:lstStyle/>
          <a:p>
            <a:pPr algn="l">
              <a:spcAft>
                <a:spcPts val="400"/>
              </a:spcAft>
            </a:pPr>
            <a:r>
              <a:rPr sz="1700" b="1">
                <a:solidFill>
                  <a:srgbClr val="0B2545"/>
                </a:solidFill>
                <a:latin typeface="Calibri"/>
              </a:rPr>
              <a:t>Search over real stock</a:t>
            </a:r>
          </a:p>
        </p:txBody>
      </p:sp>
      <p:sp>
        <p:nvSpPr>
          <p:cNvPr id="26" name="TextBox 25"/>
          <p:cNvSpPr txBox="1"/>
          <p:nvPr/>
        </p:nvSpPr>
        <p:spPr>
          <a:xfrm>
            <a:off x="4498848" y="3858768"/>
            <a:ext cx="3246120" cy="594360"/>
          </a:xfrm>
          <a:prstGeom prst="rect">
            <a:avLst/>
          </a:prstGeom>
          <a:noFill/>
        </p:spPr>
        <p:txBody>
          <a:bodyPr wrap="square" anchor="t" lIns="54864" rIns="54864" tIns="27432" bIns="27432">
            <a:spAutoFit/>
          </a:bodyPr>
          <a:lstStyle/>
          <a:p>
            <a:pPr algn="l">
              <a:spcAft>
                <a:spcPts val="400"/>
              </a:spcAft>
            </a:pPr>
            <a:r>
              <a:rPr sz="1400" b="0">
                <a:solidFill>
                  <a:srgbClr val="1F2A37"/>
                </a:solidFill>
                <a:latin typeface="Calibri"/>
              </a:rPr>
              <a:t>Every unit and series or parallel pair of units</a:t>
            </a:r>
          </a:p>
        </p:txBody>
      </p:sp>
      <p:sp>
        <p:nvSpPr>
          <p:cNvPr id="27" name="Rectangle 26"/>
          <p:cNvSpPr/>
          <p:nvPr/>
        </p:nvSpPr>
        <p:spPr>
          <a:xfrm>
            <a:off x="8083296" y="3291840"/>
            <a:ext cx="3566160" cy="123444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083296" y="3291840"/>
            <a:ext cx="64008" cy="123444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66175" y="3383280"/>
            <a:ext cx="3291840" cy="457200"/>
          </a:xfrm>
          <a:prstGeom prst="rect">
            <a:avLst/>
          </a:prstGeom>
          <a:noFill/>
        </p:spPr>
        <p:txBody>
          <a:bodyPr wrap="square" anchor="t" lIns="54864" rIns="54864" tIns="27432" bIns="27432">
            <a:spAutoFit/>
          </a:bodyPr>
          <a:lstStyle/>
          <a:p>
            <a:pPr algn="l">
              <a:spcAft>
                <a:spcPts val="400"/>
              </a:spcAft>
            </a:pPr>
            <a:r>
              <a:rPr sz="1700" b="1">
                <a:solidFill>
                  <a:srgbClr val="0B2545"/>
                </a:solidFill>
                <a:latin typeface="Calibri"/>
              </a:rPr>
              <a:t>Learned correction</a:t>
            </a:r>
          </a:p>
        </p:txBody>
      </p:sp>
      <p:sp>
        <p:nvSpPr>
          <p:cNvPr id="30" name="TextBox 29"/>
          <p:cNvSpPr txBox="1"/>
          <p:nvPr/>
        </p:nvSpPr>
        <p:spPr>
          <a:xfrm>
            <a:off x="8266175" y="3858768"/>
            <a:ext cx="3246120" cy="594360"/>
          </a:xfrm>
          <a:prstGeom prst="rect">
            <a:avLst/>
          </a:prstGeom>
          <a:noFill/>
        </p:spPr>
        <p:txBody>
          <a:bodyPr wrap="square" anchor="t" lIns="54864" rIns="54864" tIns="27432" bIns="27432">
            <a:spAutoFit/>
          </a:bodyPr>
          <a:lstStyle/>
          <a:p>
            <a:pPr algn="l">
              <a:spcAft>
                <a:spcPts val="400"/>
              </a:spcAft>
            </a:pPr>
            <a:r>
              <a:rPr sz="1400" b="0">
                <a:solidFill>
                  <a:srgbClr val="1F2A37"/>
                </a:solidFill>
                <a:latin typeface="Calibri"/>
              </a:rPr>
              <a:t>Calibration, then boosted trees on the residual</a:t>
            </a:r>
          </a:p>
        </p:txBody>
      </p:sp>
      <p:sp>
        <p:nvSpPr>
          <p:cNvPr id="31" name="Rectangle 30"/>
          <p:cNvSpPr/>
          <p:nvPr/>
        </p:nvSpPr>
        <p:spPr>
          <a:xfrm>
            <a:off x="548640" y="4754880"/>
            <a:ext cx="3566160" cy="137160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48640" y="4754880"/>
            <a:ext cx="64008" cy="137160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4846320"/>
            <a:ext cx="3291839" cy="457200"/>
          </a:xfrm>
          <a:prstGeom prst="rect">
            <a:avLst/>
          </a:prstGeom>
          <a:noFill/>
        </p:spPr>
        <p:txBody>
          <a:bodyPr wrap="square" anchor="t" lIns="54864" rIns="54864" tIns="27432" bIns="27432">
            <a:spAutoFit/>
          </a:bodyPr>
          <a:lstStyle/>
          <a:p>
            <a:pPr algn="l">
              <a:spcAft>
                <a:spcPts val="400"/>
              </a:spcAft>
            </a:pPr>
            <a:r>
              <a:rPr sz="1700" b="1">
                <a:solidFill>
                  <a:srgbClr val="0B2545"/>
                </a:solidFill>
                <a:latin typeface="Calibri"/>
              </a:rPr>
              <a:t>Hardware check</a:t>
            </a:r>
          </a:p>
        </p:txBody>
      </p:sp>
      <p:sp>
        <p:nvSpPr>
          <p:cNvPr id="34" name="TextBox 33"/>
          <p:cNvSpPr txBox="1"/>
          <p:nvPr/>
        </p:nvSpPr>
        <p:spPr>
          <a:xfrm>
            <a:off x="731520" y="5321808"/>
            <a:ext cx="3246120" cy="731520"/>
          </a:xfrm>
          <a:prstGeom prst="rect">
            <a:avLst/>
          </a:prstGeom>
          <a:noFill/>
        </p:spPr>
        <p:txBody>
          <a:bodyPr wrap="square" anchor="t" lIns="54864" rIns="54864" tIns="27432" bIns="27432">
            <a:spAutoFit/>
          </a:bodyPr>
          <a:lstStyle/>
          <a:p>
            <a:pPr algn="l">
              <a:spcAft>
                <a:spcPts val="400"/>
              </a:spcAft>
            </a:pPr>
            <a:r>
              <a:rPr sz="1400" b="0">
                <a:solidFill>
                  <a:srgbClr val="1F2A37"/>
                </a:solidFill>
                <a:latin typeface="Calibri"/>
              </a:rPr>
              <a:t>Capacitor loading, resistor build, both stocks</a:t>
            </a:r>
          </a:p>
        </p:txBody>
      </p:sp>
      <p:sp>
        <p:nvSpPr>
          <p:cNvPr id="35" name="Rectangle 34"/>
          <p:cNvSpPr/>
          <p:nvPr/>
        </p:nvSpPr>
        <p:spPr>
          <a:xfrm>
            <a:off x="4315968" y="4754880"/>
            <a:ext cx="3566160" cy="137160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315968" y="4754880"/>
            <a:ext cx="64008" cy="137160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498848" y="4846320"/>
            <a:ext cx="3291839" cy="457200"/>
          </a:xfrm>
          <a:prstGeom prst="rect">
            <a:avLst/>
          </a:prstGeom>
          <a:noFill/>
        </p:spPr>
        <p:txBody>
          <a:bodyPr wrap="square" anchor="t" lIns="54864" rIns="54864" tIns="27432" bIns="27432">
            <a:spAutoFit/>
          </a:bodyPr>
          <a:lstStyle/>
          <a:p>
            <a:pPr algn="l">
              <a:spcAft>
                <a:spcPts val="400"/>
              </a:spcAft>
            </a:pPr>
            <a:r>
              <a:rPr sz="1700" b="1">
                <a:solidFill>
                  <a:srgbClr val="0B2545"/>
                </a:solidFill>
                <a:latin typeface="Calibri"/>
              </a:rPr>
              <a:t>Shot loop</a:t>
            </a:r>
          </a:p>
        </p:txBody>
      </p:sp>
      <p:sp>
        <p:nvSpPr>
          <p:cNvPr id="38" name="TextBox 37"/>
          <p:cNvSpPr txBox="1"/>
          <p:nvPr/>
        </p:nvSpPr>
        <p:spPr>
          <a:xfrm>
            <a:off x="4498848" y="5321808"/>
            <a:ext cx="3246120" cy="731520"/>
          </a:xfrm>
          <a:prstGeom prst="rect">
            <a:avLst/>
          </a:prstGeom>
          <a:noFill/>
        </p:spPr>
        <p:txBody>
          <a:bodyPr wrap="square" anchor="t" lIns="54864" rIns="54864" tIns="27432" bIns="27432">
            <a:spAutoFit/>
          </a:bodyPr>
          <a:lstStyle/>
          <a:p>
            <a:pPr algn="l">
              <a:spcAft>
                <a:spcPts val="400"/>
              </a:spcAft>
            </a:pPr>
            <a:r>
              <a:rPr sz="1400" b="0">
                <a:solidFill>
                  <a:srgbClr val="1F2A37"/>
                </a:solidFill>
                <a:latin typeface="Calibri"/>
              </a:rPr>
              <a:t>Voltage first; a climb only when needed</a:t>
            </a:r>
          </a:p>
        </p:txBody>
      </p:sp>
      <p:sp>
        <p:nvSpPr>
          <p:cNvPr id="39" name="Rectangle 38"/>
          <p:cNvSpPr/>
          <p:nvPr/>
        </p:nvSpPr>
        <p:spPr>
          <a:xfrm>
            <a:off x="8083296" y="4754880"/>
            <a:ext cx="3566160" cy="137160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083296" y="4754880"/>
            <a:ext cx="64008" cy="137160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266175" y="4846320"/>
            <a:ext cx="3291840" cy="457200"/>
          </a:xfrm>
          <a:prstGeom prst="rect">
            <a:avLst/>
          </a:prstGeom>
          <a:noFill/>
        </p:spPr>
        <p:txBody>
          <a:bodyPr wrap="square" anchor="t" lIns="54864" rIns="54864" tIns="27432" bIns="27432">
            <a:spAutoFit/>
          </a:bodyPr>
          <a:lstStyle/>
          <a:p>
            <a:pPr algn="l">
              <a:spcAft>
                <a:spcPts val="400"/>
              </a:spcAft>
            </a:pPr>
            <a:r>
              <a:rPr sz="1700" b="1">
                <a:solidFill>
                  <a:srgbClr val="0B2545"/>
                </a:solidFill>
                <a:latin typeface="Calibri"/>
              </a:rPr>
              <a:t>Hall memory</a:t>
            </a:r>
          </a:p>
        </p:txBody>
      </p:sp>
      <p:sp>
        <p:nvSpPr>
          <p:cNvPr id="42" name="TextBox 41"/>
          <p:cNvSpPr txBox="1"/>
          <p:nvPr/>
        </p:nvSpPr>
        <p:spPr>
          <a:xfrm>
            <a:off x="8266175" y="5321808"/>
            <a:ext cx="3246120" cy="731520"/>
          </a:xfrm>
          <a:prstGeom prst="rect">
            <a:avLst/>
          </a:prstGeom>
          <a:noFill/>
        </p:spPr>
        <p:txBody>
          <a:bodyPr wrap="square" anchor="t" lIns="54864" rIns="54864" tIns="27432" bIns="27432">
            <a:spAutoFit/>
          </a:bodyPr>
          <a:lstStyle/>
          <a:p>
            <a:pPr algn="l">
              <a:spcAft>
                <a:spcPts val="400"/>
              </a:spcAft>
            </a:pPr>
            <a:r>
              <a:rPr sz="1400" b="0">
                <a:solidFill>
                  <a:srgbClr val="1F2A37"/>
                </a:solidFill>
                <a:latin typeface="Calibri"/>
              </a:rPr>
              <a:t>Four numbers a test, kept in the browser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11155680" cy="731520"/>
          </a:xfrm>
          <a:prstGeom prst="rect">
            <a:avLst/>
          </a:prstGeom>
          <a:noFill/>
        </p:spPr>
        <p:txBody>
          <a:bodyPr wrap="square" anchor="ctr" lIns="54864" rIns="54864" tIns="27432" bIns="27432">
            <a:spAutoFit/>
          </a:bodyPr>
          <a:lstStyle/>
          <a:p>
            <a:pPr algn="l">
              <a:spcAft>
                <a:spcPts val="400"/>
              </a:spcAft>
            </a:pPr>
            <a:r>
              <a:rPr sz="2800" b="1">
                <a:solidFill>
                  <a:srgbClr val="FFFFFF"/>
                </a:solidFill>
                <a:latin typeface="Calibri"/>
              </a:rPr>
              <a:t>The physics model</a:t>
            </a:r>
          </a:p>
        </p:txBody>
      </p:sp>
      <p:sp>
        <p:nvSpPr>
          <p:cNvPr id="5" name="TextBox 4"/>
          <p:cNvSpPr txBox="1"/>
          <p:nvPr/>
        </p:nvSpPr>
        <p:spPr>
          <a:xfrm>
            <a:off x="548640" y="1143000"/>
            <a:ext cx="11155680" cy="457200"/>
          </a:xfrm>
          <a:prstGeom prst="rect">
            <a:avLst/>
          </a:prstGeom>
          <a:noFill/>
        </p:spPr>
        <p:txBody>
          <a:bodyPr wrap="square" anchor="t" lIns="54864" rIns="54864" tIns="27432" bIns="27432">
            <a:spAutoFit/>
          </a:bodyPr>
          <a:lstStyle/>
          <a:p>
            <a:pPr algn="l">
              <a:spcAft>
                <a:spcPts val="400"/>
              </a:spcAft>
            </a:pPr>
            <a:r>
              <a:rPr sz="1600" b="0">
                <a:solidFill>
                  <a:srgbClr val="5B6775"/>
                </a:solidFill>
                <a:latin typeface="Calibri"/>
              </a:rPr>
              <a:t>A Marx generator reduced to one equivalent stage and solved exactly</a:t>
            </a:r>
          </a:p>
        </p:txBody>
      </p:sp>
      <p:sp>
        <p:nvSpPr>
          <p:cNvPr id="6" name="Rectangle 5"/>
          <p:cNvSpPr/>
          <p:nvPr/>
        </p:nvSpPr>
        <p:spPr>
          <a:xfrm>
            <a:off x="548640" y="6400800"/>
            <a:ext cx="11091672" cy="9144"/>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28232"/>
            <a:ext cx="8229600" cy="274320"/>
          </a:xfrm>
          <a:prstGeom prst="rect">
            <a:avLst/>
          </a:prstGeom>
          <a:noFill/>
        </p:spPr>
        <p:txBody>
          <a:bodyPr wrap="square" anchor="t" lIns="54864" rIns="54864" tIns="27432" bIns="27432">
            <a:spAutoFit/>
          </a:bodyPr>
          <a:lstStyle/>
          <a:p>
            <a:pPr algn="l">
              <a:spcAft>
                <a:spcPts val="400"/>
              </a:spcAft>
            </a:pPr>
            <a:r>
              <a:rPr sz="1100" b="0">
                <a:solidFill>
                  <a:srgbClr val="5B6775"/>
                </a:solidFill>
                <a:latin typeface="Calibri"/>
              </a:rPr>
              <a:t>PowerNext-AI  ·  CPRI × MIT Bengaluru  ·  Track 1  ·  Impulse Generator Settings</a:t>
            </a:r>
          </a:p>
        </p:txBody>
      </p:sp>
      <p:sp>
        <p:nvSpPr>
          <p:cNvPr id="8" name="TextBox 7"/>
          <p:cNvSpPr txBox="1"/>
          <p:nvPr/>
        </p:nvSpPr>
        <p:spPr>
          <a:xfrm>
            <a:off x="9144000" y="6428232"/>
            <a:ext cx="2496312" cy="274320"/>
          </a:xfrm>
          <a:prstGeom prst="rect">
            <a:avLst/>
          </a:prstGeom>
          <a:noFill/>
        </p:spPr>
        <p:txBody>
          <a:bodyPr wrap="square" anchor="t" lIns="54864" rIns="54864" tIns="27432" bIns="27432">
            <a:spAutoFit/>
          </a:bodyPr>
          <a:lstStyle/>
          <a:p>
            <a:pPr algn="r">
              <a:spcAft>
                <a:spcPts val="400"/>
              </a:spcAft>
            </a:pPr>
            <a:r>
              <a:rPr sz="1100" b="0">
                <a:solidFill>
                  <a:srgbClr val="5B6775"/>
                </a:solidFill>
                <a:latin typeface="Calibri"/>
              </a:rPr>
              <a:t>Team Slayers   |   4</a:t>
            </a:r>
          </a:p>
        </p:txBody>
      </p:sp>
      <p:sp>
        <p:nvSpPr>
          <p:cNvPr id="9" name="Rectangle 8"/>
          <p:cNvSpPr/>
          <p:nvPr/>
        </p:nvSpPr>
        <p:spPr>
          <a:xfrm>
            <a:off x="822960" y="1828800"/>
            <a:ext cx="1737360" cy="105156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1901952"/>
            <a:ext cx="1737360" cy="502920"/>
          </a:xfrm>
          <a:prstGeom prst="rect">
            <a:avLst/>
          </a:prstGeom>
          <a:noFill/>
        </p:spPr>
        <p:txBody>
          <a:bodyPr wrap="square" anchor="t" lIns="54864" rIns="54864" tIns="27432" bIns="27432">
            <a:spAutoFit/>
          </a:bodyPr>
          <a:lstStyle/>
          <a:p>
            <a:pPr algn="ctr">
              <a:spcAft>
                <a:spcPts val="400"/>
              </a:spcAft>
            </a:pPr>
            <a:r>
              <a:rPr sz="2400" b="1">
                <a:solidFill>
                  <a:srgbClr val="FFFFFF"/>
                </a:solidFill>
                <a:latin typeface="Calibri"/>
              </a:rPr>
              <a:t>C1</a:t>
            </a:r>
          </a:p>
        </p:txBody>
      </p:sp>
      <p:sp>
        <p:nvSpPr>
          <p:cNvPr id="11" name="TextBox 10"/>
          <p:cNvSpPr txBox="1"/>
          <p:nvPr/>
        </p:nvSpPr>
        <p:spPr>
          <a:xfrm>
            <a:off x="822960" y="2395728"/>
            <a:ext cx="1737360" cy="365760"/>
          </a:xfrm>
          <a:prstGeom prst="rect">
            <a:avLst/>
          </a:prstGeom>
          <a:noFill/>
        </p:spPr>
        <p:txBody>
          <a:bodyPr wrap="square" anchor="t" lIns="54864" rIns="54864" tIns="27432" bIns="27432">
            <a:spAutoFit/>
          </a:bodyPr>
          <a:lstStyle/>
          <a:p>
            <a:pPr algn="ctr">
              <a:spcAft>
                <a:spcPts val="400"/>
              </a:spcAft>
            </a:pPr>
            <a:r>
              <a:rPr sz="1300" b="0">
                <a:solidFill>
                  <a:srgbClr val="C9D2DD"/>
                </a:solidFill>
                <a:latin typeface="Calibri"/>
              </a:rPr>
              <a:t>generator</a:t>
            </a:r>
          </a:p>
        </p:txBody>
      </p:sp>
      <p:sp>
        <p:nvSpPr>
          <p:cNvPr id="12" name="Rectangle 11"/>
          <p:cNvSpPr/>
          <p:nvPr/>
        </p:nvSpPr>
        <p:spPr>
          <a:xfrm>
            <a:off x="2926080" y="1828800"/>
            <a:ext cx="1737360" cy="105156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26080" y="1901952"/>
            <a:ext cx="1737360" cy="502920"/>
          </a:xfrm>
          <a:prstGeom prst="rect">
            <a:avLst/>
          </a:prstGeom>
          <a:noFill/>
        </p:spPr>
        <p:txBody>
          <a:bodyPr wrap="square" anchor="t" lIns="54864" rIns="54864" tIns="27432" bIns="27432">
            <a:spAutoFit/>
          </a:bodyPr>
          <a:lstStyle/>
          <a:p>
            <a:pPr algn="ctr">
              <a:spcAft>
                <a:spcPts val="400"/>
              </a:spcAft>
            </a:pPr>
            <a:r>
              <a:rPr sz="2400" b="1">
                <a:solidFill>
                  <a:srgbClr val="FFFFFF"/>
                </a:solidFill>
                <a:latin typeface="Calibri"/>
              </a:rPr>
              <a:t>Rf</a:t>
            </a:r>
          </a:p>
        </p:txBody>
      </p:sp>
      <p:sp>
        <p:nvSpPr>
          <p:cNvPr id="14" name="TextBox 13"/>
          <p:cNvSpPr txBox="1"/>
          <p:nvPr/>
        </p:nvSpPr>
        <p:spPr>
          <a:xfrm>
            <a:off x="2926080" y="2395728"/>
            <a:ext cx="1737360" cy="365760"/>
          </a:xfrm>
          <a:prstGeom prst="rect">
            <a:avLst/>
          </a:prstGeom>
          <a:noFill/>
        </p:spPr>
        <p:txBody>
          <a:bodyPr wrap="square" anchor="t" lIns="54864" rIns="54864" tIns="27432" bIns="27432">
            <a:spAutoFit/>
          </a:bodyPr>
          <a:lstStyle/>
          <a:p>
            <a:pPr algn="ctr">
              <a:spcAft>
                <a:spcPts val="400"/>
              </a:spcAft>
            </a:pPr>
            <a:r>
              <a:rPr sz="1300" b="0">
                <a:solidFill>
                  <a:srgbClr val="C9D2DD"/>
                </a:solidFill>
                <a:latin typeface="Calibri"/>
              </a:rPr>
              <a:t>front resistor</a:t>
            </a:r>
          </a:p>
        </p:txBody>
      </p:sp>
      <p:sp>
        <p:nvSpPr>
          <p:cNvPr id="15" name="Rectangle 14"/>
          <p:cNvSpPr/>
          <p:nvPr/>
        </p:nvSpPr>
        <p:spPr>
          <a:xfrm>
            <a:off x="5029200" y="1828800"/>
            <a:ext cx="1737360" cy="105156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0" y="1901952"/>
            <a:ext cx="1737360" cy="502920"/>
          </a:xfrm>
          <a:prstGeom prst="rect">
            <a:avLst/>
          </a:prstGeom>
          <a:noFill/>
        </p:spPr>
        <p:txBody>
          <a:bodyPr wrap="square" anchor="t" lIns="54864" rIns="54864" tIns="27432" bIns="27432">
            <a:spAutoFit/>
          </a:bodyPr>
          <a:lstStyle/>
          <a:p>
            <a:pPr algn="ctr">
              <a:spcAft>
                <a:spcPts val="400"/>
              </a:spcAft>
            </a:pPr>
            <a:r>
              <a:rPr sz="2400" b="1">
                <a:solidFill>
                  <a:srgbClr val="FFFFFF"/>
                </a:solidFill>
                <a:latin typeface="Calibri"/>
              </a:rPr>
              <a:t>L</a:t>
            </a:r>
          </a:p>
        </p:txBody>
      </p:sp>
      <p:sp>
        <p:nvSpPr>
          <p:cNvPr id="17" name="TextBox 16"/>
          <p:cNvSpPr txBox="1"/>
          <p:nvPr/>
        </p:nvSpPr>
        <p:spPr>
          <a:xfrm>
            <a:off x="5029200" y="2395728"/>
            <a:ext cx="1737360" cy="365760"/>
          </a:xfrm>
          <a:prstGeom prst="rect">
            <a:avLst/>
          </a:prstGeom>
          <a:noFill/>
        </p:spPr>
        <p:txBody>
          <a:bodyPr wrap="square" anchor="t" lIns="54864" rIns="54864" tIns="27432" bIns="27432">
            <a:spAutoFit/>
          </a:bodyPr>
          <a:lstStyle/>
          <a:p>
            <a:pPr algn="ctr">
              <a:spcAft>
                <a:spcPts val="400"/>
              </a:spcAft>
            </a:pPr>
            <a:r>
              <a:rPr sz="1300" b="0">
                <a:solidFill>
                  <a:srgbClr val="C9D2DD"/>
                </a:solidFill>
                <a:latin typeface="Calibri"/>
              </a:rPr>
              <a:t>loop inductance</a:t>
            </a:r>
          </a:p>
        </p:txBody>
      </p:sp>
      <p:sp>
        <p:nvSpPr>
          <p:cNvPr id="18" name="Rectangle 17"/>
          <p:cNvSpPr/>
          <p:nvPr/>
        </p:nvSpPr>
        <p:spPr>
          <a:xfrm>
            <a:off x="7132320" y="1828800"/>
            <a:ext cx="1737360" cy="105156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32320" y="1901952"/>
            <a:ext cx="1737360" cy="502920"/>
          </a:xfrm>
          <a:prstGeom prst="rect">
            <a:avLst/>
          </a:prstGeom>
          <a:noFill/>
        </p:spPr>
        <p:txBody>
          <a:bodyPr wrap="square" anchor="t" lIns="54864" rIns="54864" tIns="27432" bIns="27432">
            <a:spAutoFit/>
          </a:bodyPr>
          <a:lstStyle/>
          <a:p>
            <a:pPr algn="ctr">
              <a:spcAft>
                <a:spcPts val="400"/>
              </a:spcAft>
            </a:pPr>
            <a:r>
              <a:rPr sz="2400" b="1">
                <a:solidFill>
                  <a:srgbClr val="FFFFFF"/>
                </a:solidFill>
                <a:latin typeface="Calibri"/>
              </a:rPr>
              <a:t>C2</a:t>
            </a:r>
          </a:p>
        </p:txBody>
      </p:sp>
      <p:sp>
        <p:nvSpPr>
          <p:cNvPr id="20" name="TextBox 19"/>
          <p:cNvSpPr txBox="1"/>
          <p:nvPr/>
        </p:nvSpPr>
        <p:spPr>
          <a:xfrm>
            <a:off x="7132320" y="2395728"/>
            <a:ext cx="1737360" cy="365760"/>
          </a:xfrm>
          <a:prstGeom prst="rect">
            <a:avLst/>
          </a:prstGeom>
          <a:noFill/>
        </p:spPr>
        <p:txBody>
          <a:bodyPr wrap="square" anchor="t" lIns="54864" rIns="54864" tIns="27432" bIns="27432">
            <a:spAutoFit/>
          </a:bodyPr>
          <a:lstStyle/>
          <a:p>
            <a:pPr algn="ctr">
              <a:spcAft>
                <a:spcPts val="400"/>
              </a:spcAft>
            </a:pPr>
            <a:r>
              <a:rPr sz="1300" b="0">
                <a:solidFill>
                  <a:srgbClr val="C9D2DD"/>
                </a:solidFill>
                <a:latin typeface="Calibri"/>
              </a:rPr>
              <a:t>load</a:t>
            </a:r>
          </a:p>
        </p:txBody>
      </p:sp>
      <p:sp>
        <p:nvSpPr>
          <p:cNvPr id="21" name="Rectangle 20"/>
          <p:cNvSpPr/>
          <p:nvPr/>
        </p:nvSpPr>
        <p:spPr>
          <a:xfrm>
            <a:off x="9235440" y="1828800"/>
            <a:ext cx="1737360" cy="105156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35440" y="1901952"/>
            <a:ext cx="1737360" cy="502920"/>
          </a:xfrm>
          <a:prstGeom prst="rect">
            <a:avLst/>
          </a:prstGeom>
          <a:noFill/>
        </p:spPr>
        <p:txBody>
          <a:bodyPr wrap="square" anchor="t" lIns="54864" rIns="54864" tIns="27432" bIns="27432">
            <a:spAutoFit/>
          </a:bodyPr>
          <a:lstStyle/>
          <a:p>
            <a:pPr algn="ctr">
              <a:spcAft>
                <a:spcPts val="400"/>
              </a:spcAft>
            </a:pPr>
            <a:r>
              <a:rPr sz="2400" b="1">
                <a:solidFill>
                  <a:srgbClr val="FFFFFF"/>
                </a:solidFill>
                <a:latin typeface="Calibri"/>
              </a:rPr>
              <a:t>Rt</a:t>
            </a:r>
          </a:p>
        </p:txBody>
      </p:sp>
      <p:sp>
        <p:nvSpPr>
          <p:cNvPr id="23" name="TextBox 22"/>
          <p:cNvSpPr txBox="1"/>
          <p:nvPr/>
        </p:nvSpPr>
        <p:spPr>
          <a:xfrm>
            <a:off x="9235440" y="2395728"/>
            <a:ext cx="1737360" cy="365760"/>
          </a:xfrm>
          <a:prstGeom prst="rect">
            <a:avLst/>
          </a:prstGeom>
          <a:noFill/>
        </p:spPr>
        <p:txBody>
          <a:bodyPr wrap="square" anchor="t" lIns="54864" rIns="54864" tIns="27432" bIns="27432">
            <a:spAutoFit/>
          </a:bodyPr>
          <a:lstStyle/>
          <a:p>
            <a:pPr algn="ctr">
              <a:spcAft>
                <a:spcPts val="400"/>
              </a:spcAft>
            </a:pPr>
            <a:r>
              <a:rPr sz="1300" b="0">
                <a:solidFill>
                  <a:srgbClr val="C9D2DD"/>
                </a:solidFill>
                <a:latin typeface="Calibri"/>
              </a:rPr>
              <a:t>tail resistor</a:t>
            </a:r>
          </a:p>
        </p:txBody>
      </p:sp>
      <p:sp>
        <p:nvSpPr>
          <p:cNvPr id="24" name="Rectangle 23"/>
          <p:cNvSpPr/>
          <p:nvPr/>
        </p:nvSpPr>
        <p:spPr>
          <a:xfrm>
            <a:off x="2560320" y="2331720"/>
            <a:ext cx="36576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663440" y="2331720"/>
            <a:ext cx="36576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766560" y="2331720"/>
            <a:ext cx="36576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869680" y="2331720"/>
            <a:ext cx="36576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48640" y="3291840"/>
            <a:ext cx="5394960" cy="278892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 y="3291840"/>
            <a:ext cx="64008" cy="2788920"/>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3383280"/>
            <a:ext cx="5120640" cy="457200"/>
          </a:xfrm>
          <a:prstGeom prst="rect">
            <a:avLst/>
          </a:prstGeom>
          <a:noFill/>
        </p:spPr>
        <p:txBody>
          <a:bodyPr wrap="square" anchor="t" lIns="54864" rIns="54864" tIns="27432" bIns="27432">
            <a:spAutoFit/>
          </a:bodyPr>
          <a:lstStyle/>
          <a:p>
            <a:pPr algn="l">
              <a:spcAft>
                <a:spcPts val="400"/>
              </a:spcAft>
            </a:pPr>
            <a:r>
              <a:rPr sz="1800" b="1">
                <a:solidFill>
                  <a:srgbClr val="0B2545"/>
                </a:solidFill>
                <a:latin typeface="Calibri"/>
              </a:rPr>
              <a:t>Equivalent circuit</a:t>
            </a:r>
          </a:p>
        </p:txBody>
      </p:sp>
      <p:sp>
        <p:nvSpPr>
          <p:cNvPr id="31" name="TextBox 30"/>
          <p:cNvSpPr txBox="1"/>
          <p:nvPr/>
        </p:nvSpPr>
        <p:spPr>
          <a:xfrm>
            <a:off x="731520" y="3858768"/>
            <a:ext cx="5074920" cy="2148839"/>
          </a:xfrm>
          <a:prstGeom prst="rect">
            <a:avLst/>
          </a:prstGeom>
          <a:noFill/>
        </p:spPr>
        <p:txBody>
          <a:bodyPr wrap="square" anchor="t" lIns="54864" rIns="54864" tIns="27432" bIns="27432">
            <a:spAutoFit/>
          </a:bodyPr>
          <a:lstStyle/>
          <a:p>
            <a:pPr algn="l">
              <a:spcAft>
                <a:spcPts val="400"/>
              </a:spcAft>
            </a:pPr>
            <a:r>
              <a:rPr sz="1600" b="0">
                <a:solidFill>
                  <a:srgbClr val="1F2A37"/>
                </a:solidFill>
                <a:latin typeface="Calibri"/>
              </a:rPr>
              <a:t>C1 = p · C_stage / n,   V0 = n · V_charge</a:t>
            </a:r>
          </a:p>
          <a:p>
            <a:pPr algn="l">
              <a:spcAft>
                <a:spcPts val="400"/>
              </a:spcAft>
            </a:pPr>
            <a:r>
              <a:rPr sz="1600" b="0">
                <a:solidFill>
                  <a:srgbClr val="1F2A37"/>
                </a:solidFill>
                <a:latin typeface="Calibri"/>
              </a:rPr>
              <a:t>Rf = n · Rf_stage / p,   Rt = n · Rt_stage / p</a:t>
            </a:r>
          </a:p>
          <a:p>
            <a:pPr algn="l">
              <a:spcAft>
                <a:spcPts val="400"/>
              </a:spcAft>
            </a:pPr>
            <a:r>
              <a:rPr sz="1600" b="0">
                <a:solidFill>
                  <a:srgbClr val="1F2A37"/>
                </a:solidFill>
                <a:latin typeface="Calibri"/>
              </a:rPr>
              <a:t>L = n · L_stage / p + L_lead</a:t>
            </a:r>
          </a:p>
          <a:p>
            <a:pPr algn="l">
              <a:spcAft>
                <a:spcPts val="400"/>
              </a:spcAft>
            </a:pPr>
            <a:r>
              <a:rPr sz="1600" b="0">
                <a:solidFill>
                  <a:srgbClr val="1F2A37"/>
                </a:solidFill>
                <a:latin typeface="Calibri"/>
              </a:rPr>
              <a:t>C2 = C_test + 545 + 500 + 150 pF</a:t>
            </a:r>
          </a:p>
        </p:txBody>
      </p:sp>
      <p:sp>
        <p:nvSpPr>
          <p:cNvPr id="32" name="Rectangle 31"/>
          <p:cNvSpPr/>
          <p:nvPr/>
        </p:nvSpPr>
        <p:spPr>
          <a:xfrm>
            <a:off x="6217920" y="3291840"/>
            <a:ext cx="5394960" cy="278892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17920" y="3291840"/>
            <a:ext cx="64008" cy="2788920"/>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0" y="3383280"/>
            <a:ext cx="5120640" cy="457200"/>
          </a:xfrm>
          <a:prstGeom prst="rect">
            <a:avLst/>
          </a:prstGeom>
          <a:noFill/>
        </p:spPr>
        <p:txBody>
          <a:bodyPr wrap="square" anchor="t" lIns="54864" rIns="54864" tIns="27432" bIns="27432">
            <a:spAutoFit/>
          </a:bodyPr>
          <a:lstStyle/>
          <a:p>
            <a:pPr algn="l">
              <a:spcAft>
                <a:spcPts val="400"/>
              </a:spcAft>
            </a:pPr>
            <a:r>
              <a:rPr sz="1800" b="1">
                <a:solidFill>
                  <a:srgbClr val="0B2545"/>
                </a:solidFill>
                <a:latin typeface="Calibri"/>
              </a:rPr>
              <a:t>What the front and tail see</a:t>
            </a:r>
          </a:p>
        </p:txBody>
      </p:sp>
      <p:sp>
        <p:nvSpPr>
          <p:cNvPr id="35" name="TextBox 34"/>
          <p:cNvSpPr txBox="1"/>
          <p:nvPr/>
        </p:nvSpPr>
        <p:spPr>
          <a:xfrm>
            <a:off x="6400800" y="3858768"/>
            <a:ext cx="5074920" cy="2148839"/>
          </a:xfrm>
          <a:prstGeom prst="rect">
            <a:avLst/>
          </a:prstGeom>
          <a:noFill/>
        </p:spPr>
        <p:txBody>
          <a:bodyPr wrap="square" anchor="t" lIns="54864" rIns="54864" tIns="27432" bIns="27432">
            <a:spAutoFit/>
          </a:bodyPr>
          <a:lstStyle/>
          <a:p>
            <a:pPr algn="l">
              <a:spcAft>
                <a:spcPts val="400"/>
              </a:spcAft>
            </a:pPr>
            <a:r>
              <a:rPr sz="1600" b="0">
                <a:solidFill>
                  <a:srgbClr val="1F2A37"/>
                </a:solidFill>
                <a:latin typeface="Calibri"/>
              </a:rPr>
              <a:t>Front: series capacitance Ce = C1·C2 / (C1 + C2),  T1 ≈ 3 · Rf · Ce</a:t>
            </a:r>
          </a:p>
          <a:p>
            <a:pPr algn="l">
              <a:spcAft>
                <a:spcPts val="400"/>
              </a:spcAft>
            </a:pPr>
            <a:r>
              <a:rPr sz="1600" b="0">
                <a:solidFill>
                  <a:srgbClr val="1F2A37"/>
                </a:solidFill>
                <a:latin typeface="Calibri"/>
              </a:rPr>
              <a:t>Tail: both capacitors in parallel,  T2 ≈ 0.7 · Rt · (C1 + C2)</a:t>
            </a:r>
          </a:p>
          <a:p>
            <a:pPr algn="l">
              <a:spcAft>
                <a:spcPts val="400"/>
              </a:spcAft>
            </a:pPr>
            <a:r>
              <a:rPr sz="1600" b="0">
                <a:solidFill>
                  <a:srgbClr val="1F2A37"/>
                </a:solidFill>
                <a:latin typeface="Calibri"/>
              </a:rPr>
              <a:t>12 stages, 90 pF disc string: T1 ≈ 1.2 µs, T2 ≈ 51 µs by hand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11155680" cy="731520"/>
          </a:xfrm>
          <a:prstGeom prst="rect">
            <a:avLst/>
          </a:prstGeom>
          <a:noFill/>
        </p:spPr>
        <p:txBody>
          <a:bodyPr wrap="square" anchor="ctr" lIns="54864" rIns="54864" tIns="27432" bIns="27432">
            <a:spAutoFit/>
          </a:bodyPr>
          <a:lstStyle/>
          <a:p>
            <a:pPr algn="l">
              <a:spcAft>
                <a:spcPts val="400"/>
              </a:spcAft>
            </a:pPr>
            <a:r>
              <a:rPr sz="2800" b="1">
                <a:solidFill>
                  <a:srgbClr val="FFFFFF"/>
                </a:solidFill>
                <a:latin typeface="Calibri"/>
              </a:rPr>
              <a:t>How a setting is judged</a:t>
            </a:r>
          </a:p>
        </p:txBody>
      </p:sp>
      <p:sp>
        <p:nvSpPr>
          <p:cNvPr id="5" name="TextBox 4"/>
          <p:cNvSpPr txBox="1"/>
          <p:nvPr/>
        </p:nvSpPr>
        <p:spPr>
          <a:xfrm>
            <a:off x="548640" y="1143000"/>
            <a:ext cx="11155680" cy="457200"/>
          </a:xfrm>
          <a:prstGeom prst="rect">
            <a:avLst/>
          </a:prstGeom>
          <a:noFill/>
        </p:spPr>
        <p:txBody>
          <a:bodyPr wrap="square" anchor="t" lIns="54864" rIns="54864" tIns="27432" bIns="27432">
            <a:spAutoFit/>
          </a:bodyPr>
          <a:lstStyle/>
          <a:p>
            <a:pPr algn="l">
              <a:spcAft>
                <a:spcPts val="400"/>
              </a:spcAft>
            </a:pPr>
            <a:r>
              <a:rPr sz="1600" b="0">
                <a:solidFill>
                  <a:srgbClr val="5B6775"/>
                </a:solidFill>
                <a:latin typeface="Calibri"/>
              </a:rPr>
              <a:t>The IEC 60060-1 procedure, replicated exactly</a:t>
            </a:r>
          </a:p>
        </p:txBody>
      </p:sp>
      <p:sp>
        <p:nvSpPr>
          <p:cNvPr id="6" name="Rectangle 5"/>
          <p:cNvSpPr/>
          <p:nvPr/>
        </p:nvSpPr>
        <p:spPr>
          <a:xfrm>
            <a:off x="548640" y="6400800"/>
            <a:ext cx="11091672" cy="9144"/>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28232"/>
            <a:ext cx="8229600" cy="274320"/>
          </a:xfrm>
          <a:prstGeom prst="rect">
            <a:avLst/>
          </a:prstGeom>
          <a:noFill/>
        </p:spPr>
        <p:txBody>
          <a:bodyPr wrap="square" anchor="t" lIns="54864" rIns="54864" tIns="27432" bIns="27432">
            <a:spAutoFit/>
          </a:bodyPr>
          <a:lstStyle/>
          <a:p>
            <a:pPr algn="l">
              <a:spcAft>
                <a:spcPts val="400"/>
              </a:spcAft>
            </a:pPr>
            <a:r>
              <a:rPr sz="1100" b="0">
                <a:solidFill>
                  <a:srgbClr val="5B6775"/>
                </a:solidFill>
                <a:latin typeface="Calibri"/>
              </a:rPr>
              <a:t>PowerNext-AI  ·  CPRI × MIT Bengaluru  ·  Track 1  ·  Impulse Generator Settings</a:t>
            </a:r>
          </a:p>
        </p:txBody>
      </p:sp>
      <p:sp>
        <p:nvSpPr>
          <p:cNvPr id="8" name="TextBox 7"/>
          <p:cNvSpPr txBox="1"/>
          <p:nvPr/>
        </p:nvSpPr>
        <p:spPr>
          <a:xfrm>
            <a:off x="9144000" y="6428232"/>
            <a:ext cx="2496312" cy="274320"/>
          </a:xfrm>
          <a:prstGeom prst="rect">
            <a:avLst/>
          </a:prstGeom>
          <a:noFill/>
        </p:spPr>
        <p:txBody>
          <a:bodyPr wrap="square" anchor="t" lIns="54864" rIns="54864" tIns="27432" bIns="27432">
            <a:spAutoFit/>
          </a:bodyPr>
          <a:lstStyle/>
          <a:p>
            <a:pPr algn="r">
              <a:spcAft>
                <a:spcPts val="400"/>
              </a:spcAft>
            </a:pPr>
            <a:r>
              <a:rPr sz="1100" b="0">
                <a:solidFill>
                  <a:srgbClr val="5B6775"/>
                </a:solidFill>
                <a:latin typeface="Calibri"/>
              </a:rPr>
              <a:t>Team Slayers   |   5</a:t>
            </a:r>
          </a:p>
        </p:txBody>
      </p:sp>
      <p:sp>
        <p:nvSpPr>
          <p:cNvPr id="9" name="Rectangle 8"/>
          <p:cNvSpPr/>
          <p:nvPr/>
        </p:nvSpPr>
        <p:spPr>
          <a:xfrm>
            <a:off x="548640" y="1737360"/>
            <a:ext cx="2606040" cy="228600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3959352"/>
            <a:ext cx="2606040" cy="64008"/>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20240"/>
            <a:ext cx="2606040" cy="914400"/>
          </a:xfrm>
          <a:prstGeom prst="rect">
            <a:avLst/>
          </a:prstGeom>
          <a:noFill/>
        </p:spPr>
        <p:txBody>
          <a:bodyPr wrap="square" anchor="t" lIns="54864" rIns="54864" tIns="27432" bIns="27432">
            <a:spAutoFit/>
          </a:bodyPr>
          <a:lstStyle/>
          <a:p>
            <a:pPr algn="ctr">
              <a:spcAft>
                <a:spcPts val="400"/>
              </a:spcAft>
            </a:pPr>
            <a:r>
              <a:rPr sz="4400" b="1">
                <a:solidFill>
                  <a:srgbClr val="0B2545"/>
                </a:solidFill>
                <a:latin typeface="Calibri"/>
              </a:rPr>
              <a:t>±30 %</a:t>
            </a:r>
          </a:p>
        </p:txBody>
      </p:sp>
      <p:sp>
        <p:nvSpPr>
          <p:cNvPr id="12" name="TextBox 11"/>
          <p:cNvSpPr txBox="1"/>
          <p:nvPr/>
        </p:nvSpPr>
        <p:spPr>
          <a:xfrm>
            <a:off x="685800" y="2880360"/>
            <a:ext cx="2331720" cy="1005840"/>
          </a:xfrm>
          <a:prstGeom prst="rect">
            <a:avLst/>
          </a:prstGeom>
          <a:noFill/>
        </p:spPr>
        <p:txBody>
          <a:bodyPr wrap="square" anchor="t" lIns="54864" rIns="54864" tIns="27432" bIns="27432">
            <a:spAutoFit/>
          </a:bodyPr>
          <a:lstStyle/>
          <a:p>
            <a:pPr algn="ctr">
              <a:spcAft>
                <a:spcPts val="400"/>
              </a:spcAft>
            </a:pPr>
            <a:r>
              <a:rPr sz="1400" b="0">
                <a:solidFill>
                  <a:srgbClr val="5B6775"/>
                </a:solidFill>
                <a:latin typeface="Calibri"/>
              </a:rPr>
              <a:t>front time T1, target 1.2 µs</a:t>
            </a:r>
          </a:p>
        </p:txBody>
      </p:sp>
      <p:sp>
        <p:nvSpPr>
          <p:cNvPr id="13" name="Rectangle 12"/>
          <p:cNvSpPr/>
          <p:nvPr/>
        </p:nvSpPr>
        <p:spPr>
          <a:xfrm>
            <a:off x="3337560" y="1737360"/>
            <a:ext cx="2606040" cy="228600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37560" y="3959352"/>
            <a:ext cx="2606040" cy="64008"/>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337560" y="1920240"/>
            <a:ext cx="2606040" cy="914400"/>
          </a:xfrm>
          <a:prstGeom prst="rect">
            <a:avLst/>
          </a:prstGeom>
          <a:noFill/>
        </p:spPr>
        <p:txBody>
          <a:bodyPr wrap="square" anchor="t" lIns="54864" rIns="54864" tIns="27432" bIns="27432">
            <a:spAutoFit/>
          </a:bodyPr>
          <a:lstStyle/>
          <a:p>
            <a:pPr algn="ctr">
              <a:spcAft>
                <a:spcPts val="400"/>
              </a:spcAft>
            </a:pPr>
            <a:r>
              <a:rPr sz="4400" b="1">
                <a:solidFill>
                  <a:srgbClr val="0B2545"/>
                </a:solidFill>
                <a:latin typeface="Calibri"/>
              </a:rPr>
              <a:t>±20 %</a:t>
            </a:r>
          </a:p>
        </p:txBody>
      </p:sp>
      <p:sp>
        <p:nvSpPr>
          <p:cNvPr id="16" name="TextBox 15"/>
          <p:cNvSpPr txBox="1"/>
          <p:nvPr/>
        </p:nvSpPr>
        <p:spPr>
          <a:xfrm>
            <a:off x="3474720" y="2880360"/>
            <a:ext cx="2331720" cy="1005840"/>
          </a:xfrm>
          <a:prstGeom prst="rect">
            <a:avLst/>
          </a:prstGeom>
          <a:noFill/>
        </p:spPr>
        <p:txBody>
          <a:bodyPr wrap="square" anchor="t" lIns="54864" rIns="54864" tIns="27432" bIns="27432">
            <a:spAutoFit/>
          </a:bodyPr>
          <a:lstStyle/>
          <a:p>
            <a:pPr algn="ctr">
              <a:spcAft>
                <a:spcPts val="400"/>
              </a:spcAft>
            </a:pPr>
            <a:r>
              <a:rPr sz="1400" b="0">
                <a:solidFill>
                  <a:srgbClr val="5B6775"/>
                </a:solidFill>
                <a:latin typeface="Calibri"/>
              </a:rPr>
              <a:t>tail time T2, target 50 µs</a:t>
            </a:r>
          </a:p>
        </p:txBody>
      </p:sp>
      <p:sp>
        <p:nvSpPr>
          <p:cNvPr id="17" name="Rectangle 16"/>
          <p:cNvSpPr/>
          <p:nvPr/>
        </p:nvSpPr>
        <p:spPr>
          <a:xfrm>
            <a:off x="6126480" y="1737360"/>
            <a:ext cx="2606040" cy="228600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26480" y="3959352"/>
            <a:ext cx="2606040" cy="64008"/>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26480" y="1920240"/>
            <a:ext cx="2606040" cy="914400"/>
          </a:xfrm>
          <a:prstGeom prst="rect">
            <a:avLst/>
          </a:prstGeom>
          <a:noFill/>
        </p:spPr>
        <p:txBody>
          <a:bodyPr wrap="square" anchor="t" lIns="54864" rIns="54864" tIns="27432" bIns="27432">
            <a:spAutoFit/>
          </a:bodyPr>
          <a:lstStyle/>
          <a:p>
            <a:pPr algn="ctr">
              <a:spcAft>
                <a:spcPts val="400"/>
              </a:spcAft>
            </a:pPr>
            <a:r>
              <a:rPr sz="4400" b="1">
                <a:solidFill>
                  <a:srgbClr val="0B2545"/>
                </a:solidFill>
                <a:latin typeface="Calibri"/>
              </a:rPr>
              <a:t>±3 %</a:t>
            </a:r>
          </a:p>
        </p:txBody>
      </p:sp>
      <p:sp>
        <p:nvSpPr>
          <p:cNvPr id="20" name="TextBox 19"/>
          <p:cNvSpPr txBox="1"/>
          <p:nvPr/>
        </p:nvSpPr>
        <p:spPr>
          <a:xfrm>
            <a:off x="6263640" y="2880360"/>
            <a:ext cx="2331720" cy="1005840"/>
          </a:xfrm>
          <a:prstGeom prst="rect">
            <a:avLst/>
          </a:prstGeom>
          <a:noFill/>
        </p:spPr>
        <p:txBody>
          <a:bodyPr wrap="square" anchor="t" lIns="54864" rIns="54864" tIns="27432" bIns="27432">
            <a:spAutoFit/>
          </a:bodyPr>
          <a:lstStyle/>
          <a:p>
            <a:pPr algn="ctr">
              <a:spcAft>
                <a:spcPts val="400"/>
              </a:spcAft>
            </a:pPr>
            <a:r>
              <a:rPr sz="1400" b="0">
                <a:solidFill>
                  <a:srgbClr val="5B6775"/>
                </a:solidFill>
                <a:latin typeface="Calibri"/>
              </a:rPr>
              <a:t>crest voltage, both impulse types</a:t>
            </a:r>
          </a:p>
        </p:txBody>
      </p:sp>
      <p:sp>
        <p:nvSpPr>
          <p:cNvPr id="21" name="Rectangle 20"/>
          <p:cNvSpPr/>
          <p:nvPr/>
        </p:nvSpPr>
        <p:spPr>
          <a:xfrm>
            <a:off x="8915400" y="1737360"/>
            <a:ext cx="2697480" cy="228600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915400" y="3959352"/>
            <a:ext cx="2697480" cy="64008"/>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15400" y="1920240"/>
            <a:ext cx="2697480" cy="914400"/>
          </a:xfrm>
          <a:prstGeom prst="rect">
            <a:avLst/>
          </a:prstGeom>
          <a:noFill/>
        </p:spPr>
        <p:txBody>
          <a:bodyPr wrap="square" anchor="t" lIns="54864" rIns="54864" tIns="27432" bIns="27432">
            <a:spAutoFit/>
          </a:bodyPr>
          <a:lstStyle/>
          <a:p>
            <a:pPr algn="ctr">
              <a:spcAft>
                <a:spcPts val="400"/>
              </a:spcAft>
            </a:pPr>
            <a:r>
              <a:rPr sz="4400" b="1">
                <a:solidFill>
                  <a:srgbClr val="0B2545"/>
                </a:solidFill>
                <a:latin typeface="Calibri"/>
              </a:rPr>
              <a:t>≤ 10 %</a:t>
            </a:r>
          </a:p>
        </p:txBody>
      </p:sp>
      <p:sp>
        <p:nvSpPr>
          <p:cNvPr id="24" name="TextBox 23"/>
          <p:cNvSpPr txBox="1"/>
          <p:nvPr/>
        </p:nvSpPr>
        <p:spPr>
          <a:xfrm>
            <a:off x="9052560" y="2880360"/>
            <a:ext cx="2423160" cy="1005840"/>
          </a:xfrm>
          <a:prstGeom prst="rect">
            <a:avLst/>
          </a:prstGeom>
          <a:noFill/>
        </p:spPr>
        <p:txBody>
          <a:bodyPr wrap="square" anchor="t" lIns="54864" rIns="54864" tIns="27432" bIns="27432">
            <a:spAutoFit/>
          </a:bodyPr>
          <a:lstStyle/>
          <a:p>
            <a:pPr algn="ctr">
              <a:spcAft>
                <a:spcPts val="400"/>
              </a:spcAft>
            </a:pPr>
            <a:r>
              <a:rPr sz="1400" b="0">
                <a:solidFill>
                  <a:srgbClr val="5B6775"/>
                </a:solidFill>
                <a:latin typeface="Calibri"/>
              </a:rPr>
              <a:t>overshoot, lightning impulse</a:t>
            </a:r>
          </a:p>
        </p:txBody>
      </p:sp>
      <p:sp>
        <p:nvSpPr>
          <p:cNvPr id="25" name="Rectangle 24"/>
          <p:cNvSpPr/>
          <p:nvPr/>
        </p:nvSpPr>
        <p:spPr>
          <a:xfrm>
            <a:off x="548640" y="4389120"/>
            <a:ext cx="5486400" cy="169164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4389120"/>
            <a:ext cx="64008" cy="169164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4480559"/>
            <a:ext cx="5212080" cy="457200"/>
          </a:xfrm>
          <a:prstGeom prst="rect">
            <a:avLst/>
          </a:prstGeom>
          <a:noFill/>
        </p:spPr>
        <p:txBody>
          <a:bodyPr wrap="square" anchor="t" lIns="54864" rIns="54864" tIns="27432" bIns="27432">
            <a:spAutoFit/>
          </a:bodyPr>
          <a:lstStyle/>
          <a:p>
            <a:pPr algn="l">
              <a:spcAft>
                <a:spcPts val="400"/>
              </a:spcAft>
            </a:pPr>
            <a:r>
              <a:rPr sz="1800" b="1">
                <a:solidFill>
                  <a:srgbClr val="0B2545"/>
                </a:solidFill>
                <a:latin typeface="Calibri"/>
              </a:rPr>
              <a:t>Switching impulse</a:t>
            </a:r>
          </a:p>
        </p:txBody>
      </p:sp>
      <p:sp>
        <p:nvSpPr>
          <p:cNvPr id="28" name="TextBox 27"/>
          <p:cNvSpPr txBox="1"/>
          <p:nvPr/>
        </p:nvSpPr>
        <p:spPr>
          <a:xfrm>
            <a:off x="731520" y="4956048"/>
            <a:ext cx="5166360" cy="1051560"/>
          </a:xfrm>
          <a:prstGeom prst="rect">
            <a:avLst/>
          </a:prstGeom>
          <a:noFill/>
        </p:spPr>
        <p:txBody>
          <a:bodyPr wrap="square" anchor="t" lIns="54864" rIns="54864" tIns="27432" bIns="27432">
            <a:spAutoFit/>
          </a:bodyPr>
          <a:lstStyle/>
          <a:p>
            <a:pPr algn="l">
              <a:spcAft>
                <a:spcPts val="400"/>
              </a:spcAft>
            </a:pPr>
            <a:r>
              <a:rPr sz="1600" b="0">
                <a:solidFill>
                  <a:srgbClr val="1F2A37"/>
                </a:solidFill>
                <a:latin typeface="Calibri"/>
              </a:rPr>
              <a:t>Time to peak 250 µs ±20 %, tail 2500 µs ±60 %, crest ±3 %</a:t>
            </a:r>
          </a:p>
        </p:txBody>
      </p:sp>
      <p:sp>
        <p:nvSpPr>
          <p:cNvPr id="29" name="Rectangle 28"/>
          <p:cNvSpPr/>
          <p:nvPr/>
        </p:nvSpPr>
        <p:spPr>
          <a:xfrm>
            <a:off x="6217920" y="4389120"/>
            <a:ext cx="5394960" cy="169164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217920" y="4389120"/>
            <a:ext cx="64008" cy="169164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0800" y="4480559"/>
            <a:ext cx="5120640" cy="457200"/>
          </a:xfrm>
          <a:prstGeom prst="rect">
            <a:avLst/>
          </a:prstGeom>
          <a:noFill/>
        </p:spPr>
        <p:txBody>
          <a:bodyPr wrap="square" anchor="t" lIns="54864" rIns="54864" tIns="27432" bIns="27432">
            <a:spAutoFit/>
          </a:bodyPr>
          <a:lstStyle/>
          <a:p>
            <a:pPr algn="l">
              <a:spcAft>
                <a:spcPts val="400"/>
              </a:spcAft>
            </a:pPr>
            <a:r>
              <a:rPr sz="1800" b="1">
                <a:solidFill>
                  <a:srgbClr val="0B2545"/>
                </a:solidFill>
                <a:latin typeface="Calibri"/>
              </a:rPr>
              <a:t>Tolerance margin</a:t>
            </a:r>
          </a:p>
        </p:txBody>
      </p:sp>
      <p:sp>
        <p:nvSpPr>
          <p:cNvPr id="32" name="TextBox 31"/>
          <p:cNvSpPr txBox="1"/>
          <p:nvPr/>
        </p:nvSpPr>
        <p:spPr>
          <a:xfrm>
            <a:off x="6400800" y="4956048"/>
            <a:ext cx="5074920" cy="1051560"/>
          </a:xfrm>
          <a:prstGeom prst="rect">
            <a:avLst/>
          </a:prstGeom>
          <a:noFill/>
        </p:spPr>
        <p:txBody>
          <a:bodyPr wrap="square" anchor="t" lIns="54864" rIns="54864" tIns="27432" bIns="27432">
            <a:spAutoFit/>
          </a:bodyPr>
          <a:lstStyle/>
          <a:p>
            <a:pPr algn="l">
              <a:spcAft>
                <a:spcPts val="400"/>
              </a:spcAft>
            </a:pPr>
            <a:r>
              <a:rPr sz="1600" b="0">
                <a:solidFill>
                  <a:srgbClr val="1F2A37"/>
                </a:solidFill>
                <a:latin typeface="Calibri"/>
              </a:rPr>
              <a:t>max over the bands of |error| / tolerance.  Below 1.0 the setting is inside every band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11155680" cy="731520"/>
          </a:xfrm>
          <a:prstGeom prst="rect">
            <a:avLst/>
          </a:prstGeom>
          <a:noFill/>
        </p:spPr>
        <p:txBody>
          <a:bodyPr wrap="square" anchor="ctr" lIns="54864" rIns="54864" tIns="27432" bIns="27432">
            <a:spAutoFit/>
          </a:bodyPr>
          <a:lstStyle/>
          <a:p>
            <a:pPr algn="l">
              <a:spcAft>
                <a:spcPts val="400"/>
              </a:spcAft>
            </a:pPr>
            <a:r>
              <a:rPr sz="2800" b="1">
                <a:solidFill>
                  <a:srgbClr val="FFFFFF"/>
                </a:solidFill>
                <a:latin typeface="Calibri"/>
              </a:rPr>
              <a:t>Learning the hall</a:t>
            </a:r>
          </a:p>
        </p:txBody>
      </p:sp>
      <p:sp>
        <p:nvSpPr>
          <p:cNvPr id="5" name="TextBox 4"/>
          <p:cNvSpPr txBox="1"/>
          <p:nvPr/>
        </p:nvSpPr>
        <p:spPr>
          <a:xfrm>
            <a:off x="548640" y="1143000"/>
            <a:ext cx="11155680" cy="457200"/>
          </a:xfrm>
          <a:prstGeom prst="rect">
            <a:avLst/>
          </a:prstGeom>
          <a:noFill/>
        </p:spPr>
        <p:txBody>
          <a:bodyPr wrap="square" anchor="t" lIns="54864" rIns="54864" tIns="27432" bIns="27432">
            <a:spAutoFit/>
          </a:bodyPr>
          <a:lstStyle/>
          <a:p>
            <a:pPr algn="l">
              <a:spcAft>
                <a:spcPts val="400"/>
              </a:spcAft>
            </a:pPr>
            <a:r>
              <a:rPr sz="1600" b="0">
                <a:solidFill>
                  <a:srgbClr val="5B6775"/>
                </a:solidFill>
                <a:latin typeface="Calibri"/>
              </a:rPr>
              <a:t>Calibrate the physics, boost the residual, then set the charge</a:t>
            </a:r>
          </a:p>
        </p:txBody>
      </p:sp>
      <p:sp>
        <p:nvSpPr>
          <p:cNvPr id="6" name="Rectangle 5"/>
          <p:cNvSpPr/>
          <p:nvPr/>
        </p:nvSpPr>
        <p:spPr>
          <a:xfrm>
            <a:off x="548640" y="6400800"/>
            <a:ext cx="11091672" cy="9144"/>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28232"/>
            <a:ext cx="8229600" cy="274320"/>
          </a:xfrm>
          <a:prstGeom prst="rect">
            <a:avLst/>
          </a:prstGeom>
          <a:noFill/>
        </p:spPr>
        <p:txBody>
          <a:bodyPr wrap="square" anchor="t" lIns="54864" rIns="54864" tIns="27432" bIns="27432">
            <a:spAutoFit/>
          </a:bodyPr>
          <a:lstStyle/>
          <a:p>
            <a:pPr algn="l">
              <a:spcAft>
                <a:spcPts val="400"/>
              </a:spcAft>
            </a:pPr>
            <a:r>
              <a:rPr sz="1100" b="0">
                <a:solidFill>
                  <a:srgbClr val="5B6775"/>
                </a:solidFill>
                <a:latin typeface="Calibri"/>
              </a:rPr>
              <a:t>PowerNext-AI  ·  CPRI × MIT Bengaluru  ·  Track 1  ·  Impulse Generator Settings</a:t>
            </a:r>
          </a:p>
        </p:txBody>
      </p:sp>
      <p:sp>
        <p:nvSpPr>
          <p:cNvPr id="8" name="TextBox 7"/>
          <p:cNvSpPr txBox="1"/>
          <p:nvPr/>
        </p:nvSpPr>
        <p:spPr>
          <a:xfrm>
            <a:off x="9144000" y="6428232"/>
            <a:ext cx="2496312" cy="274320"/>
          </a:xfrm>
          <a:prstGeom prst="rect">
            <a:avLst/>
          </a:prstGeom>
          <a:noFill/>
        </p:spPr>
        <p:txBody>
          <a:bodyPr wrap="square" anchor="t" lIns="54864" rIns="54864" tIns="27432" bIns="27432">
            <a:spAutoFit/>
          </a:bodyPr>
          <a:lstStyle/>
          <a:p>
            <a:pPr algn="r">
              <a:spcAft>
                <a:spcPts val="400"/>
              </a:spcAft>
            </a:pPr>
            <a:r>
              <a:rPr sz="1100" b="0">
                <a:solidFill>
                  <a:srgbClr val="5B6775"/>
                </a:solidFill>
                <a:latin typeface="Calibri"/>
              </a:rPr>
              <a:t>Team Slayers   |   6</a:t>
            </a:r>
          </a:p>
        </p:txBody>
      </p:sp>
      <p:sp>
        <p:nvSpPr>
          <p:cNvPr id="9" name="Pentagon 8"/>
          <p:cNvSpPr/>
          <p:nvPr/>
        </p:nvSpPr>
        <p:spPr>
          <a:xfrm>
            <a:off x="548640" y="1783080"/>
            <a:ext cx="2875788" cy="1005840"/>
          </a:xfrm>
          <a:prstGeom prst="homePlat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783080"/>
            <a:ext cx="2354579" cy="1005840"/>
          </a:xfrm>
          <a:prstGeom prst="rect">
            <a:avLst/>
          </a:prstGeom>
          <a:noFill/>
        </p:spPr>
        <p:txBody>
          <a:bodyPr wrap="square" anchor="ctr" lIns="54864" rIns="54864" tIns="27432" bIns="27432">
            <a:spAutoFit/>
          </a:bodyPr>
          <a:lstStyle/>
          <a:p>
            <a:pPr algn="ctr">
              <a:spcAft>
                <a:spcPts val="400"/>
              </a:spcAft>
            </a:pPr>
            <a:r>
              <a:rPr sz="1800" b="1">
                <a:solidFill>
                  <a:srgbClr val="FFFFFF"/>
                </a:solidFill>
                <a:latin typeface="Calibri"/>
              </a:rPr>
              <a:t>1  Calibrate</a:t>
            </a:r>
          </a:p>
        </p:txBody>
      </p:sp>
      <p:sp>
        <p:nvSpPr>
          <p:cNvPr id="11" name="Chevron 10"/>
          <p:cNvSpPr/>
          <p:nvPr/>
        </p:nvSpPr>
        <p:spPr>
          <a:xfrm>
            <a:off x="3314700" y="1783080"/>
            <a:ext cx="2875788" cy="1005840"/>
          </a:xfrm>
          <a:prstGeom prst="chevron">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89020" y="1783080"/>
            <a:ext cx="2354579" cy="1005840"/>
          </a:xfrm>
          <a:prstGeom prst="rect">
            <a:avLst/>
          </a:prstGeom>
          <a:noFill/>
        </p:spPr>
        <p:txBody>
          <a:bodyPr wrap="square" anchor="ctr" lIns="54864" rIns="54864" tIns="27432" bIns="27432">
            <a:spAutoFit/>
          </a:bodyPr>
          <a:lstStyle/>
          <a:p>
            <a:pPr algn="ctr">
              <a:spcAft>
                <a:spcPts val="400"/>
              </a:spcAft>
            </a:pPr>
            <a:r>
              <a:rPr sz="1800" b="1">
                <a:solidFill>
                  <a:srgbClr val="FFFFFF"/>
                </a:solidFill>
                <a:latin typeface="Calibri"/>
              </a:rPr>
              <a:t>2  Boost</a:t>
            </a:r>
          </a:p>
        </p:txBody>
      </p:sp>
      <p:sp>
        <p:nvSpPr>
          <p:cNvPr id="13" name="Chevron 12"/>
          <p:cNvSpPr/>
          <p:nvPr/>
        </p:nvSpPr>
        <p:spPr>
          <a:xfrm>
            <a:off x="6080759" y="1783080"/>
            <a:ext cx="2875788" cy="1005840"/>
          </a:xfrm>
          <a:prstGeom prst="chevron">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79" y="1783080"/>
            <a:ext cx="2354579" cy="1005840"/>
          </a:xfrm>
          <a:prstGeom prst="rect">
            <a:avLst/>
          </a:prstGeom>
          <a:noFill/>
        </p:spPr>
        <p:txBody>
          <a:bodyPr wrap="square" anchor="ctr" lIns="54864" rIns="54864" tIns="27432" bIns="27432">
            <a:spAutoFit/>
          </a:bodyPr>
          <a:lstStyle/>
          <a:p>
            <a:pPr algn="ctr">
              <a:spcAft>
                <a:spcPts val="400"/>
              </a:spcAft>
            </a:pPr>
            <a:r>
              <a:rPr sz="1800" b="1">
                <a:solidFill>
                  <a:srgbClr val="FFFFFF"/>
                </a:solidFill>
                <a:latin typeface="Calibri"/>
              </a:rPr>
              <a:t>3  Correct</a:t>
            </a:r>
          </a:p>
        </p:txBody>
      </p:sp>
      <p:sp>
        <p:nvSpPr>
          <p:cNvPr id="15" name="Chevron 14"/>
          <p:cNvSpPr/>
          <p:nvPr/>
        </p:nvSpPr>
        <p:spPr>
          <a:xfrm>
            <a:off x="8846819" y="1783080"/>
            <a:ext cx="2875788" cy="1005840"/>
          </a:xfrm>
          <a:prstGeom prst="chevron">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21140" y="1783080"/>
            <a:ext cx="2354579" cy="1005840"/>
          </a:xfrm>
          <a:prstGeom prst="rect">
            <a:avLst/>
          </a:prstGeom>
          <a:noFill/>
        </p:spPr>
        <p:txBody>
          <a:bodyPr wrap="square" anchor="ctr" lIns="54864" rIns="54864" tIns="27432" bIns="27432">
            <a:spAutoFit/>
          </a:bodyPr>
          <a:lstStyle/>
          <a:p>
            <a:pPr algn="ctr">
              <a:spcAft>
                <a:spcPts val="400"/>
              </a:spcAft>
            </a:pPr>
            <a:r>
              <a:rPr sz="1800" b="1">
                <a:solidFill>
                  <a:srgbClr val="FFFFFF"/>
                </a:solidFill>
                <a:latin typeface="Calibri"/>
              </a:rPr>
              <a:t>4  Set the charge</a:t>
            </a:r>
          </a:p>
        </p:txBody>
      </p:sp>
      <p:sp>
        <p:nvSpPr>
          <p:cNvPr id="17" name="Rectangle 16"/>
          <p:cNvSpPr/>
          <p:nvPr/>
        </p:nvSpPr>
        <p:spPr>
          <a:xfrm>
            <a:off x="548640" y="3108960"/>
            <a:ext cx="3566160" cy="155448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108960"/>
            <a:ext cx="64008" cy="1554480"/>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3200400"/>
            <a:ext cx="3291839" cy="457200"/>
          </a:xfrm>
          <a:prstGeom prst="rect">
            <a:avLst/>
          </a:prstGeom>
          <a:noFill/>
        </p:spPr>
        <p:txBody>
          <a:bodyPr wrap="square" anchor="t" lIns="54864" rIns="54864" tIns="27432" bIns="27432">
            <a:spAutoFit/>
          </a:bodyPr>
          <a:lstStyle/>
          <a:p>
            <a:pPr algn="l">
              <a:spcAft>
                <a:spcPts val="400"/>
              </a:spcAft>
            </a:pPr>
            <a:r>
              <a:rPr sz="1700" b="1">
                <a:solidFill>
                  <a:srgbClr val="0B2545"/>
                </a:solidFill>
                <a:latin typeface="Calibri"/>
              </a:rPr>
              <a:t>Calibrate</a:t>
            </a:r>
          </a:p>
        </p:txBody>
      </p:sp>
      <p:sp>
        <p:nvSpPr>
          <p:cNvPr id="20" name="TextBox 19"/>
          <p:cNvSpPr txBox="1"/>
          <p:nvPr/>
        </p:nvSpPr>
        <p:spPr>
          <a:xfrm>
            <a:off x="731520" y="3675887"/>
            <a:ext cx="3246120" cy="914400"/>
          </a:xfrm>
          <a:prstGeom prst="rect">
            <a:avLst/>
          </a:prstGeom>
          <a:noFill/>
        </p:spPr>
        <p:txBody>
          <a:bodyPr wrap="square" anchor="t" lIns="54864" rIns="54864" tIns="27432" bIns="27432">
            <a:spAutoFit/>
          </a:bodyPr>
          <a:lstStyle/>
          <a:p>
            <a:pPr algn="l">
              <a:spcAft>
                <a:spcPts val="400"/>
              </a:spcAft>
            </a:pPr>
            <a:r>
              <a:rPr sz="1400" b="0">
                <a:solidFill>
                  <a:srgbClr val="1F2A37"/>
                </a:solidFill>
                <a:latin typeface="Calibri"/>
              </a:rPr>
              <a:t>loop inductance, extra inductance, extra capacitance, divider response, one efficiency</a:t>
            </a:r>
          </a:p>
        </p:txBody>
      </p:sp>
      <p:sp>
        <p:nvSpPr>
          <p:cNvPr id="21" name="Rectangle 20"/>
          <p:cNvSpPr/>
          <p:nvPr/>
        </p:nvSpPr>
        <p:spPr>
          <a:xfrm>
            <a:off x="4315968" y="3108960"/>
            <a:ext cx="3566160" cy="155448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315968" y="3108960"/>
            <a:ext cx="64008" cy="1554480"/>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98848" y="3200400"/>
            <a:ext cx="3291839" cy="457200"/>
          </a:xfrm>
          <a:prstGeom prst="rect">
            <a:avLst/>
          </a:prstGeom>
          <a:noFill/>
        </p:spPr>
        <p:txBody>
          <a:bodyPr wrap="square" anchor="t" lIns="54864" rIns="54864" tIns="27432" bIns="27432">
            <a:spAutoFit/>
          </a:bodyPr>
          <a:lstStyle/>
          <a:p>
            <a:pPr algn="l">
              <a:spcAft>
                <a:spcPts val="400"/>
              </a:spcAft>
            </a:pPr>
            <a:r>
              <a:rPr sz="1700" b="1">
                <a:solidFill>
                  <a:srgbClr val="0B2545"/>
                </a:solidFill>
                <a:latin typeface="Calibri"/>
              </a:rPr>
              <a:t>Boost</a:t>
            </a:r>
          </a:p>
        </p:txBody>
      </p:sp>
      <p:sp>
        <p:nvSpPr>
          <p:cNvPr id="24" name="TextBox 23"/>
          <p:cNvSpPr txBox="1"/>
          <p:nvPr/>
        </p:nvSpPr>
        <p:spPr>
          <a:xfrm>
            <a:off x="4498848" y="3675887"/>
            <a:ext cx="3246120" cy="914400"/>
          </a:xfrm>
          <a:prstGeom prst="rect">
            <a:avLst/>
          </a:prstGeom>
          <a:noFill/>
        </p:spPr>
        <p:txBody>
          <a:bodyPr wrap="square" anchor="t" lIns="54864" rIns="54864" tIns="27432" bIns="27432">
            <a:spAutoFit/>
          </a:bodyPr>
          <a:lstStyle/>
          <a:p>
            <a:pPr algn="l">
              <a:spcAft>
                <a:spcPts val="400"/>
              </a:spcAft>
            </a:pPr>
            <a:r>
              <a:rPr sz="1400" b="0">
                <a:solidFill>
                  <a:srgbClr val="1F2A37"/>
                </a:solidFill>
                <a:latin typeface="Calibri"/>
              </a:rPr>
              <a:t>300 trees, depth 3, on the relative residual, from 13 inputs</a:t>
            </a:r>
          </a:p>
        </p:txBody>
      </p:sp>
      <p:sp>
        <p:nvSpPr>
          <p:cNvPr id="25" name="Rectangle 24"/>
          <p:cNvSpPr/>
          <p:nvPr/>
        </p:nvSpPr>
        <p:spPr>
          <a:xfrm>
            <a:off x="8083296" y="3108960"/>
            <a:ext cx="3566160" cy="155448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083296" y="3108960"/>
            <a:ext cx="64008" cy="1554480"/>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66175" y="3200400"/>
            <a:ext cx="3291840" cy="457200"/>
          </a:xfrm>
          <a:prstGeom prst="rect">
            <a:avLst/>
          </a:prstGeom>
          <a:noFill/>
        </p:spPr>
        <p:txBody>
          <a:bodyPr wrap="square" anchor="t" lIns="54864" rIns="54864" tIns="27432" bIns="27432">
            <a:spAutoFit/>
          </a:bodyPr>
          <a:lstStyle/>
          <a:p>
            <a:pPr algn="l">
              <a:spcAft>
                <a:spcPts val="400"/>
              </a:spcAft>
            </a:pPr>
            <a:r>
              <a:rPr sz="1700" b="1">
                <a:solidFill>
                  <a:srgbClr val="0B2545"/>
                </a:solidFill>
                <a:latin typeface="Calibri"/>
              </a:rPr>
              <a:t>Correct</a:t>
            </a:r>
          </a:p>
        </p:txBody>
      </p:sp>
      <p:sp>
        <p:nvSpPr>
          <p:cNvPr id="28" name="TextBox 27"/>
          <p:cNvSpPr txBox="1"/>
          <p:nvPr/>
        </p:nvSpPr>
        <p:spPr>
          <a:xfrm>
            <a:off x="8266175" y="3675887"/>
            <a:ext cx="3246120" cy="914400"/>
          </a:xfrm>
          <a:prstGeom prst="rect">
            <a:avLst/>
          </a:prstGeom>
          <a:noFill/>
        </p:spPr>
        <p:txBody>
          <a:bodyPr wrap="square" anchor="t" lIns="54864" rIns="54864" tIns="27432" bIns="27432">
            <a:spAutoFit/>
          </a:bodyPr>
          <a:lstStyle/>
          <a:p>
            <a:pPr algn="l">
              <a:spcAft>
                <a:spcPts val="400"/>
              </a:spcAft>
            </a:pPr>
            <a:r>
              <a:rPr sz="1400" b="0">
                <a:solidFill>
                  <a:srgbClr val="1F2A37"/>
                </a:solidFill>
                <a:latin typeface="Calibri"/>
              </a:rPr>
              <a:t>prediction = physics × (1 + learned correction); overshoot has its own model</a:t>
            </a:r>
          </a:p>
        </p:txBody>
      </p:sp>
      <p:sp>
        <p:nvSpPr>
          <p:cNvPr id="29" name="Rectangle 28"/>
          <p:cNvSpPr/>
          <p:nvPr/>
        </p:nvSpPr>
        <p:spPr>
          <a:xfrm>
            <a:off x="548640" y="4846320"/>
            <a:ext cx="5486400" cy="128016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846320"/>
            <a:ext cx="64008" cy="128016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937759"/>
            <a:ext cx="5212080" cy="457200"/>
          </a:xfrm>
          <a:prstGeom prst="rect">
            <a:avLst/>
          </a:prstGeom>
          <a:noFill/>
        </p:spPr>
        <p:txBody>
          <a:bodyPr wrap="square" anchor="t" lIns="54864" rIns="54864" tIns="27432" bIns="27432">
            <a:spAutoFit/>
          </a:bodyPr>
          <a:lstStyle/>
          <a:p>
            <a:pPr algn="l">
              <a:spcAft>
                <a:spcPts val="400"/>
              </a:spcAft>
            </a:pPr>
            <a:r>
              <a:rPr sz="1700" b="1">
                <a:solidFill>
                  <a:srgbClr val="0B2545"/>
                </a:solidFill>
                <a:latin typeface="Calibri"/>
              </a:rPr>
              <a:t>Shot loop</a:t>
            </a:r>
          </a:p>
        </p:txBody>
      </p:sp>
      <p:sp>
        <p:nvSpPr>
          <p:cNvPr id="32" name="TextBox 31"/>
          <p:cNvSpPr txBox="1"/>
          <p:nvPr/>
        </p:nvSpPr>
        <p:spPr>
          <a:xfrm>
            <a:off x="731520" y="5413248"/>
            <a:ext cx="5166360" cy="640080"/>
          </a:xfrm>
          <a:prstGeom prst="rect">
            <a:avLst/>
          </a:prstGeom>
          <a:noFill/>
        </p:spPr>
        <p:txBody>
          <a:bodyPr wrap="square" anchor="t" lIns="54864" rIns="54864" tIns="27432" bIns="27432">
            <a:spAutoFit/>
          </a:bodyPr>
          <a:lstStyle/>
          <a:p>
            <a:pPr algn="l">
              <a:spcAft>
                <a:spcPts val="400"/>
              </a:spcAft>
            </a:pPr>
            <a:r>
              <a:rPr sz="1400" b="0">
                <a:solidFill>
                  <a:srgbClr val="1F2A37"/>
                </a:solidFill>
                <a:latin typeface="Calibri"/>
              </a:rPr>
              <a:t>Shape passed: change only the voltage. Otherwise the fewest resistor changes.</a:t>
            </a:r>
          </a:p>
        </p:txBody>
      </p:sp>
      <p:sp>
        <p:nvSpPr>
          <p:cNvPr id="33" name="Rectangle 32"/>
          <p:cNvSpPr/>
          <p:nvPr/>
        </p:nvSpPr>
        <p:spPr>
          <a:xfrm>
            <a:off x="6217920" y="4846320"/>
            <a:ext cx="5394960" cy="128016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217920" y="4846320"/>
            <a:ext cx="64008" cy="128016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00800" y="4937759"/>
            <a:ext cx="5120640" cy="457200"/>
          </a:xfrm>
          <a:prstGeom prst="rect">
            <a:avLst/>
          </a:prstGeom>
          <a:noFill/>
        </p:spPr>
        <p:txBody>
          <a:bodyPr wrap="square" anchor="t" lIns="54864" rIns="54864" tIns="27432" bIns="27432">
            <a:spAutoFit/>
          </a:bodyPr>
          <a:lstStyle/>
          <a:p>
            <a:pPr algn="l">
              <a:spcAft>
                <a:spcPts val="400"/>
              </a:spcAft>
            </a:pPr>
            <a:r>
              <a:rPr sz="1700" b="1">
                <a:solidFill>
                  <a:srgbClr val="0B2545"/>
                </a:solidFill>
                <a:latin typeface="Calibri"/>
              </a:rPr>
              <a:t>Hall memory</a:t>
            </a:r>
          </a:p>
        </p:txBody>
      </p:sp>
      <p:sp>
        <p:nvSpPr>
          <p:cNvPr id="36" name="TextBox 35"/>
          <p:cNvSpPr txBox="1"/>
          <p:nvPr/>
        </p:nvSpPr>
        <p:spPr>
          <a:xfrm>
            <a:off x="6400800" y="5413248"/>
            <a:ext cx="5074920" cy="640080"/>
          </a:xfrm>
          <a:prstGeom prst="rect">
            <a:avLst/>
          </a:prstGeom>
          <a:noFill/>
        </p:spPr>
        <p:txBody>
          <a:bodyPr wrap="square" anchor="t" lIns="54864" rIns="54864" tIns="27432" bIns="27432">
            <a:spAutoFit/>
          </a:bodyPr>
          <a:lstStyle/>
          <a:p>
            <a:pPr algn="l">
              <a:spcAft>
                <a:spcPts val="400"/>
              </a:spcAft>
            </a:pPr>
            <a:r>
              <a:rPr sz="1400" b="0">
                <a:solidFill>
                  <a:srgbClr val="1F2A37"/>
                </a:solidFill>
                <a:latin typeface="Calibri"/>
              </a:rPr>
              <a:t>Four ratios a test; active from three tests, weight n / (n + 6).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11155680" cy="731520"/>
          </a:xfrm>
          <a:prstGeom prst="rect">
            <a:avLst/>
          </a:prstGeom>
          <a:noFill/>
        </p:spPr>
        <p:txBody>
          <a:bodyPr wrap="square" anchor="ctr" lIns="54864" rIns="54864" tIns="27432" bIns="27432">
            <a:spAutoFit/>
          </a:bodyPr>
          <a:lstStyle/>
          <a:p>
            <a:pPr algn="l">
              <a:spcAft>
                <a:spcPts val="400"/>
              </a:spcAft>
            </a:pPr>
            <a:r>
              <a:rPr sz="2800" b="1">
                <a:solidFill>
                  <a:srgbClr val="FFFFFF"/>
                </a:solidFill>
                <a:latin typeface="Calibri"/>
              </a:rPr>
              <a:t>Inputs: everything CPRI specified</a:t>
            </a:r>
          </a:p>
        </p:txBody>
      </p:sp>
      <p:sp>
        <p:nvSpPr>
          <p:cNvPr id="5" name="TextBox 4"/>
          <p:cNvSpPr txBox="1"/>
          <p:nvPr/>
        </p:nvSpPr>
        <p:spPr>
          <a:xfrm>
            <a:off x="548640" y="1143000"/>
            <a:ext cx="11155680" cy="457200"/>
          </a:xfrm>
          <a:prstGeom prst="rect">
            <a:avLst/>
          </a:prstGeom>
          <a:noFill/>
        </p:spPr>
        <p:txBody>
          <a:bodyPr wrap="square" anchor="t" lIns="54864" rIns="54864" tIns="27432" bIns="27432">
            <a:spAutoFit/>
          </a:bodyPr>
          <a:lstStyle/>
          <a:p>
            <a:pPr algn="l">
              <a:spcAft>
                <a:spcPts val="400"/>
              </a:spcAft>
            </a:pPr>
            <a:r>
              <a:rPr sz="1600" b="0">
                <a:solidFill>
                  <a:srgbClr val="5B6775"/>
                </a:solidFill>
                <a:latin typeface="Calibri"/>
              </a:rPr>
              <a:t>A layman enters a level; an engineer can enter all of it</a:t>
            </a:r>
          </a:p>
        </p:txBody>
      </p:sp>
      <p:sp>
        <p:nvSpPr>
          <p:cNvPr id="6" name="Rectangle 5"/>
          <p:cNvSpPr/>
          <p:nvPr/>
        </p:nvSpPr>
        <p:spPr>
          <a:xfrm>
            <a:off x="548640" y="6400800"/>
            <a:ext cx="11091672" cy="9144"/>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28232"/>
            <a:ext cx="8229600" cy="274320"/>
          </a:xfrm>
          <a:prstGeom prst="rect">
            <a:avLst/>
          </a:prstGeom>
          <a:noFill/>
        </p:spPr>
        <p:txBody>
          <a:bodyPr wrap="square" anchor="t" lIns="54864" rIns="54864" tIns="27432" bIns="27432">
            <a:spAutoFit/>
          </a:bodyPr>
          <a:lstStyle/>
          <a:p>
            <a:pPr algn="l">
              <a:spcAft>
                <a:spcPts val="400"/>
              </a:spcAft>
            </a:pPr>
            <a:r>
              <a:rPr sz="1100" b="0">
                <a:solidFill>
                  <a:srgbClr val="5B6775"/>
                </a:solidFill>
                <a:latin typeface="Calibri"/>
              </a:rPr>
              <a:t>PowerNext-AI  ·  CPRI × MIT Bengaluru  ·  Track 1  ·  Impulse Generator Settings</a:t>
            </a:r>
          </a:p>
        </p:txBody>
      </p:sp>
      <p:sp>
        <p:nvSpPr>
          <p:cNvPr id="8" name="TextBox 7"/>
          <p:cNvSpPr txBox="1"/>
          <p:nvPr/>
        </p:nvSpPr>
        <p:spPr>
          <a:xfrm>
            <a:off x="9144000" y="6428232"/>
            <a:ext cx="2496312" cy="274320"/>
          </a:xfrm>
          <a:prstGeom prst="rect">
            <a:avLst/>
          </a:prstGeom>
          <a:noFill/>
        </p:spPr>
        <p:txBody>
          <a:bodyPr wrap="square" anchor="t" lIns="54864" rIns="54864" tIns="27432" bIns="27432">
            <a:spAutoFit/>
          </a:bodyPr>
          <a:lstStyle/>
          <a:p>
            <a:pPr algn="r">
              <a:spcAft>
                <a:spcPts val="400"/>
              </a:spcAft>
            </a:pPr>
            <a:r>
              <a:rPr sz="1100" b="0">
                <a:solidFill>
                  <a:srgbClr val="5B6775"/>
                </a:solidFill>
                <a:latin typeface="Calibri"/>
              </a:rPr>
              <a:t>Team Slayers   |   7</a:t>
            </a:r>
          </a:p>
        </p:txBody>
      </p:sp>
      <p:sp>
        <p:nvSpPr>
          <p:cNvPr id="9" name="Rectangle 8"/>
          <p:cNvSpPr/>
          <p:nvPr/>
        </p:nvSpPr>
        <p:spPr>
          <a:xfrm>
            <a:off x="548640" y="1737360"/>
            <a:ext cx="2679192" cy="132588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737360"/>
            <a:ext cx="64008" cy="1325880"/>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31520" y="1883664"/>
            <a:ext cx="310896" cy="310896"/>
          </a:xfrm>
          <a:prstGeom prst="ellipse">
            <a:avLst/>
          </a:prstGeom>
          <a:solidFill>
            <a:srgbClr val="138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1883664"/>
            <a:ext cx="310896" cy="310896"/>
          </a:xfrm>
          <a:prstGeom prst="rect">
            <a:avLst/>
          </a:prstGeom>
          <a:noFill/>
        </p:spPr>
        <p:txBody>
          <a:bodyPr wrap="square" anchor="ctr" lIns="54864" rIns="54864" tIns="27432" bIns="27432">
            <a:spAutoFit/>
          </a:bodyPr>
          <a:lstStyle/>
          <a:p>
            <a:pPr algn="ctr">
              <a:spcAft>
                <a:spcPts val="400"/>
              </a:spcAft>
            </a:pPr>
            <a:r>
              <a:rPr sz="1200" b="1">
                <a:solidFill>
                  <a:srgbClr val="FFFFFF"/>
                </a:solidFill>
                <a:latin typeface="Calibri"/>
              </a:rPr>
              <a:t>✓</a:t>
            </a:r>
          </a:p>
        </p:txBody>
      </p:sp>
      <p:sp>
        <p:nvSpPr>
          <p:cNvPr id="13" name="TextBox 12"/>
          <p:cNvSpPr txBox="1"/>
          <p:nvPr/>
        </p:nvSpPr>
        <p:spPr>
          <a:xfrm>
            <a:off x="1115568" y="1828800"/>
            <a:ext cx="2020824" cy="457200"/>
          </a:xfrm>
          <a:prstGeom prst="rect">
            <a:avLst/>
          </a:prstGeom>
          <a:noFill/>
        </p:spPr>
        <p:txBody>
          <a:bodyPr wrap="square" anchor="t" lIns="54864" rIns="54864" tIns="27432" bIns="27432">
            <a:spAutoFit/>
          </a:bodyPr>
          <a:lstStyle/>
          <a:p>
            <a:pPr algn="l">
              <a:spcAft>
                <a:spcPts val="400"/>
              </a:spcAft>
            </a:pPr>
            <a:r>
              <a:rPr sz="1600" b="1">
                <a:solidFill>
                  <a:srgbClr val="0B2545"/>
                </a:solidFill>
                <a:latin typeface="Calibri"/>
              </a:rPr>
              <a:t>Impulse type</a:t>
            </a:r>
          </a:p>
        </p:txBody>
      </p:sp>
      <p:sp>
        <p:nvSpPr>
          <p:cNvPr id="14" name="TextBox 13"/>
          <p:cNvSpPr txBox="1"/>
          <p:nvPr/>
        </p:nvSpPr>
        <p:spPr>
          <a:xfrm>
            <a:off x="731520" y="2304288"/>
            <a:ext cx="2359152" cy="685800"/>
          </a:xfrm>
          <a:prstGeom prst="rect">
            <a:avLst/>
          </a:prstGeom>
          <a:noFill/>
        </p:spPr>
        <p:txBody>
          <a:bodyPr wrap="square" anchor="t" lIns="54864" rIns="54864" tIns="27432" bIns="27432">
            <a:spAutoFit/>
          </a:bodyPr>
          <a:lstStyle/>
          <a:p>
            <a:pPr algn="l">
              <a:spcAft>
                <a:spcPts val="400"/>
              </a:spcAft>
            </a:pPr>
            <a:r>
              <a:rPr sz="1400" b="0">
                <a:solidFill>
                  <a:srgbClr val="1F2A37"/>
                </a:solidFill>
                <a:latin typeface="Calibri"/>
              </a:rPr>
              <a:t>lightning or switching</a:t>
            </a:r>
          </a:p>
        </p:txBody>
      </p:sp>
      <p:sp>
        <p:nvSpPr>
          <p:cNvPr id="15" name="Rectangle 14"/>
          <p:cNvSpPr/>
          <p:nvPr/>
        </p:nvSpPr>
        <p:spPr>
          <a:xfrm>
            <a:off x="3355848" y="1737360"/>
            <a:ext cx="2679192" cy="132588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55848" y="1737360"/>
            <a:ext cx="64008" cy="1325880"/>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538728" y="1883664"/>
            <a:ext cx="310896" cy="310896"/>
          </a:xfrm>
          <a:prstGeom prst="ellipse">
            <a:avLst/>
          </a:prstGeom>
          <a:solidFill>
            <a:srgbClr val="138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38728" y="1883664"/>
            <a:ext cx="310896" cy="310896"/>
          </a:xfrm>
          <a:prstGeom prst="rect">
            <a:avLst/>
          </a:prstGeom>
          <a:noFill/>
        </p:spPr>
        <p:txBody>
          <a:bodyPr wrap="square" anchor="ctr" lIns="54864" rIns="54864" tIns="27432" bIns="27432">
            <a:spAutoFit/>
          </a:bodyPr>
          <a:lstStyle/>
          <a:p>
            <a:pPr algn="ctr">
              <a:spcAft>
                <a:spcPts val="400"/>
              </a:spcAft>
            </a:pPr>
            <a:r>
              <a:rPr sz="1200" b="1">
                <a:solidFill>
                  <a:srgbClr val="FFFFFF"/>
                </a:solidFill>
                <a:latin typeface="Calibri"/>
              </a:rPr>
              <a:t>✓</a:t>
            </a:r>
          </a:p>
        </p:txBody>
      </p:sp>
      <p:sp>
        <p:nvSpPr>
          <p:cNvPr id="19" name="TextBox 18"/>
          <p:cNvSpPr txBox="1"/>
          <p:nvPr/>
        </p:nvSpPr>
        <p:spPr>
          <a:xfrm>
            <a:off x="3922776" y="1828800"/>
            <a:ext cx="2020824" cy="457200"/>
          </a:xfrm>
          <a:prstGeom prst="rect">
            <a:avLst/>
          </a:prstGeom>
          <a:noFill/>
        </p:spPr>
        <p:txBody>
          <a:bodyPr wrap="square" anchor="t" lIns="54864" rIns="54864" tIns="27432" bIns="27432">
            <a:spAutoFit/>
          </a:bodyPr>
          <a:lstStyle/>
          <a:p>
            <a:pPr algn="l">
              <a:spcAft>
                <a:spcPts val="400"/>
              </a:spcAft>
            </a:pPr>
            <a:r>
              <a:rPr sz="1600" b="1">
                <a:solidFill>
                  <a:srgbClr val="0B2545"/>
                </a:solidFill>
                <a:latin typeface="Calibri"/>
              </a:rPr>
              <a:t>Crest voltage</a:t>
            </a:r>
          </a:p>
        </p:txBody>
      </p:sp>
      <p:sp>
        <p:nvSpPr>
          <p:cNvPr id="20" name="TextBox 19"/>
          <p:cNvSpPr txBox="1"/>
          <p:nvPr/>
        </p:nvSpPr>
        <p:spPr>
          <a:xfrm>
            <a:off x="3538728" y="2304288"/>
            <a:ext cx="2359152" cy="685800"/>
          </a:xfrm>
          <a:prstGeom prst="rect">
            <a:avLst/>
          </a:prstGeom>
          <a:noFill/>
        </p:spPr>
        <p:txBody>
          <a:bodyPr wrap="square" anchor="t" lIns="54864" rIns="54864" tIns="27432" bIns="27432">
            <a:spAutoFit/>
          </a:bodyPr>
          <a:lstStyle/>
          <a:p>
            <a:pPr algn="l">
              <a:spcAft>
                <a:spcPts val="400"/>
              </a:spcAft>
            </a:pPr>
            <a:r>
              <a:rPr sz="1400" b="0">
                <a:solidFill>
                  <a:srgbClr val="1F2A37"/>
                </a:solidFill>
                <a:latin typeface="Calibri"/>
              </a:rPr>
              <a:t>IEC level, or any kV</a:t>
            </a:r>
          </a:p>
        </p:txBody>
      </p:sp>
      <p:sp>
        <p:nvSpPr>
          <p:cNvPr id="21" name="Rectangle 20"/>
          <p:cNvSpPr/>
          <p:nvPr/>
        </p:nvSpPr>
        <p:spPr>
          <a:xfrm>
            <a:off x="6163055" y="1737360"/>
            <a:ext cx="2679192" cy="132588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5" y="1737360"/>
            <a:ext cx="64008" cy="1325880"/>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345936" y="1883664"/>
            <a:ext cx="310896" cy="310896"/>
          </a:xfrm>
          <a:prstGeom prst="ellipse">
            <a:avLst/>
          </a:prstGeom>
          <a:solidFill>
            <a:srgbClr val="138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45936" y="1883664"/>
            <a:ext cx="310896" cy="310896"/>
          </a:xfrm>
          <a:prstGeom prst="rect">
            <a:avLst/>
          </a:prstGeom>
          <a:noFill/>
        </p:spPr>
        <p:txBody>
          <a:bodyPr wrap="square" anchor="ctr" lIns="54864" rIns="54864" tIns="27432" bIns="27432">
            <a:spAutoFit/>
          </a:bodyPr>
          <a:lstStyle/>
          <a:p>
            <a:pPr algn="ctr">
              <a:spcAft>
                <a:spcPts val="400"/>
              </a:spcAft>
            </a:pPr>
            <a:r>
              <a:rPr sz="1200" b="1">
                <a:solidFill>
                  <a:srgbClr val="FFFFFF"/>
                </a:solidFill>
                <a:latin typeface="Calibri"/>
              </a:rPr>
              <a:t>✓</a:t>
            </a:r>
          </a:p>
        </p:txBody>
      </p:sp>
      <p:sp>
        <p:nvSpPr>
          <p:cNvPr id="25" name="TextBox 24"/>
          <p:cNvSpPr txBox="1"/>
          <p:nvPr/>
        </p:nvSpPr>
        <p:spPr>
          <a:xfrm>
            <a:off x="6729983" y="1828800"/>
            <a:ext cx="2020824" cy="457200"/>
          </a:xfrm>
          <a:prstGeom prst="rect">
            <a:avLst/>
          </a:prstGeom>
          <a:noFill/>
        </p:spPr>
        <p:txBody>
          <a:bodyPr wrap="square" anchor="t" lIns="54864" rIns="54864" tIns="27432" bIns="27432">
            <a:spAutoFit/>
          </a:bodyPr>
          <a:lstStyle/>
          <a:p>
            <a:pPr algn="l">
              <a:spcAft>
                <a:spcPts val="400"/>
              </a:spcAft>
            </a:pPr>
            <a:r>
              <a:rPr sz="1600" b="1">
                <a:solidFill>
                  <a:srgbClr val="0B2545"/>
                </a:solidFill>
                <a:latin typeface="Calibri"/>
              </a:rPr>
              <a:t>Insulator capacitance</a:t>
            </a:r>
          </a:p>
        </p:txBody>
      </p:sp>
      <p:sp>
        <p:nvSpPr>
          <p:cNvPr id="26" name="TextBox 25"/>
          <p:cNvSpPr txBox="1"/>
          <p:nvPr/>
        </p:nvSpPr>
        <p:spPr>
          <a:xfrm>
            <a:off x="6345936" y="2304288"/>
            <a:ext cx="2359152" cy="685800"/>
          </a:xfrm>
          <a:prstGeom prst="rect">
            <a:avLst/>
          </a:prstGeom>
          <a:noFill/>
        </p:spPr>
        <p:txBody>
          <a:bodyPr wrap="square" anchor="t" lIns="54864" rIns="54864" tIns="27432" bIns="27432">
            <a:spAutoFit/>
          </a:bodyPr>
          <a:lstStyle/>
          <a:p>
            <a:pPr algn="l">
              <a:spcAft>
                <a:spcPts val="400"/>
              </a:spcAft>
            </a:pPr>
            <a:r>
              <a:rPr sz="1400" b="0">
                <a:solidFill>
                  <a:srgbClr val="1F2A37"/>
                </a:solidFill>
                <a:latin typeface="Calibri"/>
              </a:rPr>
              <a:t>measured or inferred</a:t>
            </a:r>
          </a:p>
        </p:txBody>
      </p:sp>
      <p:sp>
        <p:nvSpPr>
          <p:cNvPr id="27" name="Rectangle 26"/>
          <p:cNvSpPr/>
          <p:nvPr/>
        </p:nvSpPr>
        <p:spPr>
          <a:xfrm>
            <a:off x="8970263" y="1737360"/>
            <a:ext cx="2679192" cy="132588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970263" y="1737360"/>
            <a:ext cx="64008" cy="1325880"/>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153143" y="1883664"/>
            <a:ext cx="310896" cy="310896"/>
          </a:xfrm>
          <a:prstGeom prst="ellipse">
            <a:avLst/>
          </a:prstGeom>
          <a:solidFill>
            <a:srgbClr val="138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153143" y="1883664"/>
            <a:ext cx="310896" cy="310896"/>
          </a:xfrm>
          <a:prstGeom prst="rect">
            <a:avLst/>
          </a:prstGeom>
          <a:noFill/>
        </p:spPr>
        <p:txBody>
          <a:bodyPr wrap="square" anchor="ctr" lIns="54864" rIns="54864" tIns="27432" bIns="27432">
            <a:spAutoFit/>
          </a:bodyPr>
          <a:lstStyle/>
          <a:p>
            <a:pPr algn="ctr">
              <a:spcAft>
                <a:spcPts val="400"/>
              </a:spcAft>
            </a:pPr>
            <a:r>
              <a:rPr sz="1200" b="1">
                <a:solidFill>
                  <a:srgbClr val="FFFFFF"/>
                </a:solidFill>
                <a:latin typeface="Calibri"/>
              </a:rPr>
              <a:t>✓</a:t>
            </a:r>
          </a:p>
        </p:txBody>
      </p:sp>
      <p:sp>
        <p:nvSpPr>
          <p:cNvPr id="31" name="TextBox 30"/>
          <p:cNvSpPr txBox="1"/>
          <p:nvPr/>
        </p:nvSpPr>
        <p:spPr>
          <a:xfrm>
            <a:off x="9537191" y="1828800"/>
            <a:ext cx="2020824" cy="457200"/>
          </a:xfrm>
          <a:prstGeom prst="rect">
            <a:avLst/>
          </a:prstGeom>
          <a:noFill/>
        </p:spPr>
        <p:txBody>
          <a:bodyPr wrap="square" anchor="t" lIns="54864" rIns="54864" tIns="27432" bIns="27432">
            <a:spAutoFit/>
          </a:bodyPr>
          <a:lstStyle/>
          <a:p>
            <a:pPr algn="l">
              <a:spcAft>
                <a:spcPts val="400"/>
              </a:spcAft>
            </a:pPr>
            <a:r>
              <a:rPr sz="1600" b="1">
                <a:solidFill>
                  <a:srgbClr val="0B2545"/>
                </a:solidFill>
                <a:latin typeface="Calibri"/>
              </a:rPr>
              <a:t>Divider capacitance</a:t>
            </a:r>
          </a:p>
        </p:txBody>
      </p:sp>
      <p:sp>
        <p:nvSpPr>
          <p:cNvPr id="32" name="TextBox 31"/>
          <p:cNvSpPr txBox="1"/>
          <p:nvPr/>
        </p:nvSpPr>
        <p:spPr>
          <a:xfrm>
            <a:off x="9153143" y="2304288"/>
            <a:ext cx="2359152" cy="685800"/>
          </a:xfrm>
          <a:prstGeom prst="rect">
            <a:avLst/>
          </a:prstGeom>
          <a:noFill/>
        </p:spPr>
        <p:txBody>
          <a:bodyPr wrap="square" anchor="t" lIns="54864" rIns="54864" tIns="27432" bIns="27432">
            <a:spAutoFit/>
          </a:bodyPr>
          <a:lstStyle/>
          <a:p>
            <a:pPr algn="l">
              <a:spcAft>
                <a:spcPts val="400"/>
              </a:spcAft>
            </a:pPr>
            <a:r>
              <a:rPr sz="1400" b="0">
                <a:solidFill>
                  <a:srgbClr val="1F2A37"/>
                </a:solidFill>
                <a:latin typeface="Calibri"/>
              </a:rPr>
              <a:t>default 500 pF</a:t>
            </a:r>
          </a:p>
        </p:txBody>
      </p:sp>
      <p:sp>
        <p:nvSpPr>
          <p:cNvPr id="33" name="Rectangle 32"/>
          <p:cNvSpPr/>
          <p:nvPr/>
        </p:nvSpPr>
        <p:spPr>
          <a:xfrm>
            <a:off x="548640" y="3218688"/>
            <a:ext cx="2679192" cy="132588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3218688"/>
            <a:ext cx="64008" cy="1325880"/>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731520" y="3364992"/>
            <a:ext cx="310896" cy="310896"/>
          </a:xfrm>
          <a:prstGeom prst="ellipse">
            <a:avLst/>
          </a:prstGeom>
          <a:solidFill>
            <a:srgbClr val="138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3364992"/>
            <a:ext cx="310896" cy="310896"/>
          </a:xfrm>
          <a:prstGeom prst="rect">
            <a:avLst/>
          </a:prstGeom>
          <a:noFill/>
        </p:spPr>
        <p:txBody>
          <a:bodyPr wrap="square" anchor="ctr" lIns="54864" rIns="54864" tIns="27432" bIns="27432">
            <a:spAutoFit/>
          </a:bodyPr>
          <a:lstStyle/>
          <a:p>
            <a:pPr algn="ctr">
              <a:spcAft>
                <a:spcPts val="400"/>
              </a:spcAft>
            </a:pPr>
            <a:r>
              <a:rPr sz="1200" b="1">
                <a:solidFill>
                  <a:srgbClr val="FFFFFF"/>
                </a:solidFill>
                <a:latin typeface="Calibri"/>
              </a:rPr>
              <a:t>✓</a:t>
            </a:r>
          </a:p>
        </p:txBody>
      </p:sp>
      <p:sp>
        <p:nvSpPr>
          <p:cNvPr id="37" name="TextBox 36"/>
          <p:cNvSpPr txBox="1"/>
          <p:nvPr/>
        </p:nvSpPr>
        <p:spPr>
          <a:xfrm>
            <a:off x="1115568" y="3310128"/>
            <a:ext cx="2020824" cy="457200"/>
          </a:xfrm>
          <a:prstGeom prst="rect">
            <a:avLst/>
          </a:prstGeom>
          <a:noFill/>
        </p:spPr>
        <p:txBody>
          <a:bodyPr wrap="square" anchor="t" lIns="54864" rIns="54864" tIns="27432" bIns="27432">
            <a:spAutoFit/>
          </a:bodyPr>
          <a:lstStyle/>
          <a:p>
            <a:pPr algn="l">
              <a:spcAft>
                <a:spcPts val="400"/>
              </a:spcAft>
            </a:pPr>
            <a:r>
              <a:rPr sz="1600" b="1">
                <a:solidFill>
                  <a:srgbClr val="0B2545"/>
                </a:solidFill>
                <a:latin typeface="Calibri"/>
              </a:rPr>
              <a:t>Stray capacitance</a:t>
            </a:r>
          </a:p>
        </p:txBody>
      </p:sp>
      <p:sp>
        <p:nvSpPr>
          <p:cNvPr id="38" name="TextBox 37"/>
          <p:cNvSpPr txBox="1"/>
          <p:nvPr/>
        </p:nvSpPr>
        <p:spPr>
          <a:xfrm>
            <a:off x="731520" y="3785615"/>
            <a:ext cx="2359152" cy="685800"/>
          </a:xfrm>
          <a:prstGeom prst="rect">
            <a:avLst/>
          </a:prstGeom>
          <a:noFill/>
        </p:spPr>
        <p:txBody>
          <a:bodyPr wrap="square" anchor="t" lIns="54864" rIns="54864" tIns="27432" bIns="27432">
            <a:spAutoFit/>
          </a:bodyPr>
          <a:lstStyle/>
          <a:p>
            <a:pPr algn="l">
              <a:spcAft>
                <a:spcPts val="400"/>
              </a:spcAft>
            </a:pPr>
            <a:r>
              <a:rPr sz="1400" b="0">
                <a:solidFill>
                  <a:srgbClr val="1F2A37"/>
                </a:solidFill>
                <a:latin typeface="Calibri"/>
              </a:rPr>
              <a:t>default 150 pF</a:t>
            </a:r>
          </a:p>
        </p:txBody>
      </p:sp>
      <p:sp>
        <p:nvSpPr>
          <p:cNvPr id="39" name="Rectangle 38"/>
          <p:cNvSpPr/>
          <p:nvPr/>
        </p:nvSpPr>
        <p:spPr>
          <a:xfrm>
            <a:off x="3355848" y="3218688"/>
            <a:ext cx="2679192" cy="132588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3355848" y="3218688"/>
            <a:ext cx="64008" cy="1325880"/>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3538728" y="3364992"/>
            <a:ext cx="310896" cy="310896"/>
          </a:xfrm>
          <a:prstGeom prst="ellipse">
            <a:avLst/>
          </a:prstGeom>
          <a:solidFill>
            <a:srgbClr val="138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538728" y="3364992"/>
            <a:ext cx="310896" cy="310896"/>
          </a:xfrm>
          <a:prstGeom prst="rect">
            <a:avLst/>
          </a:prstGeom>
          <a:noFill/>
        </p:spPr>
        <p:txBody>
          <a:bodyPr wrap="square" anchor="ctr" lIns="54864" rIns="54864" tIns="27432" bIns="27432">
            <a:spAutoFit/>
          </a:bodyPr>
          <a:lstStyle/>
          <a:p>
            <a:pPr algn="ctr">
              <a:spcAft>
                <a:spcPts val="400"/>
              </a:spcAft>
            </a:pPr>
            <a:r>
              <a:rPr sz="1200" b="1">
                <a:solidFill>
                  <a:srgbClr val="FFFFFF"/>
                </a:solidFill>
                <a:latin typeface="Calibri"/>
              </a:rPr>
              <a:t>✓</a:t>
            </a:r>
          </a:p>
        </p:txBody>
      </p:sp>
      <p:sp>
        <p:nvSpPr>
          <p:cNvPr id="43" name="TextBox 42"/>
          <p:cNvSpPr txBox="1"/>
          <p:nvPr/>
        </p:nvSpPr>
        <p:spPr>
          <a:xfrm>
            <a:off x="3922776" y="3310128"/>
            <a:ext cx="2020824" cy="457200"/>
          </a:xfrm>
          <a:prstGeom prst="rect">
            <a:avLst/>
          </a:prstGeom>
          <a:noFill/>
        </p:spPr>
        <p:txBody>
          <a:bodyPr wrap="square" anchor="t" lIns="54864" rIns="54864" tIns="27432" bIns="27432">
            <a:spAutoFit/>
          </a:bodyPr>
          <a:lstStyle/>
          <a:p>
            <a:pPr algn="l">
              <a:spcAft>
                <a:spcPts val="400"/>
              </a:spcAft>
            </a:pPr>
            <a:r>
              <a:rPr sz="1600" b="1">
                <a:solidFill>
                  <a:srgbClr val="0B2545"/>
                </a:solidFill>
                <a:latin typeface="Calibri"/>
              </a:rPr>
              <a:t>Lead inductance</a:t>
            </a:r>
          </a:p>
        </p:txBody>
      </p:sp>
      <p:sp>
        <p:nvSpPr>
          <p:cNvPr id="44" name="TextBox 43"/>
          <p:cNvSpPr txBox="1"/>
          <p:nvPr/>
        </p:nvSpPr>
        <p:spPr>
          <a:xfrm>
            <a:off x="3538728" y="3785615"/>
            <a:ext cx="2359152" cy="685800"/>
          </a:xfrm>
          <a:prstGeom prst="rect">
            <a:avLst/>
          </a:prstGeom>
          <a:noFill/>
        </p:spPr>
        <p:txBody>
          <a:bodyPr wrap="square" anchor="t" lIns="54864" rIns="54864" tIns="27432" bIns="27432">
            <a:spAutoFit/>
          </a:bodyPr>
          <a:lstStyle/>
          <a:p>
            <a:pPr algn="l">
              <a:spcAft>
                <a:spcPts val="400"/>
              </a:spcAft>
            </a:pPr>
            <a:r>
              <a:rPr sz="1400" b="0">
                <a:solidFill>
                  <a:srgbClr val="1F2A37"/>
                </a:solidFill>
                <a:latin typeface="Calibri"/>
              </a:rPr>
              <a:t>1 to 120 µH</a:t>
            </a:r>
          </a:p>
        </p:txBody>
      </p:sp>
      <p:sp>
        <p:nvSpPr>
          <p:cNvPr id="45" name="Rectangle 44"/>
          <p:cNvSpPr/>
          <p:nvPr/>
        </p:nvSpPr>
        <p:spPr>
          <a:xfrm>
            <a:off x="6163055" y="3218688"/>
            <a:ext cx="2679192" cy="132588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6163055" y="3218688"/>
            <a:ext cx="64008" cy="1325880"/>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6345936" y="3364992"/>
            <a:ext cx="310896" cy="310896"/>
          </a:xfrm>
          <a:prstGeom prst="ellipse">
            <a:avLst/>
          </a:prstGeom>
          <a:solidFill>
            <a:srgbClr val="138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345936" y="3364992"/>
            <a:ext cx="310896" cy="310896"/>
          </a:xfrm>
          <a:prstGeom prst="rect">
            <a:avLst/>
          </a:prstGeom>
          <a:noFill/>
        </p:spPr>
        <p:txBody>
          <a:bodyPr wrap="square" anchor="ctr" lIns="54864" rIns="54864" tIns="27432" bIns="27432">
            <a:spAutoFit/>
          </a:bodyPr>
          <a:lstStyle/>
          <a:p>
            <a:pPr algn="ctr">
              <a:spcAft>
                <a:spcPts val="400"/>
              </a:spcAft>
            </a:pPr>
            <a:r>
              <a:rPr sz="1200" b="1">
                <a:solidFill>
                  <a:srgbClr val="FFFFFF"/>
                </a:solidFill>
                <a:latin typeface="Calibri"/>
              </a:rPr>
              <a:t>✓</a:t>
            </a:r>
          </a:p>
        </p:txBody>
      </p:sp>
      <p:sp>
        <p:nvSpPr>
          <p:cNvPr id="49" name="TextBox 48"/>
          <p:cNvSpPr txBox="1"/>
          <p:nvPr/>
        </p:nvSpPr>
        <p:spPr>
          <a:xfrm>
            <a:off x="6729983" y="3310128"/>
            <a:ext cx="2020824" cy="457200"/>
          </a:xfrm>
          <a:prstGeom prst="rect">
            <a:avLst/>
          </a:prstGeom>
          <a:noFill/>
        </p:spPr>
        <p:txBody>
          <a:bodyPr wrap="square" anchor="t" lIns="54864" rIns="54864" tIns="27432" bIns="27432">
            <a:spAutoFit/>
          </a:bodyPr>
          <a:lstStyle/>
          <a:p>
            <a:pPr algn="l">
              <a:spcAft>
                <a:spcPts val="400"/>
              </a:spcAft>
            </a:pPr>
            <a:r>
              <a:rPr sz="1600" b="1">
                <a:solidFill>
                  <a:srgbClr val="0B2545"/>
                </a:solidFill>
                <a:latin typeface="Calibri"/>
              </a:rPr>
              <a:t>Front resistor units</a:t>
            </a:r>
          </a:p>
        </p:txBody>
      </p:sp>
      <p:sp>
        <p:nvSpPr>
          <p:cNvPr id="50" name="TextBox 49"/>
          <p:cNvSpPr txBox="1"/>
          <p:nvPr/>
        </p:nvSpPr>
        <p:spPr>
          <a:xfrm>
            <a:off x="6345936" y="3785615"/>
            <a:ext cx="2359152" cy="685800"/>
          </a:xfrm>
          <a:prstGeom prst="rect">
            <a:avLst/>
          </a:prstGeom>
          <a:noFill/>
        </p:spPr>
        <p:txBody>
          <a:bodyPr wrap="square" anchor="t" lIns="54864" rIns="54864" tIns="27432" bIns="27432">
            <a:spAutoFit/>
          </a:bodyPr>
          <a:lstStyle/>
          <a:p>
            <a:pPr algn="l">
              <a:spcAft>
                <a:spcPts val="400"/>
              </a:spcAft>
            </a:pPr>
            <a:r>
              <a:rPr sz="1400" b="0">
                <a:solidFill>
                  <a:srgbClr val="1F2A37"/>
                </a:solidFill>
                <a:latin typeface="Calibri"/>
              </a:rPr>
              <a:t>tick what exists</a:t>
            </a:r>
          </a:p>
        </p:txBody>
      </p:sp>
      <p:sp>
        <p:nvSpPr>
          <p:cNvPr id="51" name="Rectangle 50"/>
          <p:cNvSpPr/>
          <p:nvPr/>
        </p:nvSpPr>
        <p:spPr>
          <a:xfrm>
            <a:off x="8970263" y="3218688"/>
            <a:ext cx="2679192" cy="132588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8970263" y="3218688"/>
            <a:ext cx="64008" cy="1325880"/>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9153143" y="3364992"/>
            <a:ext cx="310896" cy="310896"/>
          </a:xfrm>
          <a:prstGeom prst="ellipse">
            <a:avLst/>
          </a:prstGeom>
          <a:solidFill>
            <a:srgbClr val="138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153143" y="3364992"/>
            <a:ext cx="310896" cy="310896"/>
          </a:xfrm>
          <a:prstGeom prst="rect">
            <a:avLst/>
          </a:prstGeom>
          <a:noFill/>
        </p:spPr>
        <p:txBody>
          <a:bodyPr wrap="square" anchor="ctr" lIns="54864" rIns="54864" tIns="27432" bIns="27432">
            <a:spAutoFit/>
          </a:bodyPr>
          <a:lstStyle/>
          <a:p>
            <a:pPr algn="ctr">
              <a:spcAft>
                <a:spcPts val="400"/>
              </a:spcAft>
            </a:pPr>
            <a:r>
              <a:rPr sz="1200" b="1">
                <a:solidFill>
                  <a:srgbClr val="FFFFFF"/>
                </a:solidFill>
                <a:latin typeface="Calibri"/>
              </a:rPr>
              <a:t>✓</a:t>
            </a:r>
          </a:p>
        </p:txBody>
      </p:sp>
      <p:sp>
        <p:nvSpPr>
          <p:cNvPr id="55" name="TextBox 54"/>
          <p:cNvSpPr txBox="1"/>
          <p:nvPr/>
        </p:nvSpPr>
        <p:spPr>
          <a:xfrm>
            <a:off x="9537191" y="3310128"/>
            <a:ext cx="2020824" cy="457200"/>
          </a:xfrm>
          <a:prstGeom prst="rect">
            <a:avLst/>
          </a:prstGeom>
          <a:noFill/>
        </p:spPr>
        <p:txBody>
          <a:bodyPr wrap="square" anchor="t" lIns="54864" rIns="54864" tIns="27432" bIns="27432">
            <a:spAutoFit/>
          </a:bodyPr>
          <a:lstStyle/>
          <a:p>
            <a:pPr algn="l">
              <a:spcAft>
                <a:spcPts val="400"/>
              </a:spcAft>
            </a:pPr>
            <a:r>
              <a:rPr sz="1600" b="1">
                <a:solidFill>
                  <a:srgbClr val="0B2545"/>
                </a:solidFill>
                <a:latin typeface="Calibri"/>
              </a:rPr>
              <a:t>Tail resistor units</a:t>
            </a:r>
          </a:p>
        </p:txBody>
      </p:sp>
      <p:sp>
        <p:nvSpPr>
          <p:cNvPr id="56" name="TextBox 55"/>
          <p:cNvSpPr txBox="1"/>
          <p:nvPr/>
        </p:nvSpPr>
        <p:spPr>
          <a:xfrm>
            <a:off x="9153143" y="3785615"/>
            <a:ext cx="2359152" cy="685800"/>
          </a:xfrm>
          <a:prstGeom prst="rect">
            <a:avLst/>
          </a:prstGeom>
          <a:noFill/>
        </p:spPr>
        <p:txBody>
          <a:bodyPr wrap="square" anchor="t" lIns="54864" rIns="54864" tIns="27432" bIns="27432">
            <a:spAutoFit/>
          </a:bodyPr>
          <a:lstStyle/>
          <a:p>
            <a:pPr algn="l">
              <a:spcAft>
                <a:spcPts val="400"/>
              </a:spcAft>
            </a:pPr>
            <a:r>
              <a:rPr sz="1400" b="0">
                <a:solidFill>
                  <a:srgbClr val="1F2A37"/>
                </a:solidFill>
                <a:latin typeface="Calibri"/>
              </a:rPr>
              <a:t>520 Ω, 22 kΩ</a:t>
            </a:r>
          </a:p>
        </p:txBody>
      </p:sp>
      <p:sp>
        <p:nvSpPr>
          <p:cNvPr id="57" name="Rectangle 56"/>
          <p:cNvSpPr/>
          <p:nvPr/>
        </p:nvSpPr>
        <p:spPr>
          <a:xfrm>
            <a:off x="548640" y="4700016"/>
            <a:ext cx="2679192" cy="132588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548640" y="4700016"/>
            <a:ext cx="64008" cy="1325880"/>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731520" y="4846320"/>
            <a:ext cx="310896" cy="310896"/>
          </a:xfrm>
          <a:prstGeom prst="ellipse">
            <a:avLst/>
          </a:prstGeom>
          <a:solidFill>
            <a:srgbClr val="138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31520" y="4846320"/>
            <a:ext cx="310896" cy="310896"/>
          </a:xfrm>
          <a:prstGeom prst="rect">
            <a:avLst/>
          </a:prstGeom>
          <a:noFill/>
        </p:spPr>
        <p:txBody>
          <a:bodyPr wrap="square" anchor="ctr" lIns="54864" rIns="54864" tIns="27432" bIns="27432">
            <a:spAutoFit/>
          </a:bodyPr>
          <a:lstStyle/>
          <a:p>
            <a:pPr algn="ctr">
              <a:spcAft>
                <a:spcPts val="400"/>
              </a:spcAft>
            </a:pPr>
            <a:r>
              <a:rPr sz="1200" b="1">
                <a:solidFill>
                  <a:srgbClr val="FFFFFF"/>
                </a:solidFill>
                <a:latin typeface="Calibri"/>
              </a:rPr>
              <a:t>✓</a:t>
            </a:r>
          </a:p>
        </p:txBody>
      </p:sp>
      <p:sp>
        <p:nvSpPr>
          <p:cNvPr id="61" name="TextBox 60"/>
          <p:cNvSpPr txBox="1"/>
          <p:nvPr/>
        </p:nvSpPr>
        <p:spPr>
          <a:xfrm>
            <a:off x="1115568" y="4791456"/>
            <a:ext cx="2020824" cy="457200"/>
          </a:xfrm>
          <a:prstGeom prst="rect">
            <a:avLst/>
          </a:prstGeom>
          <a:noFill/>
        </p:spPr>
        <p:txBody>
          <a:bodyPr wrap="square" anchor="t" lIns="54864" rIns="54864" tIns="27432" bIns="27432">
            <a:spAutoFit/>
          </a:bodyPr>
          <a:lstStyle/>
          <a:p>
            <a:pPr algn="l">
              <a:spcAft>
                <a:spcPts val="400"/>
              </a:spcAft>
            </a:pPr>
            <a:r>
              <a:rPr sz="1600" b="1">
                <a:solidFill>
                  <a:srgbClr val="0B2545"/>
                </a:solidFill>
                <a:latin typeface="Calibri"/>
              </a:rPr>
              <a:t>Units per stage</a:t>
            </a:r>
          </a:p>
        </p:txBody>
      </p:sp>
      <p:sp>
        <p:nvSpPr>
          <p:cNvPr id="62" name="TextBox 61"/>
          <p:cNvSpPr txBox="1"/>
          <p:nvPr/>
        </p:nvSpPr>
        <p:spPr>
          <a:xfrm>
            <a:off x="731520" y="5266944"/>
            <a:ext cx="2359152" cy="685800"/>
          </a:xfrm>
          <a:prstGeom prst="rect">
            <a:avLst/>
          </a:prstGeom>
          <a:noFill/>
        </p:spPr>
        <p:txBody>
          <a:bodyPr wrap="square" anchor="t" lIns="54864" rIns="54864" tIns="27432" bIns="27432">
            <a:spAutoFit/>
          </a:bodyPr>
          <a:lstStyle/>
          <a:p>
            <a:pPr algn="l">
              <a:spcAft>
                <a:spcPts val="400"/>
              </a:spcAft>
            </a:pPr>
            <a:r>
              <a:rPr sz="1400" b="0">
                <a:solidFill>
                  <a:srgbClr val="1F2A37"/>
                </a:solidFill>
                <a:latin typeface="Calibri"/>
              </a:rPr>
              <a:t>1, 2 or 4</a:t>
            </a:r>
          </a:p>
        </p:txBody>
      </p:sp>
      <p:sp>
        <p:nvSpPr>
          <p:cNvPr id="63" name="Rectangle 62"/>
          <p:cNvSpPr/>
          <p:nvPr/>
        </p:nvSpPr>
        <p:spPr>
          <a:xfrm>
            <a:off x="3355848" y="4700016"/>
            <a:ext cx="2679192" cy="132588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3355848" y="4700016"/>
            <a:ext cx="64008" cy="1325880"/>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3538728" y="4846320"/>
            <a:ext cx="310896" cy="310896"/>
          </a:xfrm>
          <a:prstGeom prst="ellipse">
            <a:avLst/>
          </a:prstGeom>
          <a:solidFill>
            <a:srgbClr val="138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3538728" y="4846320"/>
            <a:ext cx="310896" cy="310896"/>
          </a:xfrm>
          <a:prstGeom prst="rect">
            <a:avLst/>
          </a:prstGeom>
          <a:noFill/>
        </p:spPr>
        <p:txBody>
          <a:bodyPr wrap="square" anchor="ctr" lIns="54864" rIns="54864" tIns="27432" bIns="27432">
            <a:spAutoFit/>
          </a:bodyPr>
          <a:lstStyle/>
          <a:p>
            <a:pPr algn="ctr">
              <a:spcAft>
                <a:spcPts val="400"/>
              </a:spcAft>
            </a:pPr>
            <a:r>
              <a:rPr sz="1200" b="1">
                <a:solidFill>
                  <a:srgbClr val="FFFFFF"/>
                </a:solidFill>
                <a:latin typeface="Calibri"/>
              </a:rPr>
              <a:t>✓</a:t>
            </a:r>
          </a:p>
        </p:txBody>
      </p:sp>
      <p:sp>
        <p:nvSpPr>
          <p:cNvPr id="67" name="TextBox 66"/>
          <p:cNvSpPr txBox="1"/>
          <p:nvPr/>
        </p:nvSpPr>
        <p:spPr>
          <a:xfrm>
            <a:off x="3922776" y="4791456"/>
            <a:ext cx="2020824" cy="457200"/>
          </a:xfrm>
          <a:prstGeom prst="rect">
            <a:avLst/>
          </a:prstGeom>
          <a:noFill/>
        </p:spPr>
        <p:txBody>
          <a:bodyPr wrap="square" anchor="t" lIns="54864" rIns="54864" tIns="27432" bIns="27432">
            <a:spAutoFit/>
          </a:bodyPr>
          <a:lstStyle/>
          <a:p>
            <a:pPr algn="l">
              <a:spcAft>
                <a:spcPts val="400"/>
              </a:spcAft>
            </a:pPr>
            <a:r>
              <a:rPr sz="1600" b="1">
                <a:solidFill>
                  <a:srgbClr val="0B2545"/>
                </a:solidFill>
                <a:latin typeface="Calibri"/>
              </a:rPr>
              <a:t>Polarity</a:t>
            </a:r>
          </a:p>
        </p:txBody>
      </p:sp>
      <p:sp>
        <p:nvSpPr>
          <p:cNvPr id="68" name="TextBox 67"/>
          <p:cNvSpPr txBox="1"/>
          <p:nvPr/>
        </p:nvSpPr>
        <p:spPr>
          <a:xfrm>
            <a:off x="3538728" y="5266944"/>
            <a:ext cx="2359152" cy="685800"/>
          </a:xfrm>
          <a:prstGeom prst="rect">
            <a:avLst/>
          </a:prstGeom>
          <a:noFill/>
        </p:spPr>
        <p:txBody>
          <a:bodyPr wrap="square" anchor="t" lIns="54864" rIns="54864" tIns="27432" bIns="27432">
            <a:spAutoFit/>
          </a:bodyPr>
          <a:lstStyle/>
          <a:p>
            <a:pPr algn="l">
              <a:spcAft>
                <a:spcPts val="400"/>
              </a:spcAft>
            </a:pPr>
            <a:r>
              <a:rPr sz="1400" b="0">
                <a:solidFill>
                  <a:srgbClr val="1F2A37"/>
                </a:solidFill>
                <a:latin typeface="Calibri"/>
              </a:rPr>
              <a:t>positive or negative</a:t>
            </a:r>
          </a:p>
        </p:txBody>
      </p:sp>
      <p:sp>
        <p:nvSpPr>
          <p:cNvPr id="69" name="Rectangle 68"/>
          <p:cNvSpPr/>
          <p:nvPr/>
        </p:nvSpPr>
        <p:spPr>
          <a:xfrm>
            <a:off x="6163055" y="4700016"/>
            <a:ext cx="2679192" cy="132588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6163055" y="4700016"/>
            <a:ext cx="64008" cy="1325880"/>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val 70"/>
          <p:cNvSpPr/>
          <p:nvPr/>
        </p:nvSpPr>
        <p:spPr>
          <a:xfrm>
            <a:off x="6345936" y="4846320"/>
            <a:ext cx="310896" cy="310896"/>
          </a:xfrm>
          <a:prstGeom prst="ellipse">
            <a:avLst/>
          </a:prstGeom>
          <a:solidFill>
            <a:srgbClr val="138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6345936" y="4846320"/>
            <a:ext cx="310896" cy="310896"/>
          </a:xfrm>
          <a:prstGeom prst="rect">
            <a:avLst/>
          </a:prstGeom>
          <a:noFill/>
        </p:spPr>
        <p:txBody>
          <a:bodyPr wrap="square" anchor="ctr" lIns="54864" rIns="54864" tIns="27432" bIns="27432">
            <a:spAutoFit/>
          </a:bodyPr>
          <a:lstStyle/>
          <a:p>
            <a:pPr algn="ctr">
              <a:spcAft>
                <a:spcPts val="400"/>
              </a:spcAft>
            </a:pPr>
            <a:r>
              <a:rPr sz="1200" b="1">
                <a:solidFill>
                  <a:srgbClr val="FFFFFF"/>
                </a:solidFill>
                <a:latin typeface="Calibri"/>
              </a:rPr>
              <a:t>✓</a:t>
            </a:r>
          </a:p>
        </p:txBody>
      </p:sp>
      <p:sp>
        <p:nvSpPr>
          <p:cNvPr id="73" name="TextBox 72"/>
          <p:cNvSpPr txBox="1"/>
          <p:nvPr/>
        </p:nvSpPr>
        <p:spPr>
          <a:xfrm>
            <a:off x="6729983" y="4791456"/>
            <a:ext cx="2020824" cy="457200"/>
          </a:xfrm>
          <a:prstGeom prst="rect">
            <a:avLst/>
          </a:prstGeom>
          <a:noFill/>
        </p:spPr>
        <p:txBody>
          <a:bodyPr wrap="square" anchor="t" lIns="54864" rIns="54864" tIns="27432" bIns="27432">
            <a:spAutoFit/>
          </a:bodyPr>
          <a:lstStyle/>
          <a:p>
            <a:pPr algn="l">
              <a:spcAft>
                <a:spcPts val="400"/>
              </a:spcAft>
            </a:pPr>
            <a:r>
              <a:rPr sz="1600" b="1">
                <a:solidFill>
                  <a:srgbClr val="0B2545"/>
                </a:solidFill>
                <a:latin typeface="Calibri"/>
              </a:rPr>
              <a:t>Site atmosphere</a:t>
            </a:r>
          </a:p>
        </p:txBody>
      </p:sp>
      <p:sp>
        <p:nvSpPr>
          <p:cNvPr id="74" name="TextBox 73"/>
          <p:cNvSpPr txBox="1"/>
          <p:nvPr/>
        </p:nvSpPr>
        <p:spPr>
          <a:xfrm>
            <a:off x="6345936" y="5266944"/>
            <a:ext cx="2359152" cy="685800"/>
          </a:xfrm>
          <a:prstGeom prst="rect">
            <a:avLst/>
          </a:prstGeom>
          <a:noFill/>
        </p:spPr>
        <p:txBody>
          <a:bodyPr wrap="square" anchor="t" lIns="54864" rIns="54864" tIns="27432" bIns="27432">
            <a:spAutoFit/>
          </a:bodyPr>
          <a:lstStyle/>
          <a:p>
            <a:pPr algn="l">
              <a:spcAft>
                <a:spcPts val="400"/>
              </a:spcAft>
            </a:pPr>
            <a:r>
              <a:rPr sz="1400" b="0">
                <a:solidFill>
                  <a:srgbClr val="1F2A37"/>
                </a:solidFill>
                <a:latin typeface="Calibri"/>
              </a:rPr>
              <a:t>temperature, humidity, altitude</a:t>
            </a:r>
          </a:p>
        </p:txBody>
      </p:sp>
      <p:sp>
        <p:nvSpPr>
          <p:cNvPr id="75" name="Rectangle 74"/>
          <p:cNvSpPr/>
          <p:nvPr/>
        </p:nvSpPr>
        <p:spPr>
          <a:xfrm>
            <a:off x="8970263" y="4700016"/>
            <a:ext cx="2679192" cy="132588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8970263" y="4700016"/>
            <a:ext cx="64008" cy="1325880"/>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9153143" y="4846320"/>
            <a:ext cx="310896" cy="310896"/>
          </a:xfrm>
          <a:prstGeom prst="ellipse">
            <a:avLst/>
          </a:prstGeom>
          <a:solidFill>
            <a:srgbClr val="138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9153143" y="4846320"/>
            <a:ext cx="310896" cy="310896"/>
          </a:xfrm>
          <a:prstGeom prst="rect">
            <a:avLst/>
          </a:prstGeom>
          <a:noFill/>
        </p:spPr>
        <p:txBody>
          <a:bodyPr wrap="square" anchor="ctr" lIns="54864" rIns="54864" tIns="27432" bIns="27432">
            <a:spAutoFit/>
          </a:bodyPr>
          <a:lstStyle/>
          <a:p>
            <a:pPr algn="ctr">
              <a:spcAft>
                <a:spcPts val="400"/>
              </a:spcAft>
            </a:pPr>
            <a:r>
              <a:rPr sz="1200" b="1">
                <a:solidFill>
                  <a:srgbClr val="FFFFFF"/>
                </a:solidFill>
                <a:latin typeface="Calibri"/>
              </a:rPr>
              <a:t>✓</a:t>
            </a:r>
          </a:p>
        </p:txBody>
      </p:sp>
      <p:sp>
        <p:nvSpPr>
          <p:cNvPr id="79" name="TextBox 78"/>
          <p:cNvSpPr txBox="1"/>
          <p:nvPr/>
        </p:nvSpPr>
        <p:spPr>
          <a:xfrm>
            <a:off x="9537191" y="4791456"/>
            <a:ext cx="2020824" cy="457200"/>
          </a:xfrm>
          <a:prstGeom prst="rect">
            <a:avLst/>
          </a:prstGeom>
          <a:noFill/>
        </p:spPr>
        <p:txBody>
          <a:bodyPr wrap="square" anchor="t" lIns="54864" rIns="54864" tIns="27432" bIns="27432">
            <a:spAutoFit/>
          </a:bodyPr>
          <a:lstStyle/>
          <a:p>
            <a:pPr algn="l">
              <a:spcAft>
                <a:spcPts val="400"/>
              </a:spcAft>
            </a:pPr>
            <a:r>
              <a:rPr sz="1600" b="1">
                <a:solidFill>
                  <a:srgbClr val="0B2545"/>
                </a:solidFill>
                <a:latin typeface="Calibri"/>
              </a:rPr>
              <a:t>Equipment and Um</a:t>
            </a:r>
          </a:p>
        </p:txBody>
      </p:sp>
      <p:sp>
        <p:nvSpPr>
          <p:cNvPr id="80" name="TextBox 79"/>
          <p:cNvSpPr txBox="1"/>
          <p:nvPr/>
        </p:nvSpPr>
        <p:spPr>
          <a:xfrm>
            <a:off x="9153143" y="5266944"/>
            <a:ext cx="2359152" cy="685800"/>
          </a:xfrm>
          <a:prstGeom prst="rect">
            <a:avLst/>
          </a:prstGeom>
          <a:noFill/>
        </p:spPr>
        <p:txBody>
          <a:bodyPr wrap="square" anchor="t" lIns="54864" rIns="54864" tIns="27432" bIns="27432">
            <a:spAutoFit/>
          </a:bodyPr>
          <a:lstStyle/>
          <a:p>
            <a:pPr algn="l">
              <a:spcAft>
                <a:spcPts val="400"/>
              </a:spcAft>
            </a:pPr>
            <a:r>
              <a:rPr sz="1400" b="0">
                <a:solidFill>
                  <a:srgbClr val="1F2A37"/>
                </a:solidFill>
                <a:latin typeface="Calibri"/>
              </a:rPr>
              <a:t>cross-checks the level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11155680" cy="731520"/>
          </a:xfrm>
          <a:prstGeom prst="rect">
            <a:avLst/>
          </a:prstGeom>
          <a:noFill/>
        </p:spPr>
        <p:txBody>
          <a:bodyPr wrap="square" anchor="ctr" lIns="54864" rIns="54864" tIns="27432" bIns="27432">
            <a:spAutoFit/>
          </a:bodyPr>
          <a:lstStyle/>
          <a:p>
            <a:pPr algn="l">
              <a:spcAft>
                <a:spcPts val="400"/>
              </a:spcAft>
            </a:pPr>
            <a:r>
              <a:rPr sz="2800" b="1">
                <a:solidFill>
                  <a:srgbClr val="FFFFFF"/>
                </a:solidFill>
                <a:latin typeface="Calibri"/>
              </a:rPr>
              <a:t>Outputs and compliance</a:t>
            </a:r>
          </a:p>
        </p:txBody>
      </p:sp>
      <p:sp>
        <p:nvSpPr>
          <p:cNvPr id="5" name="TextBox 4"/>
          <p:cNvSpPr txBox="1"/>
          <p:nvPr/>
        </p:nvSpPr>
        <p:spPr>
          <a:xfrm>
            <a:off x="548640" y="1143000"/>
            <a:ext cx="11155680" cy="457200"/>
          </a:xfrm>
          <a:prstGeom prst="rect">
            <a:avLst/>
          </a:prstGeom>
          <a:noFill/>
        </p:spPr>
        <p:txBody>
          <a:bodyPr wrap="square" anchor="t" lIns="54864" rIns="54864" tIns="27432" bIns="27432">
            <a:spAutoFit/>
          </a:bodyPr>
          <a:lstStyle/>
          <a:p>
            <a:pPr algn="l">
              <a:spcAft>
                <a:spcPts val="400"/>
              </a:spcAft>
            </a:pPr>
            <a:r>
              <a:rPr sz="1600" b="0">
                <a:solidFill>
                  <a:srgbClr val="5B6775"/>
                </a:solidFill>
                <a:latin typeface="Calibri"/>
              </a:rPr>
              <a:t>Every output on CPRI's list, with the evidence beside it</a:t>
            </a:r>
          </a:p>
        </p:txBody>
      </p:sp>
      <p:sp>
        <p:nvSpPr>
          <p:cNvPr id="6" name="Rectangle 5"/>
          <p:cNvSpPr/>
          <p:nvPr/>
        </p:nvSpPr>
        <p:spPr>
          <a:xfrm>
            <a:off x="548640" y="6400800"/>
            <a:ext cx="11091672" cy="9144"/>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28232"/>
            <a:ext cx="8229600" cy="274320"/>
          </a:xfrm>
          <a:prstGeom prst="rect">
            <a:avLst/>
          </a:prstGeom>
          <a:noFill/>
        </p:spPr>
        <p:txBody>
          <a:bodyPr wrap="square" anchor="t" lIns="54864" rIns="54864" tIns="27432" bIns="27432">
            <a:spAutoFit/>
          </a:bodyPr>
          <a:lstStyle/>
          <a:p>
            <a:pPr algn="l">
              <a:spcAft>
                <a:spcPts val="400"/>
              </a:spcAft>
            </a:pPr>
            <a:r>
              <a:rPr sz="1100" b="0">
                <a:solidFill>
                  <a:srgbClr val="5B6775"/>
                </a:solidFill>
                <a:latin typeface="Calibri"/>
              </a:rPr>
              <a:t>PowerNext-AI  ·  CPRI × MIT Bengaluru  ·  Track 1  ·  Impulse Generator Settings</a:t>
            </a:r>
          </a:p>
        </p:txBody>
      </p:sp>
      <p:sp>
        <p:nvSpPr>
          <p:cNvPr id="8" name="TextBox 7"/>
          <p:cNvSpPr txBox="1"/>
          <p:nvPr/>
        </p:nvSpPr>
        <p:spPr>
          <a:xfrm>
            <a:off x="9144000" y="6428232"/>
            <a:ext cx="2496312" cy="274320"/>
          </a:xfrm>
          <a:prstGeom prst="rect">
            <a:avLst/>
          </a:prstGeom>
          <a:noFill/>
        </p:spPr>
        <p:txBody>
          <a:bodyPr wrap="square" anchor="t" lIns="54864" rIns="54864" tIns="27432" bIns="27432">
            <a:spAutoFit/>
          </a:bodyPr>
          <a:lstStyle/>
          <a:p>
            <a:pPr algn="r">
              <a:spcAft>
                <a:spcPts val="400"/>
              </a:spcAft>
            </a:pPr>
            <a:r>
              <a:rPr sz="1100" b="0">
                <a:solidFill>
                  <a:srgbClr val="5B6775"/>
                </a:solidFill>
                <a:latin typeface="Calibri"/>
              </a:rPr>
              <a:t>Team Slayers   |   8</a:t>
            </a:r>
          </a:p>
        </p:txBody>
      </p:sp>
      <p:sp>
        <p:nvSpPr>
          <p:cNvPr id="9" name="Rectangle 8"/>
          <p:cNvSpPr/>
          <p:nvPr/>
        </p:nvSpPr>
        <p:spPr>
          <a:xfrm>
            <a:off x="548640" y="1783080"/>
            <a:ext cx="3593592" cy="128016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783080"/>
            <a:ext cx="64008" cy="1280160"/>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31520" y="1929384"/>
            <a:ext cx="310896" cy="310896"/>
          </a:xfrm>
          <a:prstGeom prst="ellipse">
            <a:avLst/>
          </a:prstGeom>
          <a:solidFill>
            <a:srgbClr val="138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1929384"/>
            <a:ext cx="310896" cy="310896"/>
          </a:xfrm>
          <a:prstGeom prst="rect">
            <a:avLst/>
          </a:prstGeom>
          <a:noFill/>
        </p:spPr>
        <p:txBody>
          <a:bodyPr wrap="square" anchor="ctr" lIns="54864" rIns="54864" tIns="27432" bIns="27432">
            <a:spAutoFit/>
          </a:bodyPr>
          <a:lstStyle/>
          <a:p>
            <a:pPr algn="ctr">
              <a:spcAft>
                <a:spcPts val="400"/>
              </a:spcAft>
            </a:pPr>
            <a:r>
              <a:rPr sz="1200" b="1">
                <a:solidFill>
                  <a:srgbClr val="FFFFFF"/>
                </a:solidFill>
                <a:latin typeface="Calibri"/>
              </a:rPr>
              <a:t>✓</a:t>
            </a:r>
          </a:p>
        </p:txBody>
      </p:sp>
      <p:sp>
        <p:nvSpPr>
          <p:cNvPr id="13" name="TextBox 12"/>
          <p:cNvSpPr txBox="1"/>
          <p:nvPr/>
        </p:nvSpPr>
        <p:spPr>
          <a:xfrm>
            <a:off x="1115568" y="1874519"/>
            <a:ext cx="2935224" cy="457200"/>
          </a:xfrm>
          <a:prstGeom prst="rect">
            <a:avLst/>
          </a:prstGeom>
          <a:noFill/>
        </p:spPr>
        <p:txBody>
          <a:bodyPr wrap="square" anchor="t" lIns="54864" rIns="54864" tIns="27432" bIns="27432">
            <a:spAutoFit/>
          </a:bodyPr>
          <a:lstStyle/>
          <a:p>
            <a:pPr algn="l">
              <a:spcAft>
                <a:spcPts val="400"/>
              </a:spcAft>
            </a:pPr>
            <a:r>
              <a:rPr sz="1700" b="1">
                <a:solidFill>
                  <a:srgbClr val="0B2545"/>
                </a:solidFill>
                <a:latin typeface="Calibri"/>
              </a:rPr>
              <a:t>Stages and charge</a:t>
            </a:r>
          </a:p>
        </p:txBody>
      </p:sp>
      <p:sp>
        <p:nvSpPr>
          <p:cNvPr id="14" name="TextBox 13"/>
          <p:cNvSpPr txBox="1"/>
          <p:nvPr/>
        </p:nvSpPr>
        <p:spPr>
          <a:xfrm>
            <a:off x="731520" y="2350008"/>
            <a:ext cx="3273552" cy="640080"/>
          </a:xfrm>
          <a:prstGeom prst="rect">
            <a:avLst/>
          </a:prstGeom>
          <a:noFill/>
        </p:spPr>
        <p:txBody>
          <a:bodyPr wrap="square" anchor="t" lIns="54864" rIns="54864" tIns="27432" bIns="27432">
            <a:spAutoFit/>
          </a:bodyPr>
          <a:lstStyle/>
          <a:p>
            <a:pPr algn="l">
              <a:spcAft>
                <a:spcPts val="400"/>
              </a:spcAft>
            </a:pPr>
            <a:r>
              <a:rPr sz="1400" b="0">
                <a:solidFill>
                  <a:srgbClr val="1F2A37"/>
                </a:solidFill>
                <a:latin typeface="Calibri"/>
              </a:rPr>
              <a:t>per stage and total</a:t>
            </a:r>
          </a:p>
        </p:txBody>
      </p:sp>
      <p:sp>
        <p:nvSpPr>
          <p:cNvPr id="15" name="Rectangle 14"/>
          <p:cNvSpPr/>
          <p:nvPr/>
        </p:nvSpPr>
        <p:spPr>
          <a:xfrm>
            <a:off x="4270248" y="1783080"/>
            <a:ext cx="3593592" cy="128016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270248" y="1783080"/>
            <a:ext cx="64008" cy="1280160"/>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453128" y="1929384"/>
            <a:ext cx="310896" cy="310896"/>
          </a:xfrm>
          <a:prstGeom prst="ellipse">
            <a:avLst/>
          </a:prstGeom>
          <a:solidFill>
            <a:srgbClr val="138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53128" y="1929384"/>
            <a:ext cx="310896" cy="310896"/>
          </a:xfrm>
          <a:prstGeom prst="rect">
            <a:avLst/>
          </a:prstGeom>
          <a:noFill/>
        </p:spPr>
        <p:txBody>
          <a:bodyPr wrap="square" anchor="ctr" lIns="54864" rIns="54864" tIns="27432" bIns="27432">
            <a:spAutoFit/>
          </a:bodyPr>
          <a:lstStyle/>
          <a:p>
            <a:pPr algn="ctr">
              <a:spcAft>
                <a:spcPts val="400"/>
              </a:spcAft>
            </a:pPr>
            <a:r>
              <a:rPr sz="1200" b="1">
                <a:solidFill>
                  <a:srgbClr val="FFFFFF"/>
                </a:solidFill>
                <a:latin typeface="Calibri"/>
              </a:rPr>
              <a:t>✓</a:t>
            </a:r>
          </a:p>
        </p:txBody>
      </p:sp>
      <p:sp>
        <p:nvSpPr>
          <p:cNvPr id="19" name="TextBox 18"/>
          <p:cNvSpPr txBox="1"/>
          <p:nvPr/>
        </p:nvSpPr>
        <p:spPr>
          <a:xfrm>
            <a:off x="4837176" y="1874519"/>
            <a:ext cx="2935224" cy="457200"/>
          </a:xfrm>
          <a:prstGeom prst="rect">
            <a:avLst/>
          </a:prstGeom>
          <a:noFill/>
        </p:spPr>
        <p:txBody>
          <a:bodyPr wrap="square" anchor="t" lIns="54864" rIns="54864" tIns="27432" bIns="27432">
            <a:spAutoFit/>
          </a:bodyPr>
          <a:lstStyle/>
          <a:p>
            <a:pPr algn="l">
              <a:spcAft>
                <a:spcPts val="400"/>
              </a:spcAft>
            </a:pPr>
            <a:r>
              <a:rPr sz="1700" b="1">
                <a:solidFill>
                  <a:srgbClr val="0B2545"/>
                </a:solidFill>
                <a:latin typeface="Calibri"/>
              </a:rPr>
              <a:t>Front and tail resistance</a:t>
            </a:r>
          </a:p>
        </p:txBody>
      </p:sp>
      <p:sp>
        <p:nvSpPr>
          <p:cNvPr id="20" name="TextBox 19"/>
          <p:cNvSpPr txBox="1"/>
          <p:nvPr/>
        </p:nvSpPr>
        <p:spPr>
          <a:xfrm>
            <a:off x="4453128" y="2350008"/>
            <a:ext cx="3273552" cy="640080"/>
          </a:xfrm>
          <a:prstGeom prst="rect">
            <a:avLst/>
          </a:prstGeom>
          <a:noFill/>
        </p:spPr>
        <p:txBody>
          <a:bodyPr wrap="square" anchor="t" lIns="54864" rIns="54864" tIns="27432" bIns="27432">
            <a:spAutoFit/>
          </a:bodyPr>
          <a:lstStyle/>
          <a:p>
            <a:pPr algn="l">
              <a:spcAft>
                <a:spcPts val="400"/>
              </a:spcAft>
            </a:pPr>
            <a:r>
              <a:rPr sz="1400" b="0">
                <a:solidFill>
                  <a:srgbClr val="1F2A37"/>
                </a:solidFill>
                <a:latin typeface="Calibri"/>
              </a:rPr>
              <a:t>with how to build each</a:t>
            </a:r>
          </a:p>
        </p:txBody>
      </p:sp>
      <p:sp>
        <p:nvSpPr>
          <p:cNvPr id="21" name="Rectangle 20"/>
          <p:cNvSpPr/>
          <p:nvPr/>
        </p:nvSpPr>
        <p:spPr>
          <a:xfrm>
            <a:off x="7991856" y="1783080"/>
            <a:ext cx="3593592" cy="128016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991856" y="1783080"/>
            <a:ext cx="64008" cy="1280160"/>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174736" y="1929384"/>
            <a:ext cx="310896" cy="310896"/>
          </a:xfrm>
          <a:prstGeom prst="ellipse">
            <a:avLst/>
          </a:prstGeom>
          <a:solidFill>
            <a:srgbClr val="138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174736" y="1929384"/>
            <a:ext cx="310896" cy="310896"/>
          </a:xfrm>
          <a:prstGeom prst="rect">
            <a:avLst/>
          </a:prstGeom>
          <a:noFill/>
        </p:spPr>
        <p:txBody>
          <a:bodyPr wrap="square" anchor="ctr" lIns="54864" rIns="54864" tIns="27432" bIns="27432">
            <a:spAutoFit/>
          </a:bodyPr>
          <a:lstStyle/>
          <a:p>
            <a:pPr algn="ctr">
              <a:spcAft>
                <a:spcPts val="400"/>
              </a:spcAft>
            </a:pPr>
            <a:r>
              <a:rPr sz="1200" b="1">
                <a:solidFill>
                  <a:srgbClr val="FFFFFF"/>
                </a:solidFill>
                <a:latin typeface="Calibri"/>
              </a:rPr>
              <a:t>✓</a:t>
            </a:r>
          </a:p>
        </p:txBody>
      </p:sp>
      <p:sp>
        <p:nvSpPr>
          <p:cNvPr id="25" name="TextBox 24"/>
          <p:cNvSpPr txBox="1"/>
          <p:nvPr/>
        </p:nvSpPr>
        <p:spPr>
          <a:xfrm>
            <a:off x="8558784" y="1874519"/>
            <a:ext cx="2935224" cy="457200"/>
          </a:xfrm>
          <a:prstGeom prst="rect">
            <a:avLst/>
          </a:prstGeom>
          <a:noFill/>
        </p:spPr>
        <p:txBody>
          <a:bodyPr wrap="square" anchor="t" lIns="54864" rIns="54864" tIns="27432" bIns="27432">
            <a:spAutoFit/>
          </a:bodyPr>
          <a:lstStyle/>
          <a:p>
            <a:pPr algn="l">
              <a:spcAft>
                <a:spcPts val="400"/>
              </a:spcAft>
            </a:pPr>
            <a:r>
              <a:rPr sz="1700" b="1">
                <a:solidFill>
                  <a:srgbClr val="0B2545"/>
                </a:solidFill>
                <a:latin typeface="Calibri"/>
              </a:rPr>
              <a:t>Front, peak, tail time</a:t>
            </a:r>
          </a:p>
        </p:txBody>
      </p:sp>
      <p:sp>
        <p:nvSpPr>
          <p:cNvPr id="26" name="TextBox 25"/>
          <p:cNvSpPr txBox="1"/>
          <p:nvPr/>
        </p:nvSpPr>
        <p:spPr>
          <a:xfrm>
            <a:off x="8174736" y="2350008"/>
            <a:ext cx="3273552" cy="640080"/>
          </a:xfrm>
          <a:prstGeom prst="rect">
            <a:avLst/>
          </a:prstGeom>
          <a:noFill/>
        </p:spPr>
        <p:txBody>
          <a:bodyPr wrap="square" anchor="t" lIns="54864" rIns="54864" tIns="27432" bIns="27432">
            <a:spAutoFit/>
          </a:bodyPr>
          <a:lstStyle/>
          <a:p>
            <a:pPr algn="l">
              <a:spcAft>
                <a:spcPts val="400"/>
              </a:spcAft>
            </a:pPr>
            <a:r>
              <a:rPr sz="1400" b="0">
                <a:solidFill>
                  <a:srgbClr val="1F2A37"/>
                </a:solidFill>
                <a:latin typeface="Calibri"/>
              </a:rPr>
              <a:t>predicted against target</a:t>
            </a:r>
          </a:p>
        </p:txBody>
      </p:sp>
      <p:sp>
        <p:nvSpPr>
          <p:cNvPr id="27" name="Rectangle 26"/>
          <p:cNvSpPr/>
          <p:nvPr/>
        </p:nvSpPr>
        <p:spPr>
          <a:xfrm>
            <a:off x="548640" y="3246120"/>
            <a:ext cx="3593592" cy="128016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48640" y="3246120"/>
            <a:ext cx="64008" cy="1280160"/>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31520" y="3392424"/>
            <a:ext cx="310896" cy="310896"/>
          </a:xfrm>
          <a:prstGeom prst="ellipse">
            <a:avLst/>
          </a:prstGeom>
          <a:solidFill>
            <a:srgbClr val="138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3392424"/>
            <a:ext cx="310896" cy="310896"/>
          </a:xfrm>
          <a:prstGeom prst="rect">
            <a:avLst/>
          </a:prstGeom>
          <a:noFill/>
        </p:spPr>
        <p:txBody>
          <a:bodyPr wrap="square" anchor="ctr" lIns="54864" rIns="54864" tIns="27432" bIns="27432">
            <a:spAutoFit/>
          </a:bodyPr>
          <a:lstStyle/>
          <a:p>
            <a:pPr algn="ctr">
              <a:spcAft>
                <a:spcPts val="400"/>
              </a:spcAft>
            </a:pPr>
            <a:r>
              <a:rPr sz="1200" b="1">
                <a:solidFill>
                  <a:srgbClr val="FFFFFF"/>
                </a:solidFill>
                <a:latin typeface="Calibri"/>
              </a:rPr>
              <a:t>✓</a:t>
            </a:r>
          </a:p>
        </p:txBody>
      </p:sp>
      <p:sp>
        <p:nvSpPr>
          <p:cNvPr id="31" name="TextBox 30"/>
          <p:cNvSpPr txBox="1"/>
          <p:nvPr/>
        </p:nvSpPr>
        <p:spPr>
          <a:xfrm>
            <a:off x="1115568" y="3337560"/>
            <a:ext cx="2935224" cy="457200"/>
          </a:xfrm>
          <a:prstGeom prst="rect">
            <a:avLst/>
          </a:prstGeom>
          <a:noFill/>
        </p:spPr>
        <p:txBody>
          <a:bodyPr wrap="square" anchor="t" lIns="54864" rIns="54864" tIns="27432" bIns="27432">
            <a:spAutoFit/>
          </a:bodyPr>
          <a:lstStyle/>
          <a:p>
            <a:pPr algn="l">
              <a:spcAft>
                <a:spcPts val="400"/>
              </a:spcAft>
            </a:pPr>
            <a:r>
              <a:rPr sz="1700" b="1">
                <a:solidFill>
                  <a:srgbClr val="0B2545"/>
                </a:solidFill>
                <a:latin typeface="Calibri"/>
              </a:rPr>
              <a:t>Crest voltage</a:t>
            </a:r>
          </a:p>
        </p:txBody>
      </p:sp>
      <p:sp>
        <p:nvSpPr>
          <p:cNvPr id="32" name="TextBox 31"/>
          <p:cNvSpPr txBox="1"/>
          <p:nvPr/>
        </p:nvSpPr>
        <p:spPr>
          <a:xfrm>
            <a:off x="731520" y="3813048"/>
            <a:ext cx="3273552" cy="640080"/>
          </a:xfrm>
          <a:prstGeom prst="rect">
            <a:avLst/>
          </a:prstGeom>
          <a:noFill/>
        </p:spPr>
        <p:txBody>
          <a:bodyPr wrap="square" anchor="t" lIns="54864" rIns="54864" tIns="27432" bIns="27432">
            <a:spAutoFit/>
          </a:bodyPr>
          <a:lstStyle/>
          <a:p>
            <a:pPr algn="l">
              <a:spcAft>
                <a:spcPts val="400"/>
              </a:spcAft>
            </a:pPr>
            <a:r>
              <a:rPr sz="1400" b="0">
                <a:solidFill>
                  <a:srgbClr val="1F2A37"/>
                </a:solidFill>
                <a:latin typeface="Calibri"/>
              </a:rPr>
              <a:t>predicted, with % deviation</a:t>
            </a:r>
          </a:p>
        </p:txBody>
      </p:sp>
      <p:sp>
        <p:nvSpPr>
          <p:cNvPr id="33" name="Rectangle 32"/>
          <p:cNvSpPr/>
          <p:nvPr/>
        </p:nvSpPr>
        <p:spPr>
          <a:xfrm>
            <a:off x="4270248" y="3246120"/>
            <a:ext cx="3593592" cy="128016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270248" y="3246120"/>
            <a:ext cx="64008" cy="1280160"/>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4453128" y="3392424"/>
            <a:ext cx="310896" cy="310896"/>
          </a:xfrm>
          <a:prstGeom prst="ellipse">
            <a:avLst/>
          </a:prstGeom>
          <a:solidFill>
            <a:srgbClr val="138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453128" y="3392424"/>
            <a:ext cx="310896" cy="310896"/>
          </a:xfrm>
          <a:prstGeom prst="rect">
            <a:avLst/>
          </a:prstGeom>
          <a:noFill/>
        </p:spPr>
        <p:txBody>
          <a:bodyPr wrap="square" anchor="ctr" lIns="54864" rIns="54864" tIns="27432" bIns="27432">
            <a:spAutoFit/>
          </a:bodyPr>
          <a:lstStyle/>
          <a:p>
            <a:pPr algn="ctr">
              <a:spcAft>
                <a:spcPts val="400"/>
              </a:spcAft>
            </a:pPr>
            <a:r>
              <a:rPr sz="1200" b="1">
                <a:solidFill>
                  <a:srgbClr val="FFFFFF"/>
                </a:solidFill>
                <a:latin typeface="Calibri"/>
              </a:rPr>
              <a:t>✓</a:t>
            </a:r>
          </a:p>
        </p:txBody>
      </p:sp>
      <p:sp>
        <p:nvSpPr>
          <p:cNvPr id="37" name="TextBox 36"/>
          <p:cNvSpPr txBox="1"/>
          <p:nvPr/>
        </p:nvSpPr>
        <p:spPr>
          <a:xfrm>
            <a:off x="4837176" y="3337560"/>
            <a:ext cx="2935224" cy="457200"/>
          </a:xfrm>
          <a:prstGeom prst="rect">
            <a:avLst/>
          </a:prstGeom>
          <a:noFill/>
        </p:spPr>
        <p:txBody>
          <a:bodyPr wrap="square" anchor="t" lIns="54864" rIns="54864" tIns="27432" bIns="27432">
            <a:spAutoFit/>
          </a:bodyPr>
          <a:lstStyle/>
          <a:p>
            <a:pPr algn="l">
              <a:spcAft>
                <a:spcPts val="400"/>
              </a:spcAft>
            </a:pPr>
            <a:r>
              <a:rPr sz="1700" b="1">
                <a:solidFill>
                  <a:srgbClr val="0B2545"/>
                </a:solidFill>
                <a:latin typeface="Calibri"/>
              </a:rPr>
              <a:t>Within or outside limit</a:t>
            </a:r>
          </a:p>
        </p:txBody>
      </p:sp>
      <p:sp>
        <p:nvSpPr>
          <p:cNvPr id="38" name="TextBox 37"/>
          <p:cNvSpPr txBox="1"/>
          <p:nvPr/>
        </p:nvSpPr>
        <p:spPr>
          <a:xfrm>
            <a:off x="4453128" y="3813048"/>
            <a:ext cx="3273552" cy="640080"/>
          </a:xfrm>
          <a:prstGeom prst="rect">
            <a:avLst/>
          </a:prstGeom>
          <a:noFill/>
        </p:spPr>
        <p:txBody>
          <a:bodyPr wrap="square" anchor="t" lIns="54864" rIns="54864" tIns="27432" bIns="27432">
            <a:spAutoFit/>
          </a:bodyPr>
          <a:lstStyle/>
          <a:p>
            <a:pPr algn="l">
              <a:spcAft>
                <a:spcPts val="400"/>
              </a:spcAft>
            </a:pPr>
            <a:r>
              <a:rPr sz="1400" b="0">
                <a:solidFill>
                  <a:srgbClr val="1F2A37"/>
                </a:solidFill>
                <a:latin typeface="Calibri"/>
              </a:rPr>
              <a:t>tolerance margin and pill</a:t>
            </a:r>
          </a:p>
        </p:txBody>
      </p:sp>
      <p:sp>
        <p:nvSpPr>
          <p:cNvPr id="39" name="Rectangle 38"/>
          <p:cNvSpPr/>
          <p:nvPr/>
        </p:nvSpPr>
        <p:spPr>
          <a:xfrm>
            <a:off x="7991856" y="3246120"/>
            <a:ext cx="3593592" cy="128016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991856" y="3246120"/>
            <a:ext cx="64008" cy="1280160"/>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8174736" y="3392424"/>
            <a:ext cx="310896" cy="310896"/>
          </a:xfrm>
          <a:prstGeom prst="ellipse">
            <a:avLst/>
          </a:prstGeom>
          <a:solidFill>
            <a:srgbClr val="138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174736" y="3392424"/>
            <a:ext cx="310896" cy="310896"/>
          </a:xfrm>
          <a:prstGeom prst="rect">
            <a:avLst/>
          </a:prstGeom>
          <a:noFill/>
        </p:spPr>
        <p:txBody>
          <a:bodyPr wrap="square" anchor="ctr" lIns="54864" rIns="54864" tIns="27432" bIns="27432">
            <a:spAutoFit/>
          </a:bodyPr>
          <a:lstStyle/>
          <a:p>
            <a:pPr algn="ctr">
              <a:spcAft>
                <a:spcPts val="400"/>
              </a:spcAft>
            </a:pPr>
            <a:r>
              <a:rPr sz="1200" b="1">
                <a:solidFill>
                  <a:srgbClr val="FFFFFF"/>
                </a:solidFill>
                <a:latin typeface="Calibri"/>
              </a:rPr>
              <a:t>✓</a:t>
            </a:r>
          </a:p>
        </p:txBody>
      </p:sp>
      <p:sp>
        <p:nvSpPr>
          <p:cNvPr id="43" name="TextBox 42"/>
          <p:cNvSpPr txBox="1"/>
          <p:nvPr/>
        </p:nvSpPr>
        <p:spPr>
          <a:xfrm>
            <a:off x="8558784" y="3337560"/>
            <a:ext cx="2935224" cy="457200"/>
          </a:xfrm>
          <a:prstGeom prst="rect">
            <a:avLst/>
          </a:prstGeom>
          <a:noFill/>
        </p:spPr>
        <p:txBody>
          <a:bodyPr wrap="square" anchor="t" lIns="54864" rIns="54864" tIns="27432" bIns="27432">
            <a:spAutoFit/>
          </a:bodyPr>
          <a:lstStyle/>
          <a:p>
            <a:pPr algn="l">
              <a:spcAft>
                <a:spcPts val="400"/>
              </a:spcAft>
            </a:pPr>
            <a:r>
              <a:rPr sz="1700" b="1">
                <a:solidFill>
                  <a:srgbClr val="0B2545"/>
                </a:solidFill>
                <a:latin typeface="Calibri"/>
              </a:rPr>
              <a:t>Ranked alternatives</a:t>
            </a:r>
          </a:p>
        </p:txBody>
      </p:sp>
      <p:sp>
        <p:nvSpPr>
          <p:cNvPr id="44" name="TextBox 43"/>
          <p:cNvSpPr txBox="1"/>
          <p:nvPr/>
        </p:nvSpPr>
        <p:spPr>
          <a:xfrm>
            <a:off x="8174736" y="3813048"/>
            <a:ext cx="3273552" cy="640080"/>
          </a:xfrm>
          <a:prstGeom prst="rect">
            <a:avLst/>
          </a:prstGeom>
          <a:noFill/>
        </p:spPr>
        <p:txBody>
          <a:bodyPr wrap="square" anchor="t" lIns="54864" rIns="54864" tIns="27432" bIns="27432">
            <a:spAutoFit/>
          </a:bodyPr>
          <a:lstStyle/>
          <a:p>
            <a:pPr algn="l">
              <a:spcAft>
                <a:spcPts val="400"/>
              </a:spcAft>
            </a:pPr>
            <a:r>
              <a:rPr sz="1400" b="0">
                <a:solidFill>
                  <a:srgbClr val="1F2A37"/>
                </a:solidFill>
                <a:latin typeface="Calibri"/>
              </a:rPr>
              <a:t>recommended plus two</a:t>
            </a:r>
          </a:p>
        </p:txBody>
      </p:sp>
      <p:sp>
        <p:nvSpPr>
          <p:cNvPr id="45" name="Rectangle 44"/>
          <p:cNvSpPr/>
          <p:nvPr/>
        </p:nvSpPr>
        <p:spPr>
          <a:xfrm>
            <a:off x="548640" y="4709160"/>
            <a:ext cx="3593592" cy="128016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548640" y="4709160"/>
            <a:ext cx="64008" cy="1280160"/>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731520" y="4855464"/>
            <a:ext cx="310896" cy="310896"/>
          </a:xfrm>
          <a:prstGeom prst="ellipse">
            <a:avLst/>
          </a:prstGeom>
          <a:solidFill>
            <a:srgbClr val="138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31520" y="4855464"/>
            <a:ext cx="310896" cy="310896"/>
          </a:xfrm>
          <a:prstGeom prst="rect">
            <a:avLst/>
          </a:prstGeom>
          <a:noFill/>
        </p:spPr>
        <p:txBody>
          <a:bodyPr wrap="square" anchor="ctr" lIns="54864" rIns="54864" tIns="27432" bIns="27432">
            <a:spAutoFit/>
          </a:bodyPr>
          <a:lstStyle/>
          <a:p>
            <a:pPr algn="ctr">
              <a:spcAft>
                <a:spcPts val="400"/>
              </a:spcAft>
            </a:pPr>
            <a:r>
              <a:rPr sz="1200" b="1">
                <a:solidFill>
                  <a:srgbClr val="FFFFFF"/>
                </a:solidFill>
                <a:latin typeface="Calibri"/>
              </a:rPr>
              <a:t>✓</a:t>
            </a:r>
          </a:p>
        </p:txBody>
      </p:sp>
      <p:sp>
        <p:nvSpPr>
          <p:cNvPr id="49" name="TextBox 48"/>
          <p:cNvSpPr txBox="1"/>
          <p:nvPr/>
        </p:nvSpPr>
        <p:spPr>
          <a:xfrm>
            <a:off x="1115568" y="4800600"/>
            <a:ext cx="2935224" cy="457200"/>
          </a:xfrm>
          <a:prstGeom prst="rect">
            <a:avLst/>
          </a:prstGeom>
          <a:noFill/>
        </p:spPr>
        <p:txBody>
          <a:bodyPr wrap="square" anchor="t" lIns="54864" rIns="54864" tIns="27432" bIns="27432">
            <a:spAutoFit/>
          </a:bodyPr>
          <a:lstStyle/>
          <a:p>
            <a:pPr algn="l">
              <a:spcAft>
                <a:spcPts val="400"/>
              </a:spcAft>
            </a:pPr>
            <a:r>
              <a:rPr sz="1700" b="1">
                <a:solidFill>
                  <a:srgbClr val="0B2545"/>
                </a:solidFill>
                <a:latin typeface="Calibri"/>
              </a:rPr>
              <a:t>Target vs predicted</a:t>
            </a:r>
          </a:p>
        </p:txBody>
      </p:sp>
      <p:sp>
        <p:nvSpPr>
          <p:cNvPr id="50" name="TextBox 49"/>
          <p:cNvSpPr txBox="1"/>
          <p:nvPr/>
        </p:nvSpPr>
        <p:spPr>
          <a:xfrm>
            <a:off x="731520" y="5276088"/>
            <a:ext cx="3273552" cy="640080"/>
          </a:xfrm>
          <a:prstGeom prst="rect">
            <a:avLst/>
          </a:prstGeom>
          <a:noFill/>
        </p:spPr>
        <p:txBody>
          <a:bodyPr wrap="square" anchor="t" lIns="54864" rIns="54864" tIns="27432" bIns="27432">
            <a:spAutoFit/>
          </a:bodyPr>
          <a:lstStyle/>
          <a:p>
            <a:pPr algn="l">
              <a:spcAft>
                <a:spcPts val="400"/>
              </a:spcAft>
            </a:pPr>
            <a:r>
              <a:rPr sz="1400" b="0">
                <a:solidFill>
                  <a:srgbClr val="1F2A37"/>
                </a:solidFill>
                <a:latin typeface="Calibri"/>
              </a:rPr>
              <a:t>waveform plot per option</a:t>
            </a:r>
          </a:p>
        </p:txBody>
      </p:sp>
      <p:sp>
        <p:nvSpPr>
          <p:cNvPr id="51" name="Rectangle 50"/>
          <p:cNvSpPr/>
          <p:nvPr/>
        </p:nvSpPr>
        <p:spPr>
          <a:xfrm>
            <a:off x="4270248" y="4709160"/>
            <a:ext cx="3593592" cy="128016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4270248" y="4709160"/>
            <a:ext cx="64008" cy="1280160"/>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4453128" y="4855464"/>
            <a:ext cx="310896" cy="310896"/>
          </a:xfrm>
          <a:prstGeom prst="ellipse">
            <a:avLst/>
          </a:prstGeom>
          <a:solidFill>
            <a:srgbClr val="138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453128" y="4855464"/>
            <a:ext cx="310896" cy="310896"/>
          </a:xfrm>
          <a:prstGeom prst="rect">
            <a:avLst/>
          </a:prstGeom>
          <a:noFill/>
        </p:spPr>
        <p:txBody>
          <a:bodyPr wrap="square" anchor="ctr" lIns="54864" rIns="54864" tIns="27432" bIns="27432">
            <a:spAutoFit/>
          </a:bodyPr>
          <a:lstStyle/>
          <a:p>
            <a:pPr algn="ctr">
              <a:spcAft>
                <a:spcPts val="400"/>
              </a:spcAft>
            </a:pPr>
            <a:r>
              <a:rPr sz="1200" b="1">
                <a:solidFill>
                  <a:srgbClr val="FFFFFF"/>
                </a:solidFill>
                <a:latin typeface="Calibri"/>
              </a:rPr>
              <a:t>✓</a:t>
            </a:r>
          </a:p>
        </p:txBody>
      </p:sp>
      <p:sp>
        <p:nvSpPr>
          <p:cNvPr id="55" name="TextBox 54"/>
          <p:cNvSpPr txBox="1"/>
          <p:nvPr/>
        </p:nvSpPr>
        <p:spPr>
          <a:xfrm>
            <a:off x="4837176" y="4800600"/>
            <a:ext cx="2935224" cy="457200"/>
          </a:xfrm>
          <a:prstGeom prst="rect">
            <a:avLst/>
          </a:prstGeom>
          <a:noFill/>
        </p:spPr>
        <p:txBody>
          <a:bodyPr wrap="square" anchor="t" lIns="54864" rIns="54864" tIns="27432" bIns="27432">
            <a:spAutoFit/>
          </a:bodyPr>
          <a:lstStyle/>
          <a:p>
            <a:pPr algn="l">
              <a:spcAft>
                <a:spcPts val="400"/>
              </a:spcAft>
            </a:pPr>
            <a:r>
              <a:rPr sz="1700" b="1">
                <a:solidFill>
                  <a:srgbClr val="0B2545"/>
                </a:solidFill>
                <a:latin typeface="Calibri"/>
              </a:rPr>
              <a:t>Decision summary</a:t>
            </a:r>
          </a:p>
        </p:txBody>
      </p:sp>
      <p:sp>
        <p:nvSpPr>
          <p:cNvPr id="56" name="TextBox 55"/>
          <p:cNvSpPr txBox="1"/>
          <p:nvPr/>
        </p:nvSpPr>
        <p:spPr>
          <a:xfrm>
            <a:off x="4453128" y="5276088"/>
            <a:ext cx="3273552" cy="640080"/>
          </a:xfrm>
          <a:prstGeom prst="rect">
            <a:avLst/>
          </a:prstGeom>
          <a:noFill/>
        </p:spPr>
        <p:txBody>
          <a:bodyPr wrap="square" anchor="t" lIns="54864" rIns="54864" tIns="27432" bIns="27432">
            <a:spAutoFit/>
          </a:bodyPr>
          <a:lstStyle/>
          <a:p>
            <a:pPr algn="l">
              <a:spcAft>
                <a:spcPts val="400"/>
              </a:spcAft>
            </a:pPr>
            <a:r>
              <a:rPr sz="1400" b="0">
                <a:solidFill>
                  <a:srgbClr val="1F2A37"/>
                </a:solidFill>
                <a:latin typeface="Calibri"/>
              </a:rPr>
              <a:t>one card per request</a:t>
            </a:r>
          </a:p>
        </p:txBody>
      </p:sp>
      <p:sp>
        <p:nvSpPr>
          <p:cNvPr id="57" name="Rectangle 56"/>
          <p:cNvSpPr/>
          <p:nvPr/>
        </p:nvSpPr>
        <p:spPr>
          <a:xfrm>
            <a:off x="7991856" y="4709160"/>
            <a:ext cx="3593592" cy="128016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7991856" y="4709160"/>
            <a:ext cx="64008" cy="1280160"/>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8174736" y="4855464"/>
            <a:ext cx="310896" cy="310896"/>
          </a:xfrm>
          <a:prstGeom prst="ellipse">
            <a:avLst/>
          </a:prstGeom>
          <a:solidFill>
            <a:srgbClr val="138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174736" y="4855464"/>
            <a:ext cx="310896" cy="310896"/>
          </a:xfrm>
          <a:prstGeom prst="rect">
            <a:avLst/>
          </a:prstGeom>
          <a:noFill/>
        </p:spPr>
        <p:txBody>
          <a:bodyPr wrap="square" anchor="ctr" lIns="54864" rIns="54864" tIns="27432" bIns="27432">
            <a:spAutoFit/>
          </a:bodyPr>
          <a:lstStyle/>
          <a:p>
            <a:pPr algn="ctr">
              <a:spcAft>
                <a:spcPts val="400"/>
              </a:spcAft>
            </a:pPr>
            <a:r>
              <a:rPr sz="1200" b="1">
                <a:solidFill>
                  <a:srgbClr val="FFFFFF"/>
                </a:solidFill>
                <a:latin typeface="Calibri"/>
              </a:rPr>
              <a:t>✓</a:t>
            </a:r>
          </a:p>
        </p:txBody>
      </p:sp>
      <p:sp>
        <p:nvSpPr>
          <p:cNvPr id="61" name="TextBox 60"/>
          <p:cNvSpPr txBox="1"/>
          <p:nvPr/>
        </p:nvSpPr>
        <p:spPr>
          <a:xfrm>
            <a:off x="8558784" y="4800600"/>
            <a:ext cx="2935224" cy="457200"/>
          </a:xfrm>
          <a:prstGeom prst="rect">
            <a:avLst/>
          </a:prstGeom>
          <a:noFill/>
        </p:spPr>
        <p:txBody>
          <a:bodyPr wrap="square" anchor="t" lIns="54864" rIns="54864" tIns="27432" bIns="27432">
            <a:spAutoFit/>
          </a:bodyPr>
          <a:lstStyle/>
          <a:p>
            <a:pPr algn="l">
              <a:spcAft>
                <a:spcPts val="400"/>
              </a:spcAft>
            </a:pPr>
            <a:r>
              <a:rPr sz="1700" b="1">
                <a:solidFill>
                  <a:srgbClr val="0B2545"/>
                </a:solidFill>
                <a:latin typeface="Calibri"/>
              </a:rPr>
              <a:t>Hardware check</a:t>
            </a:r>
          </a:p>
        </p:txBody>
      </p:sp>
      <p:sp>
        <p:nvSpPr>
          <p:cNvPr id="62" name="TextBox 61"/>
          <p:cNvSpPr txBox="1"/>
          <p:nvPr/>
        </p:nvSpPr>
        <p:spPr>
          <a:xfrm>
            <a:off x="8174736" y="5276088"/>
            <a:ext cx="3273552" cy="640080"/>
          </a:xfrm>
          <a:prstGeom prst="rect">
            <a:avLst/>
          </a:prstGeom>
          <a:noFill/>
        </p:spPr>
        <p:txBody>
          <a:bodyPr wrap="square" anchor="t" lIns="54864" rIns="54864" tIns="27432" bIns="27432">
            <a:spAutoFit/>
          </a:bodyPr>
          <a:lstStyle/>
          <a:p>
            <a:pPr algn="l">
              <a:spcAft>
                <a:spcPts val="400"/>
              </a:spcAft>
            </a:pPr>
            <a:r>
              <a:rPr sz="1400" b="0">
                <a:solidFill>
                  <a:srgbClr val="1F2A37"/>
                </a:solidFill>
                <a:latin typeface="Calibri"/>
              </a:rPr>
              <a:t>loading and buildability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11155680" cy="731520"/>
          </a:xfrm>
          <a:prstGeom prst="rect">
            <a:avLst/>
          </a:prstGeom>
          <a:noFill/>
        </p:spPr>
        <p:txBody>
          <a:bodyPr wrap="square" anchor="ctr" lIns="54864" rIns="54864" tIns="27432" bIns="27432">
            <a:spAutoFit/>
          </a:bodyPr>
          <a:lstStyle/>
          <a:p>
            <a:pPr algn="l">
              <a:spcAft>
                <a:spcPts val="400"/>
              </a:spcAft>
            </a:pPr>
            <a:r>
              <a:rPr sz="2800" b="1">
                <a:solidFill>
                  <a:srgbClr val="FFFFFF"/>
                </a:solidFill>
                <a:latin typeface="Calibri"/>
              </a:rPr>
              <a:t>Beyond the brief</a:t>
            </a:r>
          </a:p>
        </p:txBody>
      </p:sp>
      <p:sp>
        <p:nvSpPr>
          <p:cNvPr id="5" name="TextBox 4"/>
          <p:cNvSpPr txBox="1"/>
          <p:nvPr/>
        </p:nvSpPr>
        <p:spPr>
          <a:xfrm>
            <a:off x="548640" y="1143000"/>
            <a:ext cx="11155680" cy="457200"/>
          </a:xfrm>
          <a:prstGeom prst="rect">
            <a:avLst/>
          </a:prstGeom>
          <a:noFill/>
        </p:spPr>
        <p:txBody>
          <a:bodyPr wrap="square" anchor="t" lIns="54864" rIns="54864" tIns="27432" bIns="27432">
            <a:spAutoFit/>
          </a:bodyPr>
          <a:lstStyle/>
          <a:p>
            <a:pPr algn="l">
              <a:spcAft>
                <a:spcPts val="400"/>
              </a:spcAft>
            </a:pPr>
            <a:r>
              <a:rPr sz="1600" b="0">
                <a:solidFill>
                  <a:srgbClr val="5B6775"/>
                </a:solidFill>
                <a:latin typeface="Calibri"/>
              </a:rPr>
              <a:t>What CPRI's reference solution does not include</a:t>
            </a:r>
          </a:p>
        </p:txBody>
      </p:sp>
      <p:sp>
        <p:nvSpPr>
          <p:cNvPr id="6" name="Rectangle 5"/>
          <p:cNvSpPr/>
          <p:nvPr/>
        </p:nvSpPr>
        <p:spPr>
          <a:xfrm>
            <a:off x="548640" y="6400800"/>
            <a:ext cx="11091672" cy="9144"/>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28232"/>
            <a:ext cx="8229600" cy="274320"/>
          </a:xfrm>
          <a:prstGeom prst="rect">
            <a:avLst/>
          </a:prstGeom>
          <a:noFill/>
        </p:spPr>
        <p:txBody>
          <a:bodyPr wrap="square" anchor="t" lIns="54864" rIns="54864" tIns="27432" bIns="27432">
            <a:spAutoFit/>
          </a:bodyPr>
          <a:lstStyle/>
          <a:p>
            <a:pPr algn="l">
              <a:spcAft>
                <a:spcPts val="400"/>
              </a:spcAft>
            </a:pPr>
            <a:r>
              <a:rPr sz="1100" b="0">
                <a:solidFill>
                  <a:srgbClr val="5B6775"/>
                </a:solidFill>
                <a:latin typeface="Calibri"/>
              </a:rPr>
              <a:t>PowerNext-AI  ·  CPRI × MIT Bengaluru  ·  Track 1  ·  Impulse Generator Settings</a:t>
            </a:r>
          </a:p>
        </p:txBody>
      </p:sp>
      <p:sp>
        <p:nvSpPr>
          <p:cNvPr id="8" name="TextBox 7"/>
          <p:cNvSpPr txBox="1"/>
          <p:nvPr/>
        </p:nvSpPr>
        <p:spPr>
          <a:xfrm>
            <a:off x="9144000" y="6428232"/>
            <a:ext cx="2496312" cy="274320"/>
          </a:xfrm>
          <a:prstGeom prst="rect">
            <a:avLst/>
          </a:prstGeom>
          <a:noFill/>
        </p:spPr>
        <p:txBody>
          <a:bodyPr wrap="square" anchor="t" lIns="54864" rIns="54864" tIns="27432" bIns="27432">
            <a:spAutoFit/>
          </a:bodyPr>
          <a:lstStyle/>
          <a:p>
            <a:pPr algn="r">
              <a:spcAft>
                <a:spcPts val="400"/>
              </a:spcAft>
            </a:pPr>
            <a:r>
              <a:rPr sz="1100" b="0">
                <a:solidFill>
                  <a:srgbClr val="5B6775"/>
                </a:solidFill>
                <a:latin typeface="Calibri"/>
              </a:rPr>
              <a:t>Team Slayers   |   9</a:t>
            </a:r>
          </a:p>
        </p:txBody>
      </p:sp>
      <p:sp>
        <p:nvSpPr>
          <p:cNvPr id="9" name="Rectangle 8"/>
          <p:cNvSpPr/>
          <p:nvPr/>
        </p:nvSpPr>
        <p:spPr>
          <a:xfrm>
            <a:off x="548640" y="1737360"/>
            <a:ext cx="3566160" cy="214884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737360"/>
            <a:ext cx="64008" cy="214884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828800"/>
            <a:ext cx="3291839" cy="457200"/>
          </a:xfrm>
          <a:prstGeom prst="rect">
            <a:avLst/>
          </a:prstGeom>
          <a:noFill/>
        </p:spPr>
        <p:txBody>
          <a:bodyPr wrap="square" anchor="t" lIns="54864" rIns="54864" tIns="27432" bIns="27432">
            <a:spAutoFit/>
          </a:bodyPr>
          <a:lstStyle/>
          <a:p>
            <a:pPr algn="l">
              <a:spcAft>
                <a:spcPts val="400"/>
              </a:spcAft>
            </a:pPr>
            <a:r>
              <a:rPr sz="1800" b="1">
                <a:solidFill>
                  <a:srgbClr val="0B2545"/>
                </a:solidFill>
                <a:latin typeface="Calibri"/>
              </a:rPr>
              <a:t>Atmospheric correction</a:t>
            </a:r>
          </a:p>
        </p:txBody>
      </p:sp>
      <p:sp>
        <p:nvSpPr>
          <p:cNvPr id="12" name="TextBox 11"/>
          <p:cNvSpPr txBox="1"/>
          <p:nvPr/>
        </p:nvSpPr>
        <p:spPr>
          <a:xfrm>
            <a:off x="731520" y="2304288"/>
            <a:ext cx="3246120" cy="1508760"/>
          </a:xfrm>
          <a:prstGeom prst="rect">
            <a:avLst/>
          </a:prstGeom>
          <a:noFill/>
        </p:spPr>
        <p:txBody>
          <a:bodyPr wrap="square" anchor="t" lIns="54864" rIns="54864" tIns="27432" bIns="27432">
            <a:spAutoFit/>
          </a:bodyPr>
          <a:lstStyle/>
          <a:p>
            <a:pPr algn="l">
              <a:spcAft>
                <a:spcPts val="400"/>
              </a:spcAft>
            </a:pPr>
            <a:r>
              <a:rPr sz="1500" b="0">
                <a:solidFill>
                  <a:srgbClr val="1F2A37"/>
                </a:solidFill>
                <a:latin typeface="Calibri"/>
              </a:rPr>
              <a:t>IEC 60060-1:  Kt = k1 · k2</a:t>
            </a:r>
          </a:p>
          <a:p>
            <a:pPr algn="l">
              <a:spcAft>
                <a:spcPts val="400"/>
              </a:spcAft>
            </a:pPr>
            <a:r>
              <a:rPr sz="1500" b="0">
                <a:solidFill>
                  <a:srgbClr val="1F2A37"/>
                </a:solidFill>
                <a:latin typeface="Calibri"/>
              </a:rPr>
              <a:t>45 °C, 20 %, 380 m: Kt = 0.914</a:t>
            </a:r>
          </a:p>
          <a:p>
            <a:pPr algn="l">
              <a:spcAft>
                <a:spcPts val="400"/>
              </a:spcAft>
            </a:pPr>
            <a:r>
              <a:rPr sz="1500" b="0">
                <a:solidFill>
                  <a:srgbClr val="1F2A37"/>
                </a:solidFill>
                <a:latin typeface="Calibri"/>
              </a:rPr>
              <a:t>1550 kV → 1417 kV</a:t>
            </a:r>
          </a:p>
        </p:txBody>
      </p:sp>
      <p:sp>
        <p:nvSpPr>
          <p:cNvPr id="13" name="Rectangle 12"/>
          <p:cNvSpPr/>
          <p:nvPr/>
        </p:nvSpPr>
        <p:spPr>
          <a:xfrm>
            <a:off x="4315968" y="1737360"/>
            <a:ext cx="3566160" cy="214884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15968" y="1737360"/>
            <a:ext cx="64008" cy="214884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98848" y="1828800"/>
            <a:ext cx="3291839" cy="457200"/>
          </a:xfrm>
          <a:prstGeom prst="rect">
            <a:avLst/>
          </a:prstGeom>
          <a:noFill/>
        </p:spPr>
        <p:txBody>
          <a:bodyPr wrap="square" anchor="t" lIns="54864" rIns="54864" tIns="27432" bIns="27432">
            <a:spAutoFit/>
          </a:bodyPr>
          <a:lstStyle/>
          <a:p>
            <a:pPr algn="l">
              <a:spcAft>
                <a:spcPts val="400"/>
              </a:spcAft>
            </a:pPr>
            <a:r>
              <a:rPr sz="1800" b="1">
                <a:solidFill>
                  <a:srgbClr val="0B2545"/>
                </a:solidFill>
                <a:latin typeface="Calibri"/>
              </a:rPr>
              <a:t>Polarity</a:t>
            </a:r>
          </a:p>
        </p:txBody>
      </p:sp>
      <p:sp>
        <p:nvSpPr>
          <p:cNvPr id="16" name="TextBox 15"/>
          <p:cNvSpPr txBox="1"/>
          <p:nvPr/>
        </p:nvSpPr>
        <p:spPr>
          <a:xfrm>
            <a:off x="4498848" y="2304288"/>
            <a:ext cx="3246120" cy="1508760"/>
          </a:xfrm>
          <a:prstGeom prst="rect">
            <a:avLst/>
          </a:prstGeom>
          <a:noFill/>
        </p:spPr>
        <p:txBody>
          <a:bodyPr wrap="square" anchor="t" lIns="54864" rIns="54864" tIns="27432" bIns="27432">
            <a:spAutoFit/>
          </a:bodyPr>
          <a:lstStyle/>
          <a:p>
            <a:pPr algn="l">
              <a:spcAft>
                <a:spcPts val="400"/>
              </a:spcAft>
            </a:pPr>
            <a:r>
              <a:rPr sz="1500" b="0">
                <a:solidFill>
                  <a:srgbClr val="1F2A37"/>
                </a:solidFill>
                <a:latin typeface="Calibri"/>
              </a:rPr>
              <a:t>Positive or negative</a:t>
            </a:r>
          </a:p>
          <a:p>
            <a:pPr algn="l">
              <a:spcAft>
                <a:spcPts val="400"/>
              </a:spcAft>
            </a:pPr>
            <a:r>
              <a:rPr sz="1500" b="0">
                <a:solidFill>
                  <a:srgbClr val="1F2A37"/>
                </a:solidFill>
                <a:latin typeface="Calibri"/>
              </a:rPr>
              <a:t>v(t) → −v(t): same setting</a:t>
            </a:r>
          </a:p>
          <a:p>
            <a:pPr algn="l">
              <a:spcAft>
                <a:spcPts val="400"/>
              </a:spcAft>
            </a:pPr>
            <a:r>
              <a:rPr sz="1500" b="0">
                <a:solidFill>
                  <a:srgbClr val="1F2A37"/>
                </a:solidFill>
                <a:latin typeface="Calibri"/>
              </a:rPr>
              <a:t>reverse the charging polarity</a:t>
            </a:r>
          </a:p>
        </p:txBody>
      </p:sp>
      <p:sp>
        <p:nvSpPr>
          <p:cNvPr id="17" name="Rectangle 16"/>
          <p:cNvSpPr/>
          <p:nvPr/>
        </p:nvSpPr>
        <p:spPr>
          <a:xfrm>
            <a:off x="8083296" y="1737360"/>
            <a:ext cx="3566160" cy="214884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83296" y="1737360"/>
            <a:ext cx="64008" cy="214884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66175" y="1828800"/>
            <a:ext cx="3291840" cy="457200"/>
          </a:xfrm>
          <a:prstGeom prst="rect">
            <a:avLst/>
          </a:prstGeom>
          <a:noFill/>
        </p:spPr>
        <p:txBody>
          <a:bodyPr wrap="square" anchor="t" lIns="54864" rIns="54864" tIns="27432" bIns="27432">
            <a:spAutoFit/>
          </a:bodyPr>
          <a:lstStyle/>
          <a:p>
            <a:pPr algn="l">
              <a:spcAft>
                <a:spcPts val="400"/>
              </a:spcAft>
            </a:pPr>
            <a:r>
              <a:rPr sz="1800" b="1">
                <a:solidFill>
                  <a:srgbClr val="0B2545"/>
                </a:solidFill>
                <a:latin typeface="Calibri"/>
              </a:rPr>
              <a:t>Stage connection</a:t>
            </a:r>
          </a:p>
        </p:txBody>
      </p:sp>
      <p:sp>
        <p:nvSpPr>
          <p:cNvPr id="20" name="TextBox 19"/>
          <p:cNvSpPr txBox="1"/>
          <p:nvPr/>
        </p:nvSpPr>
        <p:spPr>
          <a:xfrm>
            <a:off x="8266175" y="2304288"/>
            <a:ext cx="3246120" cy="1508760"/>
          </a:xfrm>
          <a:prstGeom prst="rect">
            <a:avLst/>
          </a:prstGeom>
          <a:noFill/>
        </p:spPr>
        <p:txBody>
          <a:bodyPr wrap="square" anchor="t" lIns="54864" rIns="54864" tIns="27432" bIns="27432">
            <a:spAutoFit/>
          </a:bodyPr>
          <a:lstStyle/>
          <a:p>
            <a:pPr algn="l">
              <a:spcAft>
                <a:spcPts val="400"/>
              </a:spcAft>
            </a:pPr>
            <a:r>
              <a:rPr sz="1500" b="0">
                <a:solidFill>
                  <a:srgbClr val="1F2A37"/>
                </a:solidFill>
                <a:latin typeface="Calibri"/>
              </a:rPr>
              <a:t>2p6s … 6p2s</a:t>
            </a:r>
          </a:p>
          <a:p>
            <a:pPr algn="l">
              <a:spcAft>
                <a:spcPts val="400"/>
              </a:spcAft>
            </a:pPr>
            <a:r>
              <a:rPr sz="1500" b="0">
                <a:solidFill>
                  <a:srgbClr val="1F2A37"/>
                </a:solidFill>
                <a:latin typeface="Calibri"/>
              </a:rPr>
              <a:t>maximum output (12 / p) × 180 kV</a:t>
            </a:r>
          </a:p>
          <a:p>
            <a:pPr algn="l">
              <a:spcAft>
                <a:spcPts val="400"/>
              </a:spcAft>
            </a:pPr>
            <a:r>
              <a:rPr sz="1500" b="0">
                <a:solidFill>
                  <a:srgbClr val="1F2A37"/>
                </a:solidFill>
                <a:latin typeface="Calibri"/>
              </a:rPr>
              <a:t>1550 kV needs all 12 in series</a:t>
            </a:r>
          </a:p>
        </p:txBody>
      </p:sp>
      <p:sp>
        <p:nvSpPr>
          <p:cNvPr id="21" name="Rectangle 20"/>
          <p:cNvSpPr/>
          <p:nvPr/>
        </p:nvSpPr>
        <p:spPr>
          <a:xfrm>
            <a:off x="548640" y="4114800"/>
            <a:ext cx="3566160" cy="196596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4114800"/>
            <a:ext cx="64008" cy="1965960"/>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4206240"/>
            <a:ext cx="3291839" cy="457200"/>
          </a:xfrm>
          <a:prstGeom prst="rect">
            <a:avLst/>
          </a:prstGeom>
          <a:noFill/>
        </p:spPr>
        <p:txBody>
          <a:bodyPr wrap="square" anchor="t" lIns="54864" rIns="54864" tIns="27432" bIns="27432">
            <a:spAutoFit/>
          </a:bodyPr>
          <a:lstStyle/>
          <a:p>
            <a:pPr algn="l">
              <a:spcAft>
                <a:spcPts val="400"/>
              </a:spcAft>
            </a:pPr>
            <a:r>
              <a:rPr sz="1800" b="1">
                <a:solidFill>
                  <a:srgbClr val="0B2545"/>
                </a:solidFill>
                <a:latin typeface="Calibri"/>
              </a:rPr>
              <a:t>Lead inductance</a:t>
            </a:r>
          </a:p>
        </p:txBody>
      </p:sp>
      <p:sp>
        <p:nvSpPr>
          <p:cNvPr id="24" name="TextBox 23"/>
          <p:cNvSpPr txBox="1"/>
          <p:nvPr/>
        </p:nvSpPr>
        <p:spPr>
          <a:xfrm>
            <a:off x="731520" y="4681728"/>
            <a:ext cx="3246120" cy="1325880"/>
          </a:xfrm>
          <a:prstGeom prst="rect">
            <a:avLst/>
          </a:prstGeom>
          <a:noFill/>
        </p:spPr>
        <p:txBody>
          <a:bodyPr wrap="square" anchor="t" lIns="54864" rIns="54864" tIns="27432" bIns="27432">
            <a:spAutoFit/>
          </a:bodyPr>
          <a:lstStyle/>
          <a:p>
            <a:pPr algn="l">
              <a:spcAft>
                <a:spcPts val="400"/>
              </a:spcAft>
            </a:pPr>
            <a:r>
              <a:rPr sz="1500" b="0">
                <a:solidFill>
                  <a:srgbClr val="1F2A37"/>
                </a:solidFill>
                <a:latin typeface="Calibri"/>
              </a:rPr>
              <a:t>1 to 120 µH, physics at that value</a:t>
            </a:r>
          </a:p>
          <a:p>
            <a:pPr algn="l">
              <a:spcAft>
                <a:spcPts val="400"/>
              </a:spcAft>
            </a:pPr>
            <a:r>
              <a:rPr sz="1500" b="0">
                <a:solidFill>
                  <a:srgbClr val="1F2A37"/>
                </a:solidFill>
                <a:latin typeface="Calibri"/>
              </a:rPr>
              <a:t>more overshoot, shorter tail</a:t>
            </a:r>
          </a:p>
        </p:txBody>
      </p:sp>
      <p:sp>
        <p:nvSpPr>
          <p:cNvPr id="25" name="Rectangle 24"/>
          <p:cNvSpPr/>
          <p:nvPr/>
        </p:nvSpPr>
        <p:spPr>
          <a:xfrm>
            <a:off x="4315968" y="4114800"/>
            <a:ext cx="3566160" cy="196596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315968" y="4114800"/>
            <a:ext cx="64008" cy="1965960"/>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498848" y="4206240"/>
            <a:ext cx="3291839" cy="457200"/>
          </a:xfrm>
          <a:prstGeom prst="rect">
            <a:avLst/>
          </a:prstGeom>
          <a:noFill/>
        </p:spPr>
        <p:txBody>
          <a:bodyPr wrap="square" anchor="t" lIns="54864" rIns="54864" tIns="27432" bIns="27432">
            <a:spAutoFit/>
          </a:bodyPr>
          <a:lstStyle/>
          <a:p>
            <a:pPr algn="l">
              <a:spcAft>
                <a:spcPts val="400"/>
              </a:spcAft>
            </a:pPr>
            <a:r>
              <a:rPr sz="1800" b="1">
                <a:solidFill>
                  <a:srgbClr val="0B2545"/>
                </a:solidFill>
                <a:latin typeface="Calibri"/>
              </a:rPr>
              <a:t>Overshoot warning</a:t>
            </a:r>
          </a:p>
        </p:txBody>
      </p:sp>
      <p:sp>
        <p:nvSpPr>
          <p:cNvPr id="28" name="TextBox 27"/>
          <p:cNvSpPr txBox="1"/>
          <p:nvPr/>
        </p:nvSpPr>
        <p:spPr>
          <a:xfrm>
            <a:off x="4498848" y="4681728"/>
            <a:ext cx="3246120" cy="1325880"/>
          </a:xfrm>
          <a:prstGeom prst="rect">
            <a:avLst/>
          </a:prstGeom>
          <a:noFill/>
        </p:spPr>
        <p:txBody>
          <a:bodyPr wrap="square" anchor="t" lIns="54864" rIns="54864" tIns="27432" bIns="27432">
            <a:spAutoFit/>
          </a:bodyPr>
          <a:lstStyle/>
          <a:p>
            <a:pPr algn="l">
              <a:spcAft>
                <a:spcPts val="400"/>
              </a:spcAft>
            </a:pPr>
            <a:r>
              <a:rPr sz="1500" b="0">
                <a:solidFill>
                  <a:srgbClr val="1F2A37"/>
                </a:solidFill>
                <a:latin typeface="Calibri"/>
              </a:rPr>
              <a:t>predicted ringing from 5 %</a:t>
            </a:r>
          </a:p>
          <a:p>
            <a:pPr algn="l">
              <a:spcAft>
                <a:spcPts val="400"/>
              </a:spcAft>
            </a:pPr>
            <a:r>
              <a:rPr sz="1500" b="0">
                <a:solidFill>
                  <a:srgbClr val="1F2A37"/>
                </a:solidFill>
                <a:latin typeface="Calibri"/>
              </a:rPr>
              <a:t>physics 0.2 %, hall 8.3 %, app 8.6 %</a:t>
            </a:r>
          </a:p>
        </p:txBody>
      </p:sp>
      <p:sp>
        <p:nvSpPr>
          <p:cNvPr id="29" name="Rectangle 28"/>
          <p:cNvSpPr/>
          <p:nvPr/>
        </p:nvSpPr>
        <p:spPr>
          <a:xfrm>
            <a:off x="8083296" y="4114800"/>
            <a:ext cx="3566160" cy="196596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083296" y="4114800"/>
            <a:ext cx="64008" cy="1965960"/>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66175" y="4206240"/>
            <a:ext cx="3291840" cy="457200"/>
          </a:xfrm>
          <a:prstGeom prst="rect">
            <a:avLst/>
          </a:prstGeom>
          <a:noFill/>
        </p:spPr>
        <p:txBody>
          <a:bodyPr wrap="square" anchor="t" lIns="54864" rIns="54864" tIns="27432" bIns="27432">
            <a:spAutoFit/>
          </a:bodyPr>
          <a:lstStyle/>
          <a:p>
            <a:pPr algn="l">
              <a:spcAft>
                <a:spcPts val="400"/>
              </a:spcAft>
            </a:pPr>
            <a:r>
              <a:rPr sz="1800" b="1">
                <a:solidFill>
                  <a:srgbClr val="0B2545"/>
                </a:solidFill>
                <a:latin typeface="Calibri"/>
              </a:rPr>
              <a:t>Wrong-input handling</a:t>
            </a:r>
          </a:p>
        </p:txBody>
      </p:sp>
      <p:sp>
        <p:nvSpPr>
          <p:cNvPr id="32" name="TextBox 31"/>
          <p:cNvSpPr txBox="1"/>
          <p:nvPr/>
        </p:nvSpPr>
        <p:spPr>
          <a:xfrm>
            <a:off x="8266175" y="4681728"/>
            <a:ext cx="3246120" cy="1325880"/>
          </a:xfrm>
          <a:prstGeom prst="rect">
            <a:avLst/>
          </a:prstGeom>
          <a:noFill/>
        </p:spPr>
        <p:txBody>
          <a:bodyPr wrap="square" anchor="t" lIns="54864" rIns="54864" tIns="27432" bIns="27432">
            <a:spAutoFit/>
          </a:bodyPr>
          <a:lstStyle/>
          <a:p>
            <a:pPr algn="l">
              <a:spcAft>
                <a:spcPts val="400"/>
              </a:spcAft>
            </a:pPr>
            <a:r>
              <a:rPr sz="1500" b="0">
                <a:solidFill>
                  <a:srgbClr val="1F2A37"/>
                </a:solidFill>
                <a:latin typeface="Calibri"/>
              </a:rPr>
              <a:t>IEC 60071 level table</a:t>
            </a:r>
          </a:p>
          <a:p>
            <a:pPr algn="l">
              <a:spcAft>
                <a:spcPts val="400"/>
              </a:spcAft>
            </a:pPr>
            <a:r>
              <a:rPr sz="1500" b="0">
                <a:solidFill>
                  <a:srgbClr val="1F2A37"/>
                </a:solidFill>
                <a:latin typeface="Calibri"/>
              </a:rPr>
              <a:t>capacitance typed in nF caught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11155680" cy="731520"/>
          </a:xfrm>
          <a:prstGeom prst="rect">
            <a:avLst/>
          </a:prstGeom>
          <a:noFill/>
        </p:spPr>
        <p:txBody>
          <a:bodyPr wrap="square" anchor="ctr" lIns="54864" rIns="54864" tIns="27432" bIns="27432">
            <a:spAutoFit/>
          </a:bodyPr>
          <a:lstStyle/>
          <a:p>
            <a:pPr algn="l">
              <a:spcAft>
                <a:spcPts val="400"/>
              </a:spcAft>
            </a:pPr>
            <a:r>
              <a:rPr sz="2800" b="1">
                <a:solidFill>
                  <a:srgbClr val="FFFFFF"/>
                </a:solidFill>
                <a:latin typeface="Calibri"/>
              </a:rPr>
              <a:t>Safety and buildability</a:t>
            </a:r>
          </a:p>
        </p:txBody>
      </p:sp>
      <p:sp>
        <p:nvSpPr>
          <p:cNvPr id="5" name="TextBox 4"/>
          <p:cNvSpPr txBox="1"/>
          <p:nvPr/>
        </p:nvSpPr>
        <p:spPr>
          <a:xfrm>
            <a:off x="548640" y="1143000"/>
            <a:ext cx="11155680" cy="457200"/>
          </a:xfrm>
          <a:prstGeom prst="rect">
            <a:avLst/>
          </a:prstGeom>
          <a:noFill/>
        </p:spPr>
        <p:txBody>
          <a:bodyPr wrap="square" anchor="t" lIns="54864" rIns="54864" tIns="27432" bIns="27432">
            <a:spAutoFit/>
          </a:bodyPr>
          <a:lstStyle/>
          <a:p>
            <a:pPr algn="l">
              <a:spcAft>
                <a:spcPts val="400"/>
              </a:spcAft>
            </a:pPr>
            <a:r>
              <a:rPr sz="1600" b="0">
                <a:solidFill>
                  <a:srgbClr val="5B6775"/>
                </a:solidFill>
                <a:latin typeface="Calibri"/>
              </a:rPr>
              <a:t>Every recommendation is checked against the capacitors and the available units</a:t>
            </a:r>
          </a:p>
        </p:txBody>
      </p:sp>
      <p:sp>
        <p:nvSpPr>
          <p:cNvPr id="6" name="Rectangle 5"/>
          <p:cNvSpPr/>
          <p:nvPr/>
        </p:nvSpPr>
        <p:spPr>
          <a:xfrm>
            <a:off x="548640" y="6400800"/>
            <a:ext cx="11091672" cy="9144"/>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28232"/>
            <a:ext cx="8229600" cy="274320"/>
          </a:xfrm>
          <a:prstGeom prst="rect">
            <a:avLst/>
          </a:prstGeom>
          <a:noFill/>
        </p:spPr>
        <p:txBody>
          <a:bodyPr wrap="square" anchor="t" lIns="54864" rIns="54864" tIns="27432" bIns="27432">
            <a:spAutoFit/>
          </a:bodyPr>
          <a:lstStyle/>
          <a:p>
            <a:pPr algn="l">
              <a:spcAft>
                <a:spcPts val="400"/>
              </a:spcAft>
            </a:pPr>
            <a:r>
              <a:rPr sz="1100" b="0">
                <a:solidFill>
                  <a:srgbClr val="5B6775"/>
                </a:solidFill>
                <a:latin typeface="Calibri"/>
              </a:rPr>
              <a:t>PowerNext-AI  ·  CPRI × MIT Bengaluru  ·  Track 1  ·  Impulse Generator Settings</a:t>
            </a:r>
          </a:p>
        </p:txBody>
      </p:sp>
      <p:sp>
        <p:nvSpPr>
          <p:cNvPr id="8" name="TextBox 7"/>
          <p:cNvSpPr txBox="1"/>
          <p:nvPr/>
        </p:nvSpPr>
        <p:spPr>
          <a:xfrm>
            <a:off x="9144000" y="6428232"/>
            <a:ext cx="2496312" cy="274320"/>
          </a:xfrm>
          <a:prstGeom prst="rect">
            <a:avLst/>
          </a:prstGeom>
          <a:noFill/>
        </p:spPr>
        <p:txBody>
          <a:bodyPr wrap="square" anchor="t" lIns="54864" rIns="54864" tIns="27432" bIns="27432">
            <a:spAutoFit/>
          </a:bodyPr>
          <a:lstStyle/>
          <a:p>
            <a:pPr algn="r">
              <a:spcAft>
                <a:spcPts val="400"/>
              </a:spcAft>
            </a:pPr>
            <a:r>
              <a:rPr sz="1100" b="0">
                <a:solidFill>
                  <a:srgbClr val="5B6775"/>
                </a:solidFill>
                <a:latin typeface="Calibri"/>
              </a:rPr>
              <a:t>Team Slayers   |   10</a:t>
            </a:r>
          </a:p>
        </p:txBody>
      </p:sp>
      <p:sp>
        <p:nvSpPr>
          <p:cNvPr id="9" name="TextBox 8"/>
          <p:cNvSpPr txBox="1"/>
          <p:nvPr/>
        </p:nvSpPr>
        <p:spPr>
          <a:xfrm>
            <a:off x="548640" y="1691640"/>
            <a:ext cx="10972800" cy="365760"/>
          </a:xfrm>
          <a:prstGeom prst="rect">
            <a:avLst/>
          </a:prstGeom>
          <a:noFill/>
        </p:spPr>
        <p:txBody>
          <a:bodyPr wrap="square" anchor="t" lIns="54864" rIns="54864" tIns="27432" bIns="27432">
            <a:spAutoFit/>
          </a:bodyPr>
          <a:lstStyle/>
          <a:p>
            <a:pPr algn="l">
              <a:spcAft>
                <a:spcPts val="400"/>
              </a:spcAft>
            </a:pPr>
            <a:r>
              <a:rPr sz="1600" b="1">
                <a:solidFill>
                  <a:srgbClr val="0B2545"/>
                </a:solidFill>
                <a:latin typeface="Calibri"/>
              </a:rPr>
              <a:t>Charge per stage against the 200 kV capacitor rating  (1550 kV lightning, 90 pF disc string)</a:t>
            </a:r>
          </a:p>
        </p:txBody>
      </p:sp>
      <p:sp>
        <p:nvSpPr>
          <p:cNvPr id="10" name="Rectangle 9"/>
          <p:cNvSpPr/>
          <p:nvPr/>
        </p:nvSpPr>
        <p:spPr>
          <a:xfrm>
            <a:off x="548640" y="2194560"/>
            <a:ext cx="11064240" cy="50292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2194560"/>
            <a:ext cx="7744967" cy="5029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488168" y="2103120"/>
            <a:ext cx="36576" cy="685800"/>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221992"/>
            <a:ext cx="5486400" cy="457200"/>
          </a:xfrm>
          <a:prstGeom prst="rect">
            <a:avLst/>
          </a:prstGeom>
          <a:noFill/>
        </p:spPr>
        <p:txBody>
          <a:bodyPr wrap="square" anchor="ctr" lIns="54864" rIns="54864" tIns="27432" bIns="27432">
            <a:spAutoFit/>
          </a:bodyPr>
          <a:lstStyle/>
          <a:p>
            <a:pPr algn="l">
              <a:spcAft>
                <a:spcPts val="400"/>
              </a:spcAft>
            </a:pPr>
            <a:r>
              <a:rPr sz="1700" b="1">
                <a:solidFill>
                  <a:srgbClr val="FFFFFF"/>
                </a:solidFill>
                <a:latin typeface="Calibri"/>
              </a:rPr>
              <a:t>140.9 kV  =  70 %</a:t>
            </a:r>
          </a:p>
        </p:txBody>
      </p:sp>
      <p:sp>
        <p:nvSpPr>
          <p:cNvPr id="14" name="TextBox 13"/>
          <p:cNvSpPr txBox="1"/>
          <p:nvPr/>
        </p:nvSpPr>
        <p:spPr>
          <a:xfrm>
            <a:off x="8403336" y="2788920"/>
            <a:ext cx="2377440" cy="365760"/>
          </a:xfrm>
          <a:prstGeom prst="rect">
            <a:avLst/>
          </a:prstGeom>
          <a:noFill/>
        </p:spPr>
        <p:txBody>
          <a:bodyPr wrap="square" anchor="t" lIns="54864" rIns="54864" tIns="27432" bIns="27432">
            <a:spAutoFit/>
          </a:bodyPr>
          <a:lstStyle/>
          <a:p>
            <a:pPr algn="ctr">
              <a:spcAft>
                <a:spcPts val="400"/>
              </a:spcAft>
            </a:pPr>
            <a:r>
              <a:rPr sz="1300" b="1">
                <a:solidFill>
                  <a:srgbClr val="B3261E"/>
                </a:solidFill>
                <a:latin typeface="Calibri"/>
              </a:rPr>
              <a:t>90 % operating limit</a:t>
            </a:r>
          </a:p>
        </p:txBody>
      </p:sp>
      <p:sp>
        <p:nvSpPr>
          <p:cNvPr id="15" name="TextBox 14"/>
          <p:cNvSpPr txBox="1"/>
          <p:nvPr/>
        </p:nvSpPr>
        <p:spPr>
          <a:xfrm>
            <a:off x="10972800" y="2788920"/>
            <a:ext cx="822960" cy="365760"/>
          </a:xfrm>
          <a:prstGeom prst="rect">
            <a:avLst/>
          </a:prstGeom>
          <a:noFill/>
        </p:spPr>
        <p:txBody>
          <a:bodyPr wrap="square" anchor="t" lIns="54864" rIns="54864" tIns="27432" bIns="27432">
            <a:spAutoFit/>
          </a:bodyPr>
          <a:lstStyle/>
          <a:p>
            <a:pPr algn="r">
              <a:spcAft>
                <a:spcPts val="400"/>
              </a:spcAft>
            </a:pPr>
            <a:r>
              <a:rPr sz="1300" b="0">
                <a:solidFill>
                  <a:srgbClr val="5B6775"/>
                </a:solidFill>
                <a:latin typeface="Calibri"/>
              </a:rPr>
              <a:t>100 %</a:t>
            </a:r>
          </a:p>
        </p:txBody>
      </p:sp>
      <p:sp>
        <p:nvSpPr>
          <p:cNvPr id="16" name="Rectangle 15"/>
          <p:cNvSpPr/>
          <p:nvPr/>
        </p:nvSpPr>
        <p:spPr>
          <a:xfrm>
            <a:off x="548640" y="3383280"/>
            <a:ext cx="3566160" cy="141732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383280"/>
            <a:ext cx="64008" cy="1417320"/>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3474720"/>
            <a:ext cx="3291839" cy="457200"/>
          </a:xfrm>
          <a:prstGeom prst="rect">
            <a:avLst/>
          </a:prstGeom>
          <a:noFill/>
        </p:spPr>
        <p:txBody>
          <a:bodyPr wrap="square" anchor="t" lIns="54864" rIns="54864" tIns="27432" bIns="27432">
            <a:spAutoFit/>
          </a:bodyPr>
          <a:lstStyle/>
          <a:p>
            <a:pPr algn="l">
              <a:spcAft>
                <a:spcPts val="400"/>
              </a:spcAft>
            </a:pPr>
            <a:r>
              <a:rPr sz="1700" b="1">
                <a:solidFill>
                  <a:srgbClr val="0B2545"/>
                </a:solidFill>
                <a:latin typeface="Calibri"/>
              </a:rPr>
              <a:t>Energy</a:t>
            </a:r>
          </a:p>
        </p:txBody>
      </p:sp>
      <p:sp>
        <p:nvSpPr>
          <p:cNvPr id="19" name="TextBox 18"/>
          <p:cNvSpPr txBox="1"/>
          <p:nvPr/>
        </p:nvSpPr>
        <p:spPr>
          <a:xfrm>
            <a:off x="731520" y="3950208"/>
            <a:ext cx="3246120" cy="777240"/>
          </a:xfrm>
          <a:prstGeom prst="rect">
            <a:avLst/>
          </a:prstGeom>
          <a:noFill/>
        </p:spPr>
        <p:txBody>
          <a:bodyPr wrap="square" anchor="t" lIns="54864" rIns="54864" tIns="27432" bIns="27432">
            <a:spAutoFit/>
          </a:bodyPr>
          <a:lstStyle/>
          <a:p>
            <a:pPr algn="l">
              <a:spcAft>
                <a:spcPts val="400"/>
              </a:spcAft>
            </a:pPr>
            <a:r>
              <a:rPr sz="1400" b="0">
                <a:solidFill>
                  <a:srgbClr val="1F2A37"/>
                </a:solidFill>
                <a:latin typeface="Calibri"/>
              </a:rPr>
              <a:t>1.24 kJ of 2.5 kJ per stage; 14.9 kJ of 30 kJ stored</a:t>
            </a:r>
          </a:p>
        </p:txBody>
      </p:sp>
      <p:sp>
        <p:nvSpPr>
          <p:cNvPr id="20" name="Rectangle 19"/>
          <p:cNvSpPr/>
          <p:nvPr/>
        </p:nvSpPr>
        <p:spPr>
          <a:xfrm>
            <a:off x="4315968" y="3383280"/>
            <a:ext cx="3566160" cy="141732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315968" y="3383280"/>
            <a:ext cx="64008" cy="1417320"/>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98848" y="3474720"/>
            <a:ext cx="3291839" cy="457200"/>
          </a:xfrm>
          <a:prstGeom prst="rect">
            <a:avLst/>
          </a:prstGeom>
          <a:noFill/>
        </p:spPr>
        <p:txBody>
          <a:bodyPr wrap="square" anchor="t" lIns="54864" rIns="54864" tIns="27432" bIns="27432">
            <a:spAutoFit/>
          </a:bodyPr>
          <a:lstStyle/>
          <a:p>
            <a:pPr algn="l">
              <a:spcAft>
                <a:spcPts val="400"/>
              </a:spcAft>
            </a:pPr>
            <a:r>
              <a:rPr sz="1700" b="1">
                <a:solidFill>
                  <a:srgbClr val="0B2545"/>
                </a:solidFill>
                <a:latin typeface="Calibri"/>
              </a:rPr>
              <a:t>Nameplate stock</a:t>
            </a:r>
          </a:p>
        </p:txBody>
      </p:sp>
      <p:sp>
        <p:nvSpPr>
          <p:cNvPr id="23" name="TextBox 22"/>
          <p:cNvSpPr txBox="1"/>
          <p:nvPr/>
        </p:nvSpPr>
        <p:spPr>
          <a:xfrm>
            <a:off x="4498848" y="3950208"/>
            <a:ext cx="3246120" cy="777240"/>
          </a:xfrm>
          <a:prstGeom prst="rect">
            <a:avLst/>
          </a:prstGeom>
          <a:noFill/>
        </p:spPr>
        <p:txBody>
          <a:bodyPr wrap="square" anchor="t" lIns="54864" rIns="54864" tIns="27432" bIns="27432">
            <a:spAutoFit/>
          </a:bodyPr>
          <a:lstStyle/>
          <a:p>
            <a:pPr algn="l">
              <a:spcAft>
                <a:spcPts val="400"/>
              </a:spcAft>
            </a:pPr>
            <a:r>
              <a:rPr sz="1400" b="0">
                <a:solidFill>
                  <a:srgbClr val="1F2A37"/>
                </a:solidFill>
                <a:latin typeface="Calibri"/>
              </a:rPr>
              <a:t>single 30 Ω front and 520 Ω tail units: 12 of each</a:t>
            </a:r>
          </a:p>
        </p:txBody>
      </p:sp>
      <p:sp>
        <p:nvSpPr>
          <p:cNvPr id="24" name="Rectangle 23"/>
          <p:cNvSpPr/>
          <p:nvPr/>
        </p:nvSpPr>
        <p:spPr>
          <a:xfrm>
            <a:off x="8083296" y="3383280"/>
            <a:ext cx="3566160" cy="141732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083296" y="3383280"/>
            <a:ext cx="64008" cy="1417320"/>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66175" y="3474720"/>
            <a:ext cx="3291840" cy="457200"/>
          </a:xfrm>
          <a:prstGeom prst="rect">
            <a:avLst/>
          </a:prstGeom>
          <a:noFill/>
        </p:spPr>
        <p:txBody>
          <a:bodyPr wrap="square" anchor="t" lIns="54864" rIns="54864" tIns="27432" bIns="27432">
            <a:spAutoFit/>
          </a:bodyPr>
          <a:lstStyle/>
          <a:p>
            <a:pPr algn="l">
              <a:spcAft>
                <a:spcPts val="400"/>
              </a:spcAft>
            </a:pPr>
            <a:r>
              <a:rPr sz="1700" b="1">
                <a:solidFill>
                  <a:srgbClr val="0B2545"/>
                </a:solidFill>
                <a:latin typeface="Calibri"/>
              </a:rPr>
              <a:t>CPRI Excel stock</a:t>
            </a:r>
          </a:p>
        </p:txBody>
      </p:sp>
      <p:sp>
        <p:nvSpPr>
          <p:cNvPr id="27" name="TextBox 26"/>
          <p:cNvSpPr txBox="1"/>
          <p:nvPr/>
        </p:nvSpPr>
        <p:spPr>
          <a:xfrm>
            <a:off x="8266175" y="3950208"/>
            <a:ext cx="3246120" cy="777240"/>
          </a:xfrm>
          <a:prstGeom prst="rect">
            <a:avLst/>
          </a:prstGeom>
          <a:noFill/>
        </p:spPr>
        <p:txBody>
          <a:bodyPr wrap="square" anchor="t" lIns="54864" rIns="54864" tIns="27432" bIns="27432">
            <a:spAutoFit/>
          </a:bodyPr>
          <a:lstStyle/>
          <a:p>
            <a:pPr algn="l">
              <a:spcAft>
                <a:spcPts val="400"/>
              </a:spcAft>
            </a:pPr>
            <a:r>
              <a:rPr sz="1400" b="0">
                <a:solidFill>
                  <a:srgbClr val="1F2A37"/>
                </a:solidFill>
                <a:latin typeface="Calibri"/>
              </a:rPr>
              <a:t>30 Ω is one unit; 520 Ω = 20 + 100 + 200 + 200 in series</a:t>
            </a:r>
          </a:p>
        </p:txBody>
      </p:sp>
      <p:sp>
        <p:nvSpPr>
          <p:cNvPr id="28" name="Rectangle 27"/>
          <p:cNvSpPr/>
          <p:nvPr/>
        </p:nvSpPr>
        <p:spPr>
          <a:xfrm>
            <a:off x="548640" y="4983480"/>
            <a:ext cx="11064240" cy="109728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 y="4983480"/>
            <a:ext cx="64008" cy="109728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5074920"/>
            <a:ext cx="10789920" cy="457200"/>
          </a:xfrm>
          <a:prstGeom prst="rect">
            <a:avLst/>
          </a:prstGeom>
          <a:noFill/>
        </p:spPr>
        <p:txBody>
          <a:bodyPr wrap="square" anchor="t" lIns="54864" rIns="54864" tIns="27432" bIns="27432">
            <a:spAutoFit/>
          </a:bodyPr>
          <a:lstStyle/>
          <a:p>
            <a:pPr algn="l">
              <a:spcAft>
                <a:spcPts val="400"/>
              </a:spcAft>
            </a:pPr>
            <a:r>
              <a:rPr sz="1700" b="1">
                <a:solidFill>
                  <a:srgbClr val="0B2545"/>
                </a:solidFill>
                <a:latin typeface="Calibri"/>
              </a:rPr>
              <a:t>Shot loop and memory</a:t>
            </a:r>
          </a:p>
        </p:txBody>
      </p:sp>
      <p:sp>
        <p:nvSpPr>
          <p:cNvPr id="31" name="TextBox 30"/>
          <p:cNvSpPr txBox="1"/>
          <p:nvPr/>
        </p:nvSpPr>
        <p:spPr>
          <a:xfrm>
            <a:off x="731520" y="5550408"/>
            <a:ext cx="10744200" cy="457200"/>
          </a:xfrm>
          <a:prstGeom prst="rect">
            <a:avLst/>
          </a:prstGeom>
          <a:noFill/>
        </p:spPr>
        <p:txBody>
          <a:bodyPr wrap="square" anchor="t" lIns="54864" rIns="54864" tIns="27432" bIns="27432">
            <a:spAutoFit/>
          </a:bodyPr>
          <a:lstStyle/>
          <a:p>
            <a:pPr algn="l">
              <a:spcAft>
                <a:spcPts val="400"/>
              </a:spcAft>
            </a:pPr>
            <a:r>
              <a:rPr sz="1500" b="0">
                <a:solidFill>
                  <a:srgbClr val="1F2A37"/>
                </a:solidFill>
                <a:latin typeface="Calibri"/>
              </a:rPr>
              <a:t>The next charging voltage is capped at 90 % of rating too, and its loading is shown with every next setting.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11155680" cy="731520"/>
          </a:xfrm>
          <a:prstGeom prst="rect">
            <a:avLst/>
          </a:prstGeom>
          <a:noFill/>
        </p:spPr>
        <p:txBody>
          <a:bodyPr wrap="square" anchor="ctr" lIns="54864" rIns="54864" tIns="27432" bIns="27432">
            <a:spAutoFit/>
          </a:bodyPr>
          <a:lstStyle/>
          <a:p>
            <a:pPr algn="l">
              <a:spcAft>
                <a:spcPts val="400"/>
              </a:spcAft>
            </a:pPr>
            <a:r>
              <a:rPr sz="2800" b="1">
                <a:solidFill>
                  <a:srgbClr val="FFFFFF"/>
                </a:solidFill>
                <a:latin typeface="Calibri"/>
              </a:rPr>
              <a:t>Results: less work at the generator</a:t>
            </a:r>
          </a:p>
        </p:txBody>
      </p:sp>
      <p:sp>
        <p:nvSpPr>
          <p:cNvPr id="5" name="TextBox 4"/>
          <p:cNvSpPr txBox="1"/>
          <p:nvPr/>
        </p:nvSpPr>
        <p:spPr>
          <a:xfrm>
            <a:off x="548640" y="1143000"/>
            <a:ext cx="11155680" cy="457200"/>
          </a:xfrm>
          <a:prstGeom prst="rect">
            <a:avLst/>
          </a:prstGeom>
          <a:noFill/>
        </p:spPr>
        <p:txBody>
          <a:bodyPr wrap="square" anchor="t" lIns="54864" rIns="54864" tIns="27432" bIns="27432">
            <a:spAutoFit/>
          </a:bodyPr>
          <a:lstStyle/>
          <a:p>
            <a:pPr algn="l">
              <a:spcAft>
                <a:spcPts val="400"/>
              </a:spcAft>
            </a:pPr>
            <a:r>
              <a:rPr sz="1600" b="0">
                <a:solidFill>
                  <a:srgbClr val="5B6775"/>
                </a:solidFill>
                <a:latin typeface="Calibri"/>
              </a:rPr>
              <a:t>120 simulated sessions, 12 halls, 26 paired tests; unsolved sessions counted at 10 shots</a:t>
            </a:r>
          </a:p>
        </p:txBody>
      </p:sp>
      <p:sp>
        <p:nvSpPr>
          <p:cNvPr id="6" name="Rectangle 5"/>
          <p:cNvSpPr/>
          <p:nvPr/>
        </p:nvSpPr>
        <p:spPr>
          <a:xfrm>
            <a:off x="548640" y="6400800"/>
            <a:ext cx="11091672" cy="9144"/>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28232"/>
            <a:ext cx="8229600" cy="274320"/>
          </a:xfrm>
          <a:prstGeom prst="rect">
            <a:avLst/>
          </a:prstGeom>
          <a:noFill/>
        </p:spPr>
        <p:txBody>
          <a:bodyPr wrap="square" anchor="t" lIns="54864" rIns="54864" tIns="27432" bIns="27432">
            <a:spAutoFit/>
          </a:bodyPr>
          <a:lstStyle/>
          <a:p>
            <a:pPr algn="l">
              <a:spcAft>
                <a:spcPts val="400"/>
              </a:spcAft>
            </a:pPr>
            <a:r>
              <a:rPr sz="1100" b="0">
                <a:solidFill>
                  <a:srgbClr val="5B6775"/>
                </a:solidFill>
                <a:latin typeface="Calibri"/>
              </a:rPr>
              <a:t>PowerNext-AI  ·  CPRI × MIT Bengaluru  ·  Track 1  ·  Impulse Generator Settings</a:t>
            </a:r>
          </a:p>
        </p:txBody>
      </p:sp>
      <p:sp>
        <p:nvSpPr>
          <p:cNvPr id="8" name="TextBox 7"/>
          <p:cNvSpPr txBox="1"/>
          <p:nvPr/>
        </p:nvSpPr>
        <p:spPr>
          <a:xfrm>
            <a:off x="9144000" y="6428232"/>
            <a:ext cx="2496312" cy="274320"/>
          </a:xfrm>
          <a:prstGeom prst="rect">
            <a:avLst/>
          </a:prstGeom>
          <a:noFill/>
        </p:spPr>
        <p:txBody>
          <a:bodyPr wrap="square" anchor="t" lIns="54864" rIns="54864" tIns="27432" bIns="27432">
            <a:spAutoFit/>
          </a:bodyPr>
          <a:lstStyle/>
          <a:p>
            <a:pPr algn="r">
              <a:spcAft>
                <a:spcPts val="400"/>
              </a:spcAft>
            </a:pPr>
            <a:r>
              <a:rPr sz="1100" b="0">
                <a:solidFill>
                  <a:srgbClr val="5B6775"/>
                </a:solidFill>
                <a:latin typeface="Calibri"/>
              </a:rPr>
              <a:t>Team Slayers   |   11</a:t>
            </a:r>
          </a:p>
        </p:txBody>
      </p:sp>
      <p:sp>
        <p:nvSpPr>
          <p:cNvPr id="9" name="TextBox 8"/>
          <p:cNvSpPr txBox="1"/>
          <p:nvPr/>
        </p:nvSpPr>
        <p:spPr>
          <a:xfrm>
            <a:off x="548640" y="1645920"/>
            <a:ext cx="5486400" cy="365760"/>
          </a:xfrm>
          <a:prstGeom prst="rect">
            <a:avLst/>
          </a:prstGeom>
          <a:noFill/>
        </p:spPr>
        <p:txBody>
          <a:bodyPr wrap="square" anchor="t" lIns="54864" rIns="54864" tIns="27432" bIns="27432">
            <a:spAutoFit/>
          </a:bodyPr>
          <a:lstStyle/>
          <a:p>
            <a:pPr algn="l">
              <a:spcAft>
                <a:spcPts val="400"/>
              </a:spcAft>
            </a:pPr>
            <a:r>
              <a:rPr sz="1500" b="1">
                <a:solidFill>
                  <a:srgbClr val="0B2545"/>
                </a:solidFill>
                <a:latin typeface="Calibri"/>
              </a:rPr>
              <a:t>Resistor changes (climbs) per test, hardest severity</a:t>
            </a:r>
          </a:p>
        </p:txBody>
      </p:sp>
      <p:graphicFrame>
        <p:nvGraphicFramePr>
          <p:cNvPr id="10" name="Chart 9"/>
          <p:cNvGraphicFramePr>
            <a:graphicFrameLocks noGrp="1"/>
          </p:cNvGraphicFramePr>
          <p:nvPr/>
        </p:nvGraphicFramePr>
        <p:xfrm>
          <a:off x="548640" y="2011680"/>
          <a:ext cx="5486400" cy="3566160"/>
        </p:xfrm>
        <a:graphic>
          <a:graphicData uri="http://schemas.openxmlformats.org/drawingml/2006/chart">
            <c:chart xmlns:c="http://schemas.openxmlformats.org/drawingml/2006/chart" r:id="rId3"/>
          </a:graphicData>
        </a:graphic>
      </p:graphicFrame>
      <p:sp>
        <p:nvSpPr>
          <p:cNvPr id="11" name="TextBox 10"/>
          <p:cNvSpPr txBox="1"/>
          <p:nvPr/>
        </p:nvSpPr>
        <p:spPr>
          <a:xfrm>
            <a:off x="6309360" y="1645920"/>
            <a:ext cx="5486400" cy="365760"/>
          </a:xfrm>
          <a:prstGeom prst="rect">
            <a:avLst/>
          </a:prstGeom>
          <a:noFill/>
        </p:spPr>
        <p:txBody>
          <a:bodyPr wrap="square" anchor="t" lIns="54864" rIns="54864" tIns="27432" bIns="27432">
            <a:spAutoFit/>
          </a:bodyPr>
          <a:lstStyle/>
          <a:p>
            <a:pPr algn="l">
              <a:spcAft>
                <a:spcPts val="400"/>
              </a:spcAft>
            </a:pPr>
            <a:r>
              <a:rPr sz="1500" b="1">
                <a:solidFill>
                  <a:srgbClr val="0B2545"/>
                </a:solidFill>
                <a:latin typeface="Calibri"/>
              </a:rPr>
              <a:t>Compliant on the first shot, hardest severity</a:t>
            </a:r>
          </a:p>
        </p:txBody>
      </p:sp>
      <p:graphicFrame>
        <p:nvGraphicFramePr>
          <p:cNvPr id="12" name="Chart 11"/>
          <p:cNvGraphicFramePr>
            <a:graphicFrameLocks noGrp="1"/>
          </p:cNvGraphicFramePr>
          <p:nvPr/>
        </p:nvGraphicFramePr>
        <p:xfrm>
          <a:off x="6309360" y="2011680"/>
          <a:ext cx="5303520" cy="3566160"/>
        </p:xfrm>
        <a:graphic>
          <a:graphicData uri="http://schemas.openxmlformats.org/drawingml/2006/chart">
            <c:chart xmlns:c="http://schemas.openxmlformats.org/drawingml/2006/chart" r:id="rId4"/>
          </a:graphicData>
        </a:graphic>
      </p:graphicFrame>
      <p:sp>
        <p:nvSpPr>
          <p:cNvPr id="13" name="TextBox 12"/>
          <p:cNvSpPr txBox="1"/>
          <p:nvPr/>
        </p:nvSpPr>
        <p:spPr>
          <a:xfrm>
            <a:off x="548640" y="5760720"/>
            <a:ext cx="11064240" cy="548640"/>
          </a:xfrm>
          <a:prstGeom prst="rect">
            <a:avLst/>
          </a:prstGeom>
          <a:noFill/>
        </p:spPr>
        <p:txBody>
          <a:bodyPr wrap="square" anchor="t" lIns="54864" rIns="54864" tIns="27432" bIns="27432">
            <a:spAutoFit/>
          </a:bodyPr>
          <a:lstStyle/>
          <a:p>
            <a:pPr algn="l">
              <a:spcAft>
                <a:spcPts val="400"/>
              </a:spcAft>
            </a:pPr>
            <a:r>
              <a:rPr sz="1400" b="0">
                <a:solidFill>
                  <a:srgbClr val="5B6775"/>
                </a:solidFill>
                <a:latin typeface="Calibri"/>
              </a:rPr>
              <a:t>Easy halls: current practice already succeeds first time (100 %). Simulated halls; real trial shots would settle which severity a real hall is.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11155680" cy="731520"/>
          </a:xfrm>
          <a:prstGeom prst="rect">
            <a:avLst/>
          </a:prstGeom>
          <a:noFill/>
        </p:spPr>
        <p:txBody>
          <a:bodyPr wrap="square" anchor="ctr" lIns="54864" rIns="54864" tIns="27432" bIns="27432">
            <a:spAutoFit/>
          </a:bodyPr>
          <a:lstStyle/>
          <a:p>
            <a:pPr algn="l">
              <a:spcAft>
                <a:spcPts val="400"/>
              </a:spcAft>
            </a:pPr>
            <a:r>
              <a:rPr sz="2800" b="1">
                <a:solidFill>
                  <a:srgbClr val="FFFFFF"/>
                </a:solidFill>
                <a:latin typeface="Calibri"/>
              </a:rPr>
              <a:t>Accuracy against CPRI's weighted kNN</a:t>
            </a:r>
          </a:p>
        </p:txBody>
      </p:sp>
      <p:sp>
        <p:nvSpPr>
          <p:cNvPr id="5" name="TextBox 4"/>
          <p:cNvSpPr txBox="1"/>
          <p:nvPr/>
        </p:nvSpPr>
        <p:spPr>
          <a:xfrm>
            <a:off x="548640" y="1143000"/>
            <a:ext cx="11155680" cy="457200"/>
          </a:xfrm>
          <a:prstGeom prst="rect">
            <a:avLst/>
          </a:prstGeom>
          <a:noFill/>
        </p:spPr>
        <p:txBody>
          <a:bodyPr wrap="square" anchor="t" lIns="54864" rIns="54864" tIns="27432" bIns="27432">
            <a:spAutoFit/>
          </a:bodyPr>
          <a:lstStyle/>
          <a:p>
            <a:pPr algn="l">
              <a:spcAft>
                <a:spcPts val="400"/>
              </a:spcAft>
            </a:pPr>
            <a:r>
              <a:rPr sz="1600" b="0">
                <a:solidFill>
                  <a:srgbClr val="5B6775"/>
                </a:solidFill>
                <a:latin typeface="Calibri"/>
              </a:rPr>
              <a:t>Judged on MAPE, MSE and RMSE: two datasets, two different stories</a:t>
            </a:r>
          </a:p>
        </p:txBody>
      </p:sp>
      <p:sp>
        <p:nvSpPr>
          <p:cNvPr id="6" name="Rectangle 5"/>
          <p:cNvSpPr/>
          <p:nvPr/>
        </p:nvSpPr>
        <p:spPr>
          <a:xfrm>
            <a:off x="548640" y="6400800"/>
            <a:ext cx="11091672" cy="9144"/>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28232"/>
            <a:ext cx="8229600" cy="274320"/>
          </a:xfrm>
          <a:prstGeom prst="rect">
            <a:avLst/>
          </a:prstGeom>
          <a:noFill/>
        </p:spPr>
        <p:txBody>
          <a:bodyPr wrap="square" anchor="t" lIns="54864" rIns="54864" tIns="27432" bIns="27432">
            <a:spAutoFit/>
          </a:bodyPr>
          <a:lstStyle/>
          <a:p>
            <a:pPr algn="l">
              <a:spcAft>
                <a:spcPts val="400"/>
              </a:spcAft>
            </a:pPr>
            <a:r>
              <a:rPr sz="1100" b="0">
                <a:solidFill>
                  <a:srgbClr val="5B6775"/>
                </a:solidFill>
                <a:latin typeface="Calibri"/>
              </a:rPr>
              <a:t>PowerNext-AI  ·  CPRI × MIT Bengaluru  ·  Track 1  ·  Impulse Generator Settings</a:t>
            </a:r>
          </a:p>
        </p:txBody>
      </p:sp>
      <p:sp>
        <p:nvSpPr>
          <p:cNvPr id="8" name="TextBox 7"/>
          <p:cNvSpPr txBox="1"/>
          <p:nvPr/>
        </p:nvSpPr>
        <p:spPr>
          <a:xfrm>
            <a:off x="9144000" y="6428232"/>
            <a:ext cx="2496312" cy="274320"/>
          </a:xfrm>
          <a:prstGeom prst="rect">
            <a:avLst/>
          </a:prstGeom>
          <a:noFill/>
        </p:spPr>
        <p:txBody>
          <a:bodyPr wrap="square" anchor="t" lIns="54864" rIns="54864" tIns="27432" bIns="27432">
            <a:spAutoFit/>
          </a:bodyPr>
          <a:lstStyle/>
          <a:p>
            <a:pPr algn="r">
              <a:spcAft>
                <a:spcPts val="400"/>
              </a:spcAft>
            </a:pPr>
            <a:r>
              <a:rPr sz="1100" b="0">
                <a:solidFill>
                  <a:srgbClr val="5B6775"/>
                </a:solidFill>
                <a:latin typeface="Calibri"/>
              </a:rPr>
              <a:t>Team Slayers   |   12</a:t>
            </a:r>
          </a:p>
        </p:txBody>
      </p:sp>
      <p:sp>
        <p:nvSpPr>
          <p:cNvPr id="9" name="TextBox 8"/>
          <p:cNvSpPr txBox="1"/>
          <p:nvPr/>
        </p:nvSpPr>
        <p:spPr>
          <a:xfrm>
            <a:off x="548640" y="1645920"/>
            <a:ext cx="5486400" cy="365760"/>
          </a:xfrm>
          <a:prstGeom prst="rect">
            <a:avLst/>
          </a:prstGeom>
          <a:noFill/>
        </p:spPr>
        <p:txBody>
          <a:bodyPr wrap="square" anchor="t" lIns="54864" rIns="54864" tIns="27432" bIns="27432">
            <a:spAutoFit/>
          </a:bodyPr>
          <a:lstStyle/>
          <a:p>
            <a:pPr algn="l">
              <a:spcAft>
                <a:spcPts val="400"/>
              </a:spcAft>
            </a:pPr>
            <a:r>
              <a:rPr sz="1500" b="1">
                <a:solidFill>
                  <a:srgbClr val="0B2545"/>
                </a:solidFill>
                <a:latin typeface="Calibri"/>
              </a:rPr>
              <a:t>Simulated hall: front-time error, %</a:t>
            </a:r>
          </a:p>
        </p:txBody>
      </p:sp>
      <p:graphicFrame>
        <p:nvGraphicFramePr>
          <p:cNvPr id="10" name="Chart 9"/>
          <p:cNvGraphicFramePr>
            <a:graphicFrameLocks noGrp="1"/>
          </p:cNvGraphicFramePr>
          <p:nvPr/>
        </p:nvGraphicFramePr>
        <p:xfrm>
          <a:off x="548640" y="2011680"/>
          <a:ext cx="5486400" cy="3749039"/>
        </p:xfrm>
        <a:graphic>
          <a:graphicData uri="http://schemas.openxmlformats.org/drawingml/2006/chart">
            <c:chart xmlns:c="http://schemas.openxmlformats.org/drawingml/2006/chart" r:id="rId3"/>
          </a:graphicData>
        </a:graphic>
      </p:graphicFrame>
      <p:sp>
        <p:nvSpPr>
          <p:cNvPr id="11" name="TextBox 10"/>
          <p:cNvSpPr txBox="1"/>
          <p:nvPr/>
        </p:nvSpPr>
        <p:spPr>
          <a:xfrm>
            <a:off x="6309360" y="1645920"/>
            <a:ext cx="5486400" cy="365760"/>
          </a:xfrm>
          <a:prstGeom prst="rect">
            <a:avLst/>
          </a:prstGeom>
          <a:noFill/>
        </p:spPr>
        <p:txBody>
          <a:bodyPr wrap="square" anchor="t" lIns="54864" rIns="54864" tIns="27432" bIns="27432">
            <a:spAutoFit/>
          </a:bodyPr>
          <a:lstStyle/>
          <a:p>
            <a:pPr algn="l">
              <a:spcAft>
                <a:spcPts val="400"/>
              </a:spcAft>
            </a:pPr>
            <a:r>
              <a:rPr sz="1500" b="1">
                <a:solidFill>
                  <a:srgbClr val="0B2545"/>
                </a:solidFill>
                <a:latin typeface="Calibri"/>
              </a:rPr>
              <a:t>CPRI's dataset: front-time MAPE, %</a:t>
            </a:r>
          </a:p>
        </p:txBody>
      </p:sp>
      <p:graphicFrame>
        <p:nvGraphicFramePr>
          <p:cNvPr id="12" name="Chart 11"/>
          <p:cNvGraphicFramePr>
            <a:graphicFrameLocks noGrp="1"/>
          </p:cNvGraphicFramePr>
          <p:nvPr/>
        </p:nvGraphicFramePr>
        <p:xfrm>
          <a:off x="6309360" y="2011680"/>
          <a:ext cx="5303520" cy="3749039"/>
        </p:xfrm>
        <a:graphic>
          <a:graphicData uri="http://schemas.openxmlformats.org/drawingml/2006/chart">
            <c:chart xmlns:c="http://schemas.openxmlformats.org/drawingml/2006/chart" r:id="rId4"/>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11155680" cy="731520"/>
          </a:xfrm>
          <a:prstGeom prst="rect">
            <a:avLst/>
          </a:prstGeom>
          <a:noFill/>
        </p:spPr>
        <p:txBody>
          <a:bodyPr wrap="square" anchor="ctr" lIns="54864" rIns="54864" tIns="27432" bIns="27432">
            <a:spAutoFit/>
          </a:bodyPr>
          <a:lstStyle/>
          <a:p>
            <a:pPr algn="l">
              <a:spcAft>
                <a:spcPts val="400"/>
              </a:spcAft>
            </a:pPr>
            <a:r>
              <a:rPr sz="2800" b="1">
                <a:solidFill>
                  <a:srgbClr val="FFFFFF"/>
                </a:solidFill>
                <a:latin typeface="Calibri"/>
              </a:rPr>
              <a:t>How CPRI's data is used</a:t>
            </a:r>
          </a:p>
        </p:txBody>
      </p:sp>
      <p:sp>
        <p:nvSpPr>
          <p:cNvPr id="5" name="TextBox 4"/>
          <p:cNvSpPr txBox="1"/>
          <p:nvPr/>
        </p:nvSpPr>
        <p:spPr>
          <a:xfrm>
            <a:off x="548640" y="1143000"/>
            <a:ext cx="11155680" cy="457200"/>
          </a:xfrm>
          <a:prstGeom prst="rect">
            <a:avLst/>
          </a:prstGeom>
          <a:noFill/>
        </p:spPr>
        <p:txBody>
          <a:bodyPr wrap="square" anchor="t" lIns="54864" rIns="54864" tIns="27432" bIns="27432">
            <a:spAutoFit/>
          </a:bodyPr>
          <a:lstStyle/>
          <a:p>
            <a:pPr algn="l">
              <a:spcAft>
                <a:spcPts val="400"/>
              </a:spcAft>
            </a:pPr>
            <a:r>
              <a:rPr sz="1600" b="0">
                <a:solidFill>
                  <a:srgbClr val="5B6775"/>
                </a:solidFill>
                <a:latin typeface="Calibri"/>
              </a:rPr>
              <a:t>Two machines are described; each has its own role</a:t>
            </a:r>
          </a:p>
        </p:txBody>
      </p:sp>
      <p:sp>
        <p:nvSpPr>
          <p:cNvPr id="6" name="Rectangle 5"/>
          <p:cNvSpPr/>
          <p:nvPr/>
        </p:nvSpPr>
        <p:spPr>
          <a:xfrm>
            <a:off x="548640" y="6400800"/>
            <a:ext cx="11091672" cy="9144"/>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28232"/>
            <a:ext cx="8229600" cy="274320"/>
          </a:xfrm>
          <a:prstGeom prst="rect">
            <a:avLst/>
          </a:prstGeom>
          <a:noFill/>
        </p:spPr>
        <p:txBody>
          <a:bodyPr wrap="square" anchor="t" lIns="54864" rIns="54864" tIns="27432" bIns="27432">
            <a:spAutoFit/>
          </a:bodyPr>
          <a:lstStyle/>
          <a:p>
            <a:pPr algn="l">
              <a:spcAft>
                <a:spcPts val="400"/>
              </a:spcAft>
            </a:pPr>
            <a:r>
              <a:rPr sz="1100" b="0">
                <a:solidFill>
                  <a:srgbClr val="5B6775"/>
                </a:solidFill>
                <a:latin typeface="Calibri"/>
              </a:rPr>
              <a:t>PowerNext-AI  ·  CPRI × MIT Bengaluru  ·  Track 1  ·  Impulse Generator Settings</a:t>
            </a:r>
          </a:p>
        </p:txBody>
      </p:sp>
      <p:sp>
        <p:nvSpPr>
          <p:cNvPr id="8" name="TextBox 7"/>
          <p:cNvSpPr txBox="1"/>
          <p:nvPr/>
        </p:nvSpPr>
        <p:spPr>
          <a:xfrm>
            <a:off x="9144000" y="6428232"/>
            <a:ext cx="2496312" cy="274320"/>
          </a:xfrm>
          <a:prstGeom prst="rect">
            <a:avLst/>
          </a:prstGeom>
          <a:noFill/>
        </p:spPr>
        <p:txBody>
          <a:bodyPr wrap="square" anchor="t" lIns="54864" rIns="54864" tIns="27432" bIns="27432">
            <a:spAutoFit/>
          </a:bodyPr>
          <a:lstStyle/>
          <a:p>
            <a:pPr algn="r">
              <a:spcAft>
                <a:spcPts val="400"/>
              </a:spcAft>
            </a:pPr>
            <a:r>
              <a:rPr sz="1100" b="0">
                <a:solidFill>
                  <a:srgbClr val="5B6775"/>
                </a:solidFill>
                <a:latin typeface="Calibri"/>
              </a:rPr>
              <a:t>Team Slayers   |   13</a:t>
            </a:r>
          </a:p>
        </p:txBody>
      </p:sp>
      <p:sp>
        <p:nvSpPr>
          <p:cNvPr id="9" name="Rectangle 8"/>
          <p:cNvSpPr/>
          <p:nvPr/>
        </p:nvSpPr>
        <p:spPr>
          <a:xfrm>
            <a:off x="548640" y="1783080"/>
            <a:ext cx="5394960" cy="54864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783080"/>
            <a:ext cx="5394960" cy="548640"/>
          </a:xfrm>
          <a:prstGeom prst="rect">
            <a:avLst/>
          </a:prstGeom>
          <a:noFill/>
        </p:spPr>
        <p:txBody>
          <a:bodyPr wrap="square" anchor="ctr" lIns="54864" rIns="54864" tIns="27432" bIns="27432">
            <a:spAutoFit/>
          </a:bodyPr>
          <a:lstStyle/>
          <a:p>
            <a:pPr algn="ctr">
              <a:spcAft>
                <a:spcPts val="400"/>
              </a:spcAft>
            </a:pPr>
            <a:r>
              <a:rPr sz="1800" b="1">
                <a:solidFill>
                  <a:srgbClr val="FFFFFF"/>
                </a:solidFill>
                <a:latin typeface="Calibri"/>
              </a:rPr>
              <a:t>CPRI Excel calculator machine</a:t>
            </a:r>
          </a:p>
        </p:txBody>
      </p:sp>
      <p:sp>
        <p:nvSpPr>
          <p:cNvPr id="11" name="Rectangle 10"/>
          <p:cNvSpPr/>
          <p:nvPr/>
        </p:nvSpPr>
        <p:spPr>
          <a:xfrm>
            <a:off x="6217920" y="1783080"/>
            <a:ext cx="5394960" cy="54864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0" y="1783080"/>
            <a:ext cx="5394960" cy="548640"/>
          </a:xfrm>
          <a:prstGeom prst="rect">
            <a:avLst/>
          </a:prstGeom>
          <a:noFill/>
        </p:spPr>
        <p:txBody>
          <a:bodyPr wrap="square" anchor="ctr" lIns="54864" rIns="54864" tIns="27432" bIns="27432">
            <a:spAutoFit/>
          </a:bodyPr>
          <a:lstStyle/>
          <a:p>
            <a:pPr algn="ctr">
              <a:spcAft>
                <a:spcPts val="400"/>
              </a:spcAft>
            </a:pPr>
            <a:r>
              <a:rPr sz="1800" b="1">
                <a:solidFill>
                  <a:srgbClr val="FFFFFF"/>
                </a:solidFill>
                <a:latin typeface="Calibri"/>
              </a:rPr>
              <a:t>HAEFELY 508085/E nameplate machine</a:t>
            </a:r>
          </a:p>
        </p:txBody>
      </p:sp>
      <p:sp>
        <p:nvSpPr>
          <p:cNvPr id="13" name="Rectangle 12"/>
          <p:cNvSpPr/>
          <p:nvPr/>
        </p:nvSpPr>
        <p:spPr>
          <a:xfrm>
            <a:off x="548640" y="2514600"/>
            <a:ext cx="5394960" cy="118872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2514600"/>
            <a:ext cx="64008" cy="118872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2606040"/>
            <a:ext cx="5120640" cy="457200"/>
          </a:xfrm>
          <a:prstGeom prst="rect">
            <a:avLst/>
          </a:prstGeom>
          <a:noFill/>
        </p:spPr>
        <p:txBody>
          <a:bodyPr wrap="square" anchor="t" lIns="54864" rIns="54864" tIns="27432" bIns="27432">
            <a:spAutoFit/>
          </a:bodyPr>
          <a:lstStyle/>
          <a:p>
            <a:pPr algn="l">
              <a:spcAft>
                <a:spcPts val="400"/>
              </a:spcAft>
            </a:pPr>
            <a:r>
              <a:rPr sz="1700" b="1">
                <a:solidFill>
                  <a:srgbClr val="0B2545"/>
                </a:solidFill>
                <a:latin typeface="Calibri"/>
              </a:rPr>
              <a:t>3 µF per stage, 15 stages</a:t>
            </a:r>
          </a:p>
        </p:txBody>
      </p:sp>
      <p:sp>
        <p:nvSpPr>
          <p:cNvPr id="16" name="TextBox 15"/>
          <p:cNvSpPr txBox="1"/>
          <p:nvPr/>
        </p:nvSpPr>
        <p:spPr>
          <a:xfrm>
            <a:off x="731520" y="3081528"/>
            <a:ext cx="5074920" cy="548640"/>
          </a:xfrm>
          <a:prstGeom prst="rect">
            <a:avLst/>
          </a:prstGeom>
          <a:noFill/>
        </p:spPr>
        <p:txBody>
          <a:bodyPr wrap="square" anchor="t" lIns="54864" rIns="54864" tIns="27432" bIns="27432">
            <a:spAutoFit/>
          </a:bodyPr>
          <a:lstStyle/>
          <a:p>
            <a:pPr algn="l">
              <a:spcAft>
                <a:spcPts val="400"/>
              </a:spcAft>
            </a:pPr>
            <a:r>
              <a:rPr sz="1500" b="0">
                <a:solidFill>
                  <a:srgbClr val="1F2A37"/>
                </a:solidFill>
                <a:latin typeface="Calibri"/>
              </a:rPr>
              <a:t>25 Ω tail per stage; 2000 synthetic rows</a:t>
            </a:r>
          </a:p>
        </p:txBody>
      </p:sp>
      <p:sp>
        <p:nvSpPr>
          <p:cNvPr id="17" name="Rectangle 16"/>
          <p:cNvSpPr/>
          <p:nvPr/>
        </p:nvSpPr>
        <p:spPr>
          <a:xfrm>
            <a:off x="6217920" y="2514600"/>
            <a:ext cx="5394960" cy="118872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17920" y="2514600"/>
            <a:ext cx="64008" cy="1188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0" y="2606040"/>
            <a:ext cx="5120640" cy="457200"/>
          </a:xfrm>
          <a:prstGeom prst="rect">
            <a:avLst/>
          </a:prstGeom>
          <a:noFill/>
        </p:spPr>
        <p:txBody>
          <a:bodyPr wrap="square" anchor="t" lIns="54864" rIns="54864" tIns="27432" bIns="27432">
            <a:spAutoFit/>
          </a:bodyPr>
          <a:lstStyle/>
          <a:p>
            <a:pPr algn="l">
              <a:spcAft>
                <a:spcPts val="400"/>
              </a:spcAft>
            </a:pPr>
            <a:r>
              <a:rPr sz="1700" b="1">
                <a:solidFill>
                  <a:srgbClr val="0B2545"/>
                </a:solidFill>
                <a:latin typeface="Calibri"/>
              </a:rPr>
              <a:t>0.125 µF per stage, 12 stages</a:t>
            </a:r>
          </a:p>
        </p:txBody>
      </p:sp>
      <p:sp>
        <p:nvSpPr>
          <p:cNvPr id="20" name="TextBox 19"/>
          <p:cNvSpPr txBox="1"/>
          <p:nvPr/>
        </p:nvSpPr>
        <p:spPr>
          <a:xfrm>
            <a:off x="6400800" y="3081528"/>
            <a:ext cx="5074920" cy="548640"/>
          </a:xfrm>
          <a:prstGeom prst="rect">
            <a:avLst/>
          </a:prstGeom>
          <a:noFill/>
        </p:spPr>
        <p:txBody>
          <a:bodyPr wrap="square" anchor="t" lIns="54864" rIns="54864" tIns="27432" bIns="27432">
            <a:spAutoFit/>
          </a:bodyPr>
          <a:lstStyle/>
          <a:p>
            <a:pPr algn="l">
              <a:spcAft>
                <a:spcPts val="400"/>
              </a:spcAft>
            </a:pPr>
            <a:r>
              <a:rPr sz="1500" b="0">
                <a:solidFill>
                  <a:srgbClr val="1F2A37"/>
                </a:solidFill>
                <a:latin typeface="Calibri"/>
              </a:rPr>
              <a:t>520 Ω tail; from the problem statement, page 4</a:t>
            </a:r>
          </a:p>
        </p:txBody>
      </p:sp>
      <p:sp>
        <p:nvSpPr>
          <p:cNvPr id="21" name="Rectangle 20"/>
          <p:cNvSpPr/>
          <p:nvPr/>
        </p:nvSpPr>
        <p:spPr>
          <a:xfrm>
            <a:off x="548640" y="3931920"/>
            <a:ext cx="5394960" cy="109728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3931920"/>
            <a:ext cx="64008" cy="109728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4023359"/>
            <a:ext cx="5120640" cy="457200"/>
          </a:xfrm>
          <a:prstGeom prst="rect">
            <a:avLst/>
          </a:prstGeom>
          <a:noFill/>
        </p:spPr>
        <p:txBody>
          <a:bodyPr wrap="square" anchor="t" lIns="54864" rIns="54864" tIns="27432" bIns="27432">
            <a:spAutoFit/>
          </a:bodyPr>
          <a:lstStyle/>
          <a:p>
            <a:pPr algn="l">
              <a:spcAft>
                <a:spcPts val="400"/>
              </a:spcAft>
            </a:pPr>
            <a:r>
              <a:rPr sz="1700" b="1">
                <a:solidFill>
                  <a:srgbClr val="0B2545"/>
                </a:solidFill>
                <a:latin typeface="Calibri"/>
              </a:rPr>
              <a:t>Used for</a:t>
            </a:r>
          </a:p>
        </p:txBody>
      </p:sp>
      <p:sp>
        <p:nvSpPr>
          <p:cNvPr id="24" name="TextBox 23"/>
          <p:cNvSpPr txBox="1"/>
          <p:nvPr/>
        </p:nvSpPr>
        <p:spPr>
          <a:xfrm>
            <a:off x="731520" y="4498848"/>
            <a:ext cx="5074920" cy="457200"/>
          </a:xfrm>
          <a:prstGeom prst="rect">
            <a:avLst/>
          </a:prstGeom>
          <a:noFill/>
        </p:spPr>
        <p:txBody>
          <a:bodyPr wrap="square" anchor="t" lIns="54864" rIns="54864" tIns="27432" bIns="27432">
            <a:spAutoFit/>
          </a:bodyPr>
          <a:lstStyle/>
          <a:p>
            <a:pPr algn="l">
              <a:spcAft>
                <a:spcPts val="400"/>
              </a:spcAft>
            </a:pPr>
            <a:r>
              <a:rPr sz="1500" b="0">
                <a:solidFill>
                  <a:srgbClr val="1F2A37"/>
                </a:solidFill>
                <a:latin typeface="Calibri"/>
              </a:rPr>
              <a:t>benchmark against their kNN; reproduced to four decimals (9 of 9)</a:t>
            </a:r>
          </a:p>
        </p:txBody>
      </p:sp>
      <p:sp>
        <p:nvSpPr>
          <p:cNvPr id="25" name="Rectangle 24"/>
          <p:cNvSpPr/>
          <p:nvPr/>
        </p:nvSpPr>
        <p:spPr>
          <a:xfrm>
            <a:off x="6217920" y="3931920"/>
            <a:ext cx="5394960" cy="109728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17920" y="3931920"/>
            <a:ext cx="64008" cy="109728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0" y="4023359"/>
            <a:ext cx="5120640" cy="457200"/>
          </a:xfrm>
          <a:prstGeom prst="rect">
            <a:avLst/>
          </a:prstGeom>
          <a:noFill/>
        </p:spPr>
        <p:txBody>
          <a:bodyPr wrap="square" anchor="t" lIns="54864" rIns="54864" tIns="27432" bIns="27432">
            <a:spAutoFit/>
          </a:bodyPr>
          <a:lstStyle/>
          <a:p>
            <a:pPr algn="l">
              <a:spcAft>
                <a:spcPts val="400"/>
              </a:spcAft>
            </a:pPr>
            <a:r>
              <a:rPr sz="1700" b="1">
                <a:solidFill>
                  <a:srgbClr val="0B2545"/>
                </a:solidFill>
                <a:latin typeface="Calibri"/>
              </a:rPr>
              <a:t>Used for</a:t>
            </a:r>
          </a:p>
        </p:txBody>
      </p:sp>
      <p:sp>
        <p:nvSpPr>
          <p:cNvPr id="28" name="TextBox 27"/>
          <p:cNvSpPr txBox="1"/>
          <p:nvPr/>
        </p:nvSpPr>
        <p:spPr>
          <a:xfrm>
            <a:off x="6400800" y="4498848"/>
            <a:ext cx="5074920" cy="457200"/>
          </a:xfrm>
          <a:prstGeom prst="rect">
            <a:avLst/>
          </a:prstGeom>
          <a:noFill/>
        </p:spPr>
        <p:txBody>
          <a:bodyPr wrap="square" anchor="t" lIns="54864" rIns="54864" tIns="27432" bIns="27432">
            <a:spAutoFit/>
          </a:bodyPr>
          <a:lstStyle/>
          <a:p>
            <a:pPr algn="l">
              <a:spcAft>
                <a:spcPts val="400"/>
              </a:spcAft>
            </a:pPr>
            <a:r>
              <a:rPr sz="1500" b="0">
                <a:solidFill>
                  <a:srgbClr val="1F2A37"/>
                </a:solidFill>
                <a:latin typeface="Calibri"/>
              </a:rPr>
              <a:t>the physics, the search, the learned model and the app</a:t>
            </a:r>
          </a:p>
        </p:txBody>
      </p:sp>
      <p:sp>
        <p:nvSpPr>
          <p:cNvPr id="29" name="Rectangle 28"/>
          <p:cNvSpPr/>
          <p:nvPr/>
        </p:nvSpPr>
        <p:spPr>
          <a:xfrm>
            <a:off x="548640" y="5212080"/>
            <a:ext cx="11064240" cy="86868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5212080"/>
            <a:ext cx="64008" cy="868680"/>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5303520"/>
            <a:ext cx="10789920" cy="457200"/>
          </a:xfrm>
          <a:prstGeom prst="rect">
            <a:avLst/>
          </a:prstGeom>
          <a:noFill/>
        </p:spPr>
        <p:txBody>
          <a:bodyPr wrap="square" anchor="t" lIns="54864" rIns="54864" tIns="27432" bIns="27432">
            <a:spAutoFit/>
          </a:bodyPr>
          <a:lstStyle/>
          <a:p>
            <a:pPr algn="l">
              <a:spcAft>
                <a:spcPts val="400"/>
              </a:spcAft>
            </a:pPr>
            <a:r>
              <a:rPr sz="1700" b="1">
                <a:solidFill>
                  <a:srgbClr val="0B2545"/>
                </a:solidFill>
                <a:latin typeface="Calibri"/>
              </a:rPr>
              <a:t>Also from CPRI's workbook</a:t>
            </a:r>
          </a:p>
        </p:txBody>
      </p:sp>
      <p:sp>
        <p:nvSpPr>
          <p:cNvPr id="32" name="TextBox 31"/>
          <p:cNvSpPr txBox="1"/>
          <p:nvPr/>
        </p:nvSpPr>
        <p:spPr>
          <a:xfrm>
            <a:off x="731520" y="5779008"/>
            <a:ext cx="10744200" cy="228600"/>
          </a:xfrm>
          <a:prstGeom prst="rect">
            <a:avLst/>
          </a:prstGeom>
          <a:noFill/>
        </p:spPr>
        <p:txBody>
          <a:bodyPr wrap="square" anchor="t" lIns="54864" rIns="54864" tIns="27432" bIns="27432">
            <a:spAutoFit/>
          </a:bodyPr>
          <a:lstStyle/>
          <a:p>
            <a:pPr algn="l">
              <a:spcAft>
                <a:spcPts val="400"/>
              </a:spcAft>
            </a:pPr>
            <a:r>
              <a:rPr sz="1500" b="0">
                <a:solidFill>
                  <a:srgbClr val="1F2A37"/>
                </a:solidFill>
                <a:latin typeface="Calibri"/>
              </a:rPr>
              <a:t>default divider and stray capacitance; the resistor inventory in the hardware check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11155680" cy="731520"/>
          </a:xfrm>
          <a:prstGeom prst="rect">
            <a:avLst/>
          </a:prstGeom>
          <a:noFill/>
        </p:spPr>
        <p:txBody>
          <a:bodyPr wrap="square" anchor="ctr" lIns="54864" rIns="54864" tIns="27432" bIns="27432">
            <a:spAutoFit/>
          </a:bodyPr>
          <a:lstStyle/>
          <a:p>
            <a:pPr algn="l">
              <a:spcAft>
                <a:spcPts val="400"/>
              </a:spcAft>
            </a:pPr>
            <a:r>
              <a:rPr sz="2800" b="1">
                <a:solidFill>
                  <a:srgbClr val="FFFFFF"/>
                </a:solidFill>
                <a:latin typeface="Calibri"/>
              </a:rPr>
              <a:t>Verification</a:t>
            </a:r>
          </a:p>
        </p:txBody>
      </p:sp>
      <p:sp>
        <p:nvSpPr>
          <p:cNvPr id="5" name="TextBox 4"/>
          <p:cNvSpPr txBox="1"/>
          <p:nvPr/>
        </p:nvSpPr>
        <p:spPr>
          <a:xfrm>
            <a:off x="548640" y="1143000"/>
            <a:ext cx="11155680" cy="457200"/>
          </a:xfrm>
          <a:prstGeom prst="rect">
            <a:avLst/>
          </a:prstGeom>
          <a:noFill/>
        </p:spPr>
        <p:txBody>
          <a:bodyPr wrap="square" anchor="t" lIns="54864" rIns="54864" tIns="27432" bIns="27432">
            <a:spAutoFit/>
          </a:bodyPr>
          <a:lstStyle/>
          <a:p>
            <a:pPr algn="l">
              <a:spcAft>
                <a:spcPts val="400"/>
              </a:spcAft>
            </a:pPr>
            <a:r>
              <a:rPr sz="1600" b="0">
                <a:solidFill>
                  <a:srgbClr val="5B6775"/>
                </a:solidFill>
                <a:latin typeface="Calibri"/>
              </a:rPr>
              <a:t>Every claim is checked, and the build stops on a mismatch</a:t>
            </a:r>
          </a:p>
        </p:txBody>
      </p:sp>
      <p:sp>
        <p:nvSpPr>
          <p:cNvPr id="6" name="Rectangle 5"/>
          <p:cNvSpPr/>
          <p:nvPr/>
        </p:nvSpPr>
        <p:spPr>
          <a:xfrm>
            <a:off x="548640" y="6400800"/>
            <a:ext cx="11091672" cy="9144"/>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28232"/>
            <a:ext cx="8229600" cy="274320"/>
          </a:xfrm>
          <a:prstGeom prst="rect">
            <a:avLst/>
          </a:prstGeom>
          <a:noFill/>
        </p:spPr>
        <p:txBody>
          <a:bodyPr wrap="square" anchor="t" lIns="54864" rIns="54864" tIns="27432" bIns="27432">
            <a:spAutoFit/>
          </a:bodyPr>
          <a:lstStyle/>
          <a:p>
            <a:pPr algn="l">
              <a:spcAft>
                <a:spcPts val="400"/>
              </a:spcAft>
            </a:pPr>
            <a:r>
              <a:rPr sz="1100" b="0">
                <a:solidFill>
                  <a:srgbClr val="5B6775"/>
                </a:solidFill>
                <a:latin typeface="Calibri"/>
              </a:rPr>
              <a:t>PowerNext-AI  ·  CPRI × MIT Bengaluru  ·  Track 1  ·  Impulse Generator Settings</a:t>
            </a:r>
          </a:p>
        </p:txBody>
      </p:sp>
      <p:sp>
        <p:nvSpPr>
          <p:cNvPr id="8" name="TextBox 7"/>
          <p:cNvSpPr txBox="1"/>
          <p:nvPr/>
        </p:nvSpPr>
        <p:spPr>
          <a:xfrm>
            <a:off x="9144000" y="6428232"/>
            <a:ext cx="2496312" cy="274320"/>
          </a:xfrm>
          <a:prstGeom prst="rect">
            <a:avLst/>
          </a:prstGeom>
          <a:noFill/>
        </p:spPr>
        <p:txBody>
          <a:bodyPr wrap="square" anchor="t" lIns="54864" rIns="54864" tIns="27432" bIns="27432">
            <a:spAutoFit/>
          </a:bodyPr>
          <a:lstStyle/>
          <a:p>
            <a:pPr algn="r">
              <a:spcAft>
                <a:spcPts val="400"/>
              </a:spcAft>
            </a:pPr>
            <a:r>
              <a:rPr sz="1100" b="0">
                <a:solidFill>
                  <a:srgbClr val="5B6775"/>
                </a:solidFill>
                <a:latin typeface="Calibri"/>
              </a:rPr>
              <a:t>Team Slayers   |   14</a:t>
            </a:r>
          </a:p>
        </p:txBody>
      </p:sp>
      <p:sp>
        <p:nvSpPr>
          <p:cNvPr id="9" name="Rectangle 8"/>
          <p:cNvSpPr/>
          <p:nvPr/>
        </p:nvSpPr>
        <p:spPr>
          <a:xfrm>
            <a:off x="548640" y="1828800"/>
            <a:ext cx="2606040" cy="283464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4599431"/>
            <a:ext cx="2606040" cy="64008"/>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011680"/>
            <a:ext cx="2606040" cy="914400"/>
          </a:xfrm>
          <a:prstGeom prst="rect">
            <a:avLst/>
          </a:prstGeom>
          <a:noFill/>
        </p:spPr>
        <p:txBody>
          <a:bodyPr wrap="square" anchor="t" lIns="54864" rIns="54864" tIns="27432" bIns="27432">
            <a:spAutoFit/>
          </a:bodyPr>
          <a:lstStyle/>
          <a:p>
            <a:pPr algn="ctr">
              <a:spcAft>
                <a:spcPts val="400"/>
              </a:spcAft>
            </a:pPr>
            <a:r>
              <a:rPr sz="4400" b="1">
                <a:solidFill>
                  <a:srgbClr val="0B2545"/>
                </a:solidFill>
                <a:latin typeface="Calibri"/>
              </a:rPr>
              <a:t>88</a:t>
            </a:r>
          </a:p>
        </p:txBody>
      </p:sp>
      <p:sp>
        <p:nvSpPr>
          <p:cNvPr id="12" name="TextBox 11"/>
          <p:cNvSpPr txBox="1"/>
          <p:nvPr/>
        </p:nvSpPr>
        <p:spPr>
          <a:xfrm>
            <a:off x="685800" y="2971800"/>
            <a:ext cx="2331720" cy="1554480"/>
          </a:xfrm>
          <a:prstGeom prst="rect">
            <a:avLst/>
          </a:prstGeom>
          <a:noFill/>
        </p:spPr>
        <p:txBody>
          <a:bodyPr wrap="square" anchor="t" lIns="54864" rIns="54864" tIns="27432" bIns="27432">
            <a:spAutoFit/>
          </a:bodyPr>
          <a:lstStyle/>
          <a:p>
            <a:pPr algn="ctr">
              <a:spcAft>
                <a:spcPts val="400"/>
              </a:spcAft>
            </a:pPr>
            <a:r>
              <a:rPr sz="1400" b="0">
                <a:solidFill>
                  <a:srgbClr val="5B6775"/>
                </a:solidFill>
                <a:latin typeface="Calibri"/>
              </a:rPr>
              <a:t>Python self-checks pass</a:t>
            </a:r>
          </a:p>
        </p:txBody>
      </p:sp>
      <p:sp>
        <p:nvSpPr>
          <p:cNvPr id="13" name="Rectangle 12"/>
          <p:cNvSpPr/>
          <p:nvPr/>
        </p:nvSpPr>
        <p:spPr>
          <a:xfrm>
            <a:off x="3337560" y="1828800"/>
            <a:ext cx="2606040" cy="283464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37560" y="4599431"/>
            <a:ext cx="2606040" cy="64008"/>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337560" y="2011680"/>
            <a:ext cx="2606040" cy="914400"/>
          </a:xfrm>
          <a:prstGeom prst="rect">
            <a:avLst/>
          </a:prstGeom>
          <a:noFill/>
        </p:spPr>
        <p:txBody>
          <a:bodyPr wrap="square" anchor="t" lIns="54864" rIns="54864" tIns="27432" bIns="27432">
            <a:spAutoFit/>
          </a:bodyPr>
          <a:lstStyle/>
          <a:p>
            <a:pPr algn="ctr">
              <a:spcAft>
                <a:spcPts val="400"/>
              </a:spcAft>
            </a:pPr>
            <a:r>
              <a:rPr sz="4400" b="1">
                <a:solidFill>
                  <a:srgbClr val="0B2545"/>
                </a:solidFill>
                <a:latin typeface="Calibri"/>
              </a:rPr>
              <a:t>9 / 9</a:t>
            </a:r>
          </a:p>
        </p:txBody>
      </p:sp>
      <p:sp>
        <p:nvSpPr>
          <p:cNvPr id="16" name="TextBox 15"/>
          <p:cNvSpPr txBox="1"/>
          <p:nvPr/>
        </p:nvSpPr>
        <p:spPr>
          <a:xfrm>
            <a:off x="3474720" y="2971800"/>
            <a:ext cx="2331720" cy="1554480"/>
          </a:xfrm>
          <a:prstGeom prst="rect">
            <a:avLst/>
          </a:prstGeom>
          <a:noFill/>
        </p:spPr>
        <p:txBody>
          <a:bodyPr wrap="square" anchor="t" lIns="54864" rIns="54864" tIns="27432" bIns="27432">
            <a:spAutoFit/>
          </a:bodyPr>
          <a:lstStyle/>
          <a:p>
            <a:pPr algn="ctr">
              <a:spcAft>
                <a:spcPts val="400"/>
              </a:spcAft>
            </a:pPr>
            <a:r>
              <a:rPr sz="1400" b="0">
                <a:solidFill>
                  <a:srgbClr val="5B6775"/>
                </a:solidFill>
                <a:latin typeface="Calibri"/>
              </a:rPr>
              <a:t>CPRI kNN metrics reproduced to four decimals</a:t>
            </a:r>
          </a:p>
        </p:txBody>
      </p:sp>
      <p:sp>
        <p:nvSpPr>
          <p:cNvPr id="17" name="Rectangle 16"/>
          <p:cNvSpPr/>
          <p:nvPr/>
        </p:nvSpPr>
        <p:spPr>
          <a:xfrm>
            <a:off x="6126480" y="1828800"/>
            <a:ext cx="2606040" cy="283464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26480" y="4599431"/>
            <a:ext cx="2606040" cy="64008"/>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26480" y="2011680"/>
            <a:ext cx="2606040" cy="914400"/>
          </a:xfrm>
          <a:prstGeom prst="rect">
            <a:avLst/>
          </a:prstGeom>
          <a:noFill/>
        </p:spPr>
        <p:txBody>
          <a:bodyPr wrap="square" anchor="t" lIns="54864" rIns="54864" tIns="27432" bIns="27432">
            <a:spAutoFit/>
          </a:bodyPr>
          <a:lstStyle/>
          <a:p>
            <a:pPr algn="ctr">
              <a:spcAft>
                <a:spcPts val="400"/>
              </a:spcAft>
            </a:pPr>
            <a:r>
              <a:rPr sz="4400" b="1">
                <a:solidFill>
                  <a:srgbClr val="0B2545"/>
                </a:solidFill>
                <a:latin typeface="Calibri"/>
              </a:rPr>
              <a:t>192</a:t>
            </a:r>
          </a:p>
        </p:txBody>
      </p:sp>
      <p:sp>
        <p:nvSpPr>
          <p:cNvPr id="20" name="TextBox 19"/>
          <p:cNvSpPr txBox="1"/>
          <p:nvPr/>
        </p:nvSpPr>
        <p:spPr>
          <a:xfrm>
            <a:off x="6263640" y="2971800"/>
            <a:ext cx="2331720" cy="1554480"/>
          </a:xfrm>
          <a:prstGeom prst="rect">
            <a:avLst/>
          </a:prstGeom>
          <a:noFill/>
        </p:spPr>
        <p:txBody>
          <a:bodyPr wrap="square" anchor="t" lIns="54864" rIns="54864" tIns="27432" bIns="27432">
            <a:spAutoFit/>
          </a:bodyPr>
          <a:lstStyle/>
          <a:p>
            <a:pPr algn="ctr">
              <a:spcAft>
                <a:spcPts val="400"/>
              </a:spcAft>
            </a:pPr>
            <a:r>
              <a:rPr sz="1400" b="0">
                <a:solidFill>
                  <a:srgbClr val="5B6775"/>
                </a:solidFill>
                <a:latin typeface="Calibri"/>
              </a:rPr>
              <a:t>browser checks on the finished page</a:t>
            </a:r>
          </a:p>
        </p:txBody>
      </p:sp>
      <p:sp>
        <p:nvSpPr>
          <p:cNvPr id="21" name="Rectangle 20"/>
          <p:cNvSpPr/>
          <p:nvPr/>
        </p:nvSpPr>
        <p:spPr>
          <a:xfrm>
            <a:off x="8915400" y="1828800"/>
            <a:ext cx="2697480" cy="283464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915400" y="4599431"/>
            <a:ext cx="2697480" cy="64008"/>
          </a:xfrm>
          <a:prstGeom prst="rect">
            <a:avLst/>
          </a:prstGeom>
          <a:solidFill>
            <a:srgbClr val="138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15400" y="2011680"/>
            <a:ext cx="2697480" cy="914400"/>
          </a:xfrm>
          <a:prstGeom prst="rect">
            <a:avLst/>
          </a:prstGeom>
          <a:noFill/>
        </p:spPr>
        <p:txBody>
          <a:bodyPr wrap="square" anchor="t" lIns="54864" rIns="54864" tIns="27432" bIns="27432">
            <a:spAutoFit/>
          </a:bodyPr>
          <a:lstStyle/>
          <a:p>
            <a:pPr algn="ctr">
              <a:spcAft>
                <a:spcPts val="400"/>
              </a:spcAft>
            </a:pPr>
            <a:r>
              <a:rPr sz="4400" b="1">
                <a:solidFill>
                  <a:srgbClr val="0B2545"/>
                </a:solidFill>
                <a:latin typeface="Calibri"/>
              </a:rPr>
              <a:t>0</a:t>
            </a:r>
          </a:p>
        </p:txBody>
      </p:sp>
      <p:sp>
        <p:nvSpPr>
          <p:cNvPr id="24" name="TextBox 23"/>
          <p:cNvSpPr txBox="1"/>
          <p:nvPr/>
        </p:nvSpPr>
        <p:spPr>
          <a:xfrm>
            <a:off x="9052560" y="2971800"/>
            <a:ext cx="2423160" cy="1554480"/>
          </a:xfrm>
          <a:prstGeom prst="rect">
            <a:avLst/>
          </a:prstGeom>
          <a:noFill/>
        </p:spPr>
        <p:txBody>
          <a:bodyPr wrap="square" anchor="t" lIns="54864" rIns="54864" tIns="27432" bIns="27432">
            <a:spAutoFit/>
          </a:bodyPr>
          <a:lstStyle/>
          <a:p>
            <a:pPr algn="ctr">
              <a:spcAft>
                <a:spcPts val="400"/>
              </a:spcAft>
            </a:pPr>
            <a:r>
              <a:rPr sz="1400" b="0">
                <a:solidFill>
                  <a:srgbClr val="5B6775"/>
                </a:solidFill>
                <a:latin typeface="Calibri"/>
              </a:rPr>
              <a:t>mismatches allowed between browser and Python</a:t>
            </a:r>
          </a:p>
        </p:txBody>
      </p:sp>
      <p:sp>
        <p:nvSpPr>
          <p:cNvPr id="25" name="TextBox 24"/>
          <p:cNvSpPr txBox="1"/>
          <p:nvPr/>
        </p:nvSpPr>
        <p:spPr>
          <a:xfrm>
            <a:off x="548640" y="5029200"/>
            <a:ext cx="11064240" cy="914400"/>
          </a:xfrm>
          <a:prstGeom prst="rect">
            <a:avLst/>
          </a:prstGeom>
          <a:noFill/>
        </p:spPr>
        <p:txBody>
          <a:bodyPr wrap="square" anchor="t" lIns="54864" rIns="54864" tIns="27432" bIns="27432">
            <a:spAutoFit/>
          </a:bodyPr>
          <a:lstStyle/>
          <a:p>
            <a:pPr algn="l">
              <a:spcAft>
                <a:spcPts val="400"/>
              </a:spcAft>
            </a:pPr>
            <a:r>
              <a:rPr sz="1500" b="0">
                <a:solidFill>
                  <a:srgbClr val="5B6775"/>
                </a:solidFill>
                <a:latin typeface="Calibri"/>
              </a:rPr>
              <a:t>Circuit 18, waveform 12, atmosphere 14, operator input 35, CPRI kNN 9.</a:t>
            </a:r>
          </a:p>
          <a:p>
            <a:pPr algn="l">
              <a:spcAft>
                <a:spcPts val="400"/>
              </a:spcAft>
            </a:pPr>
            <a:r>
              <a:rPr sz="1500" b="0">
                <a:solidFill>
                  <a:srgbClr val="5B6775"/>
                </a:solidFill>
                <a:latin typeface="Calibri"/>
              </a:rPr>
              <a:t>Browser: every equipment, impulse, class and level; wrong inputs; dark mode; phone width.</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11155680" cy="731520"/>
          </a:xfrm>
          <a:prstGeom prst="rect">
            <a:avLst/>
          </a:prstGeom>
          <a:noFill/>
        </p:spPr>
        <p:txBody>
          <a:bodyPr wrap="square" anchor="ctr" lIns="54864" rIns="54864" tIns="27432" bIns="27432">
            <a:spAutoFit/>
          </a:bodyPr>
          <a:lstStyle/>
          <a:p>
            <a:pPr algn="l">
              <a:spcAft>
                <a:spcPts val="400"/>
              </a:spcAft>
            </a:pPr>
            <a:r>
              <a:rPr sz="2800" b="1">
                <a:solidFill>
                  <a:srgbClr val="FFFFFF"/>
                </a:solidFill>
                <a:latin typeface="Calibri"/>
              </a:rPr>
              <a:t>Tools and technology</a:t>
            </a:r>
          </a:p>
        </p:txBody>
      </p:sp>
      <p:sp>
        <p:nvSpPr>
          <p:cNvPr id="5" name="TextBox 4"/>
          <p:cNvSpPr txBox="1"/>
          <p:nvPr/>
        </p:nvSpPr>
        <p:spPr>
          <a:xfrm>
            <a:off x="548640" y="1143000"/>
            <a:ext cx="11155680" cy="457200"/>
          </a:xfrm>
          <a:prstGeom prst="rect">
            <a:avLst/>
          </a:prstGeom>
          <a:noFill/>
        </p:spPr>
        <p:txBody>
          <a:bodyPr wrap="square" anchor="t" lIns="54864" rIns="54864" tIns="27432" bIns="27432">
            <a:spAutoFit/>
          </a:bodyPr>
          <a:lstStyle/>
          <a:p>
            <a:pPr algn="l">
              <a:spcAft>
                <a:spcPts val="400"/>
              </a:spcAft>
            </a:pPr>
            <a:r>
              <a:rPr sz="1600" b="0">
                <a:solidFill>
                  <a:srgbClr val="5B6775"/>
                </a:solidFill>
                <a:latin typeface="Calibri"/>
              </a:rPr>
              <a:t>Open-source stack; no server, no licence, runs offline</a:t>
            </a:r>
          </a:p>
        </p:txBody>
      </p:sp>
      <p:sp>
        <p:nvSpPr>
          <p:cNvPr id="6" name="Rectangle 5"/>
          <p:cNvSpPr/>
          <p:nvPr/>
        </p:nvSpPr>
        <p:spPr>
          <a:xfrm>
            <a:off x="548640" y="6400800"/>
            <a:ext cx="11091672" cy="9144"/>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28232"/>
            <a:ext cx="8229600" cy="274320"/>
          </a:xfrm>
          <a:prstGeom prst="rect">
            <a:avLst/>
          </a:prstGeom>
          <a:noFill/>
        </p:spPr>
        <p:txBody>
          <a:bodyPr wrap="square" anchor="t" lIns="54864" rIns="54864" tIns="27432" bIns="27432">
            <a:spAutoFit/>
          </a:bodyPr>
          <a:lstStyle/>
          <a:p>
            <a:pPr algn="l">
              <a:spcAft>
                <a:spcPts val="400"/>
              </a:spcAft>
            </a:pPr>
            <a:r>
              <a:rPr sz="1100" b="0">
                <a:solidFill>
                  <a:srgbClr val="5B6775"/>
                </a:solidFill>
                <a:latin typeface="Calibri"/>
              </a:rPr>
              <a:t>PowerNext-AI  ·  CPRI × MIT Bengaluru  ·  Track 1  ·  Impulse Generator Settings</a:t>
            </a:r>
          </a:p>
        </p:txBody>
      </p:sp>
      <p:sp>
        <p:nvSpPr>
          <p:cNvPr id="8" name="TextBox 7"/>
          <p:cNvSpPr txBox="1"/>
          <p:nvPr/>
        </p:nvSpPr>
        <p:spPr>
          <a:xfrm>
            <a:off x="9144000" y="6428232"/>
            <a:ext cx="2496312" cy="274320"/>
          </a:xfrm>
          <a:prstGeom prst="rect">
            <a:avLst/>
          </a:prstGeom>
          <a:noFill/>
        </p:spPr>
        <p:txBody>
          <a:bodyPr wrap="square" anchor="t" lIns="54864" rIns="54864" tIns="27432" bIns="27432">
            <a:spAutoFit/>
          </a:bodyPr>
          <a:lstStyle/>
          <a:p>
            <a:pPr algn="r">
              <a:spcAft>
                <a:spcPts val="400"/>
              </a:spcAft>
            </a:pPr>
            <a:r>
              <a:rPr sz="1100" b="0">
                <a:solidFill>
                  <a:srgbClr val="5B6775"/>
                </a:solidFill>
                <a:latin typeface="Calibri"/>
              </a:rPr>
              <a:t>Team Slayers   |   15</a:t>
            </a:r>
          </a:p>
        </p:txBody>
      </p:sp>
      <p:sp>
        <p:nvSpPr>
          <p:cNvPr id="9" name="Rectangle 8"/>
          <p:cNvSpPr/>
          <p:nvPr/>
        </p:nvSpPr>
        <p:spPr>
          <a:xfrm>
            <a:off x="548640" y="1783080"/>
            <a:ext cx="3593592" cy="205740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783080"/>
            <a:ext cx="64008" cy="2057400"/>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874519"/>
            <a:ext cx="3319272" cy="457200"/>
          </a:xfrm>
          <a:prstGeom prst="rect">
            <a:avLst/>
          </a:prstGeom>
          <a:noFill/>
        </p:spPr>
        <p:txBody>
          <a:bodyPr wrap="square" anchor="t" lIns="54864" rIns="54864" tIns="27432" bIns="27432">
            <a:spAutoFit/>
          </a:bodyPr>
          <a:lstStyle/>
          <a:p>
            <a:pPr algn="l">
              <a:spcAft>
                <a:spcPts val="400"/>
              </a:spcAft>
            </a:pPr>
            <a:r>
              <a:rPr sz="1900" b="1">
                <a:solidFill>
                  <a:srgbClr val="0B2545"/>
                </a:solidFill>
                <a:latin typeface="Calibri"/>
              </a:rPr>
              <a:t>Modelling</a:t>
            </a:r>
          </a:p>
        </p:txBody>
      </p:sp>
      <p:sp>
        <p:nvSpPr>
          <p:cNvPr id="12" name="TextBox 11"/>
          <p:cNvSpPr txBox="1"/>
          <p:nvPr/>
        </p:nvSpPr>
        <p:spPr>
          <a:xfrm>
            <a:off x="731520" y="2350008"/>
            <a:ext cx="3273552" cy="1417320"/>
          </a:xfrm>
          <a:prstGeom prst="rect">
            <a:avLst/>
          </a:prstGeom>
          <a:noFill/>
        </p:spPr>
        <p:txBody>
          <a:bodyPr wrap="square" anchor="t" lIns="54864" rIns="54864" tIns="27432" bIns="27432">
            <a:spAutoFit/>
          </a:bodyPr>
          <a:lstStyle/>
          <a:p>
            <a:pPr algn="l">
              <a:spcAft>
                <a:spcPts val="400"/>
              </a:spcAft>
            </a:pPr>
            <a:r>
              <a:rPr sz="1600" b="0">
                <a:solidFill>
                  <a:srgbClr val="1F2A37"/>
                </a:solidFill>
                <a:latin typeface="Calibri"/>
              </a:rPr>
              <a:t>Python 3</a:t>
            </a:r>
          </a:p>
          <a:p>
            <a:pPr algn="l">
              <a:spcAft>
                <a:spcPts val="400"/>
              </a:spcAft>
            </a:pPr>
            <a:r>
              <a:rPr sz="1600" b="0">
                <a:solidFill>
                  <a:srgbClr val="1F2A37"/>
                </a:solidFill>
                <a:latin typeface="Calibri"/>
              </a:rPr>
              <a:t>NumPy, SciPy</a:t>
            </a:r>
          </a:p>
          <a:p>
            <a:pPr algn="l">
              <a:spcAft>
                <a:spcPts val="400"/>
              </a:spcAft>
            </a:pPr>
            <a:r>
              <a:rPr sz="1600" b="0">
                <a:solidFill>
                  <a:srgbClr val="1F2A37"/>
                </a:solidFill>
                <a:latin typeface="Calibri"/>
              </a:rPr>
              <a:t>pandas</a:t>
            </a:r>
          </a:p>
        </p:txBody>
      </p:sp>
      <p:sp>
        <p:nvSpPr>
          <p:cNvPr id="13" name="Rectangle 12"/>
          <p:cNvSpPr/>
          <p:nvPr/>
        </p:nvSpPr>
        <p:spPr>
          <a:xfrm>
            <a:off x="4270248" y="1783080"/>
            <a:ext cx="3593592" cy="205740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70248" y="1783080"/>
            <a:ext cx="64008" cy="2057400"/>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53128" y="1874519"/>
            <a:ext cx="3319272" cy="457200"/>
          </a:xfrm>
          <a:prstGeom prst="rect">
            <a:avLst/>
          </a:prstGeom>
          <a:noFill/>
        </p:spPr>
        <p:txBody>
          <a:bodyPr wrap="square" anchor="t" lIns="54864" rIns="54864" tIns="27432" bIns="27432">
            <a:spAutoFit/>
          </a:bodyPr>
          <a:lstStyle/>
          <a:p>
            <a:pPr algn="l">
              <a:spcAft>
                <a:spcPts val="400"/>
              </a:spcAft>
            </a:pPr>
            <a:r>
              <a:rPr sz="1900" b="1">
                <a:solidFill>
                  <a:srgbClr val="0B2545"/>
                </a:solidFill>
                <a:latin typeface="Calibri"/>
              </a:rPr>
              <a:t>Machine learning</a:t>
            </a:r>
          </a:p>
        </p:txBody>
      </p:sp>
      <p:sp>
        <p:nvSpPr>
          <p:cNvPr id="16" name="TextBox 15"/>
          <p:cNvSpPr txBox="1"/>
          <p:nvPr/>
        </p:nvSpPr>
        <p:spPr>
          <a:xfrm>
            <a:off x="4453128" y="2350008"/>
            <a:ext cx="3273552" cy="1417320"/>
          </a:xfrm>
          <a:prstGeom prst="rect">
            <a:avLst/>
          </a:prstGeom>
          <a:noFill/>
        </p:spPr>
        <p:txBody>
          <a:bodyPr wrap="square" anchor="t" lIns="54864" rIns="54864" tIns="27432" bIns="27432">
            <a:spAutoFit/>
          </a:bodyPr>
          <a:lstStyle/>
          <a:p>
            <a:pPr algn="l">
              <a:spcAft>
                <a:spcPts val="400"/>
              </a:spcAft>
            </a:pPr>
            <a:r>
              <a:rPr sz="1600" b="0">
                <a:solidFill>
                  <a:srgbClr val="1F2A37"/>
                </a:solidFill>
                <a:latin typeface="Calibri"/>
              </a:rPr>
              <a:t>scikit-learn</a:t>
            </a:r>
          </a:p>
          <a:p>
            <a:pPr algn="l">
              <a:spcAft>
                <a:spcPts val="400"/>
              </a:spcAft>
            </a:pPr>
            <a:r>
              <a:rPr sz="1600" b="0">
                <a:solidFill>
                  <a:srgbClr val="1F2A37"/>
                </a:solidFill>
                <a:latin typeface="Calibri"/>
              </a:rPr>
              <a:t>Gradient boosting, Ridge, kNN, MLP</a:t>
            </a:r>
          </a:p>
          <a:p>
            <a:pPr algn="l">
              <a:spcAft>
                <a:spcPts val="400"/>
              </a:spcAft>
            </a:pPr>
            <a:r>
              <a:rPr sz="1600" b="0">
                <a:solidFill>
                  <a:srgbClr val="1F2A37"/>
                </a:solidFill>
                <a:latin typeface="Calibri"/>
              </a:rPr>
              <a:t>SciPy least squares</a:t>
            </a:r>
          </a:p>
        </p:txBody>
      </p:sp>
      <p:sp>
        <p:nvSpPr>
          <p:cNvPr id="17" name="Rectangle 16"/>
          <p:cNvSpPr/>
          <p:nvPr/>
        </p:nvSpPr>
        <p:spPr>
          <a:xfrm>
            <a:off x="7991856" y="1783080"/>
            <a:ext cx="3593592" cy="205740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991856" y="1783080"/>
            <a:ext cx="64008" cy="205740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74736" y="1874519"/>
            <a:ext cx="3319272" cy="457200"/>
          </a:xfrm>
          <a:prstGeom prst="rect">
            <a:avLst/>
          </a:prstGeom>
          <a:noFill/>
        </p:spPr>
        <p:txBody>
          <a:bodyPr wrap="square" anchor="t" lIns="54864" rIns="54864" tIns="27432" bIns="27432">
            <a:spAutoFit/>
          </a:bodyPr>
          <a:lstStyle/>
          <a:p>
            <a:pPr algn="l">
              <a:spcAft>
                <a:spcPts val="400"/>
              </a:spcAft>
            </a:pPr>
            <a:r>
              <a:rPr sz="1900" b="1">
                <a:solidFill>
                  <a:srgbClr val="0B2545"/>
                </a:solidFill>
                <a:latin typeface="Calibri"/>
              </a:rPr>
              <a:t>Application</a:t>
            </a:r>
          </a:p>
        </p:txBody>
      </p:sp>
      <p:sp>
        <p:nvSpPr>
          <p:cNvPr id="20" name="TextBox 19"/>
          <p:cNvSpPr txBox="1"/>
          <p:nvPr/>
        </p:nvSpPr>
        <p:spPr>
          <a:xfrm>
            <a:off x="8174736" y="2350008"/>
            <a:ext cx="3273552" cy="1417320"/>
          </a:xfrm>
          <a:prstGeom prst="rect">
            <a:avLst/>
          </a:prstGeom>
          <a:noFill/>
        </p:spPr>
        <p:txBody>
          <a:bodyPr wrap="square" anchor="t" lIns="54864" rIns="54864" tIns="27432" bIns="27432">
            <a:spAutoFit/>
          </a:bodyPr>
          <a:lstStyle/>
          <a:p>
            <a:pPr algn="l">
              <a:spcAft>
                <a:spcPts val="400"/>
              </a:spcAft>
            </a:pPr>
            <a:r>
              <a:rPr sz="1600" b="0">
                <a:solidFill>
                  <a:srgbClr val="1F2A37"/>
                </a:solidFill>
                <a:latin typeface="Calibri"/>
              </a:rPr>
              <a:t>HTML, CSS, JavaScript</a:t>
            </a:r>
          </a:p>
          <a:p>
            <a:pPr algn="l">
              <a:spcAft>
                <a:spcPts val="400"/>
              </a:spcAft>
            </a:pPr>
            <a:r>
              <a:rPr sz="1600" b="0">
                <a:solidFill>
                  <a:srgbClr val="1F2A37"/>
                </a:solidFill>
                <a:latin typeface="Calibri"/>
              </a:rPr>
              <a:t>No framework, no server</a:t>
            </a:r>
          </a:p>
          <a:p>
            <a:pPr algn="l">
              <a:spcAft>
                <a:spcPts val="400"/>
              </a:spcAft>
            </a:pPr>
            <a:r>
              <a:rPr sz="1600" b="0">
                <a:solidFill>
                  <a:srgbClr val="1F2A37"/>
                </a:solidFill>
                <a:latin typeface="Calibri"/>
              </a:rPr>
              <a:t>Trees exported to JSON</a:t>
            </a:r>
          </a:p>
        </p:txBody>
      </p:sp>
      <p:sp>
        <p:nvSpPr>
          <p:cNvPr id="21" name="Rectangle 20"/>
          <p:cNvSpPr/>
          <p:nvPr/>
        </p:nvSpPr>
        <p:spPr>
          <a:xfrm>
            <a:off x="548640" y="4023360"/>
            <a:ext cx="3593592" cy="205740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4023360"/>
            <a:ext cx="64008" cy="205740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4114800"/>
            <a:ext cx="3319272" cy="457200"/>
          </a:xfrm>
          <a:prstGeom prst="rect">
            <a:avLst/>
          </a:prstGeom>
          <a:noFill/>
        </p:spPr>
        <p:txBody>
          <a:bodyPr wrap="square" anchor="t" lIns="54864" rIns="54864" tIns="27432" bIns="27432">
            <a:spAutoFit/>
          </a:bodyPr>
          <a:lstStyle/>
          <a:p>
            <a:pPr algn="l">
              <a:spcAft>
                <a:spcPts val="400"/>
              </a:spcAft>
            </a:pPr>
            <a:r>
              <a:rPr sz="1900" b="1">
                <a:solidFill>
                  <a:srgbClr val="0B2545"/>
                </a:solidFill>
                <a:latin typeface="Calibri"/>
              </a:rPr>
              <a:t>Standards</a:t>
            </a:r>
          </a:p>
        </p:txBody>
      </p:sp>
      <p:sp>
        <p:nvSpPr>
          <p:cNvPr id="24" name="TextBox 23"/>
          <p:cNvSpPr txBox="1"/>
          <p:nvPr/>
        </p:nvSpPr>
        <p:spPr>
          <a:xfrm>
            <a:off x="731520" y="4590288"/>
            <a:ext cx="3273552" cy="1417320"/>
          </a:xfrm>
          <a:prstGeom prst="rect">
            <a:avLst/>
          </a:prstGeom>
          <a:noFill/>
        </p:spPr>
        <p:txBody>
          <a:bodyPr wrap="square" anchor="t" lIns="54864" rIns="54864" tIns="27432" bIns="27432">
            <a:spAutoFit/>
          </a:bodyPr>
          <a:lstStyle/>
          <a:p>
            <a:pPr algn="l">
              <a:spcAft>
                <a:spcPts val="400"/>
              </a:spcAft>
            </a:pPr>
            <a:r>
              <a:rPr sz="1600" b="0">
                <a:solidFill>
                  <a:srgbClr val="1F2A37"/>
                </a:solidFill>
                <a:latin typeface="Calibri"/>
              </a:rPr>
              <a:t>IEC 60060-1</a:t>
            </a:r>
          </a:p>
          <a:p>
            <a:pPr algn="l">
              <a:spcAft>
                <a:spcPts val="400"/>
              </a:spcAft>
            </a:pPr>
            <a:r>
              <a:rPr sz="1600" b="0">
                <a:solidFill>
                  <a:srgbClr val="1F2A37"/>
                </a:solidFill>
                <a:latin typeface="Calibri"/>
              </a:rPr>
              <a:t>IEC 60071</a:t>
            </a:r>
          </a:p>
          <a:p>
            <a:pPr algn="l">
              <a:spcAft>
                <a:spcPts val="400"/>
              </a:spcAft>
            </a:pPr>
            <a:r>
              <a:rPr sz="1600" b="0">
                <a:solidFill>
                  <a:srgbClr val="1F2A37"/>
                </a:solidFill>
                <a:latin typeface="Calibri"/>
              </a:rPr>
              <a:t>Kuffel, High Voltage Engineering</a:t>
            </a:r>
          </a:p>
        </p:txBody>
      </p:sp>
      <p:sp>
        <p:nvSpPr>
          <p:cNvPr id="25" name="Rectangle 24"/>
          <p:cNvSpPr/>
          <p:nvPr/>
        </p:nvSpPr>
        <p:spPr>
          <a:xfrm>
            <a:off x="4270248" y="4023360"/>
            <a:ext cx="3593592" cy="205740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270248" y="4023360"/>
            <a:ext cx="64008" cy="205740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453128" y="4114800"/>
            <a:ext cx="3319272" cy="457200"/>
          </a:xfrm>
          <a:prstGeom prst="rect">
            <a:avLst/>
          </a:prstGeom>
          <a:noFill/>
        </p:spPr>
        <p:txBody>
          <a:bodyPr wrap="square" anchor="t" lIns="54864" rIns="54864" tIns="27432" bIns="27432">
            <a:spAutoFit/>
          </a:bodyPr>
          <a:lstStyle/>
          <a:p>
            <a:pPr algn="l">
              <a:spcAft>
                <a:spcPts val="400"/>
              </a:spcAft>
            </a:pPr>
            <a:r>
              <a:rPr sz="1900" b="1">
                <a:solidFill>
                  <a:srgbClr val="0B2545"/>
                </a:solidFill>
                <a:latin typeface="Calibri"/>
              </a:rPr>
              <a:t>Testing</a:t>
            </a:r>
          </a:p>
        </p:txBody>
      </p:sp>
      <p:sp>
        <p:nvSpPr>
          <p:cNvPr id="28" name="TextBox 27"/>
          <p:cNvSpPr txBox="1"/>
          <p:nvPr/>
        </p:nvSpPr>
        <p:spPr>
          <a:xfrm>
            <a:off x="4453128" y="4590288"/>
            <a:ext cx="3273552" cy="1417320"/>
          </a:xfrm>
          <a:prstGeom prst="rect">
            <a:avLst/>
          </a:prstGeom>
          <a:noFill/>
        </p:spPr>
        <p:txBody>
          <a:bodyPr wrap="square" anchor="t" lIns="54864" rIns="54864" tIns="27432" bIns="27432">
            <a:spAutoFit/>
          </a:bodyPr>
          <a:lstStyle/>
          <a:p>
            <a:pPr algn="l">
              <a:spcAft>
                <a:spcPts val="400"/>
              </a:spcAft>
            </a:pPr>
            <a:r>
              <a:rPr sz="1600" b="0">
                <a:solidFill>
                  <a:srgbClr val="1F2A37"/>
                </a:solidFill>
                <a:latin typeface="Calibri"/>
              </a:rPr>
              <a:t>Playwright, Chromium</a:t>
            </a:r>
          </a:p>
          <a:p>
            <a:pPr algn="l">
              <a:spcAft>
                <a:spcPts val="400"/>
              </a:spcAft>
            </a:pPr>
            <a:r>
              <a:rPr sz="1600" b="0">
                <a:solidFill>
                  <a:srgbClr val="1F2A37"/>
                </a:solidFill>
                <a:latin typeface="Calibri"/>
              </a:rPr>
              <a:t>Node.js cross-checks</a:t>
            </a:r>
          </a:p>
          <a:p>
            <a:pPr algn="l">
              <a:spcAft>
                <a:spcPts val="400"/>
              </a:spcAft>
            </a:pPr>
            <a:r>
              <a:rPr sz="1600" b="0">
                <a:solidFill>
                  <a:srgbClr val="1F2A37"/>
                </a:solidFill>
                <a:latin typeface="Calibri"/>
              </a:rPr>
              <a:t>Paired Wilcoxon tests</a:t>
            </a:r>
          </a:p>
        </p:txBody>
      </p:sp>
      <p:sp>
        <p:nvSpPr>
          <p:cNvPr id="29" name="Rectangle 28"/>
          <p:cNvSpPr/>
          <p:nvPr/>
        </p:nvSpPr>
        <p:spPr>
          <a:xfrm>
            <a:off x="7991856" y="4023360"/>
            <a:ext cx="3593592" cy="205740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991856" y="4023360"/>
            <a:ext cx="64008" cy="205740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174736" y="4114800"/>
            <a:ext cx="3319272" cy="457200"/>
          </a:xfrm>
          <a:prstGeom prst="rect">
            <a:avLst/>
          </a:prstGeom>
          <a:noFill/>
        </p:spPr>
        <p:txBody>
          <a:bodyPr wrap="square" anchor="t" lIns="54864" rIns="54864" tIns="27432" bIns="27432">
            <a:spAutoFit/>
          </a:bodyPr>
          <a:lstStyle/>
          <a:p>
            <a:pPr algn="l">
              <a:spcAft>
                <a:spcPts val="400"/>
              </a:spcAft>
            </a:pPr>
            <a:r>
              <a:rPr sz="1900" b="1">
                <a:solidFill>
                  <a:srgbClr val="0B2545"/>
                </a:solidFill>
                <a:latin typeface="Calibri"/>
              </a:rPr>
              <a:t>Delivery</a:t>
            </a:r>
          </a:p>
        </p:txBody>
      </p:sp>
      <p:sp>
        <p:nvSpPr>
          <p:cNvPr id="32" name="TextBox 31"/>
          <p:cNvSpPr txBox="1"/>
          <p:nvPr/>
        </p:nvSpPr>
        <p:spPr>
          <a:xfrm>
            <a:off x="8174736" y="4590288"/>
            <a:ext cx="3273552" cy="1417320"/>
          </a:xfrm>
          <a:prstGeom prst="rect">
            <a:avLst/>
          </a:prstGeom>
          <a:noFill/>
        </p:spPr>
        <p:txBody>
          <a:bodyPr wrap="square" anchor="t" lIns="54864" rIns="54864" tIns="27432" bIns="27432">
            <a:spAutoFit/>
          </a:bodyPr>
          <a:lstStyle/>
          <a:p>
            <a:pPr algn="l">
              <a:spcAft>
                <a:spcPts val="400"/>
              </a:spcAft>
            </a:pPr>
            <a:r>
              <a:rPr sz="1600" b="0">
                <a:solidFill>
                  <a:srgbClr val="1F2A37"/>
                </a:solidFill>
                <a:latin typeface="Calibri"/>
              </a:rPr>
              <a:t>Git, GitHub</a:t>
            </a:r>
          </a:p>
          <a:p>
            <a:pPr algn="l">
              <a:spcAft>
                <a:spcPts val="400"/>
              </a:spcAft>
            </a:pPr>
            <a:r>
              <a:rPr sz="1600" b="0">
                <a:solidFill>
                  <a:srgbClr val="1F2A37"/>
                </a:solidFill>
                <a:latin typeface="Calibri"/>
              </a:rPr>
              <a:t>python-pptx, ffmpeg</a:t>
            </a:r>
          </a:p>
          <a:p>
            <a:pPr algn="l">
              <a:spcAft>
                <a:spcPts val="400"/>
              </a:spcAft>
            </a:pPr>
            <a:r>
              <a:rPr sz="1600" b="0">
                <a:solidFill>
                  <a:srgbClr val="1F2A37"/>
                </a:solidFill>
                <a:latin typeface="Calibri"/>
              </a:rPr>
              <a:t>IBM Plex typeface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11155680" cy="731520"/>
          </a:xfrm>
          <a:prstGeom prst="rect">
            <a:avLst/>
          </a:prstGeom>
          <a:noFill/>
        </p:spPr>
        <p:txBody>
          <a:bodyPr wrap="square" anchor="ctr" lIns="54864" rIns="54864" tIns="27432" bIns="27432">
            <a:spAutoFit/>
          </a:bodyPr>
          <a:lstStyle/>
          <a:p>
            <a:pPr algn="l">
              <a:spcAft>
                <a:spcPts val="400"/>
              </a:spcAft>
            </a:pPr>
            <a:r>
              <a:rPr sz="2800" b="1">
                <a:solidFill>
                  <a:srgbClr val="FFFFFF"/>
                </a:solidFill>
                <a:latin typeface="Calibri"/>
              </a:rPr>
              <a:t>Way forward</a:t>
            </a:r>
          </a:p>
        </p:txBody>
      </p:sp>
      <p:sp>
        <p:nvSpPr>
          <p:cNvPr id="5" name="TextBox 4"/>
          <p:cNvSpPr txBox="1"/>
          <p:nvPr/>
        </p:nvSpPr>
        <p:spPr>
          <a:xfrm>
            <a:off x="548640" y="1143000"/>
            <a:ext cx="11155680" cy="457200"/>
          </a:xfrm>
          <a:prstGeom prst="rect">
            <a:avLst/>
          </a:prstGeom>
          <a:noFill/>
        </p:spPr>
        <p:txBody>
          <a:bodyPr wrap="square" anchor="t" lIns="54864" rIns="54864" tIns="27432" bIns="27432">
            <a:spAutoFit/>
          </a:bodyPr>
          <a:lstStyle/>
          <a:p>
            <a:pPr algn="l">
              <a:spcAft>
                <a:spcPts val="400"/>
              </a:spcAft>
            </a:pPr>
            <a:r>
              <a:rPr sz="1600" b="0">
                <a:solidFill>
                  <a:srgbClr val="5B6775"/>
                </a:solidFill>
                <a:latin typeface="Calibri"/>
              </a:rPr>
              <a:t>What real trial shots from CPRI would unlock</a:t>
            </a:r>
          </a:p>
        </p:txBody>
      </p:sp>
      <p:sp>
        <p:nvSpPr>
          <p:cNvPr id="6" name="Rectangle 5"/>
          <p:cNvSpPr/>
          <p:nvPr/>
        </p:nvSpPr>
        <p:spPr>
          <a:xfrm>
            <a:off x="548640" y="6400800"/>
            <a:ext cx="11091672" cy="9144"/>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28232"/>
            <a:ext cx="8229600" cy="274320"/>
          </a:xfrm>
          <a:prstGeom prst="rect">
            <a:avLst/>
          </a:prstGeom>
          <a:noFill/>
        </p:spPr>
        <p:txBody>
          <a:bodyPr wrap="square" anchor="t" lIns="54864" rIns="54864" tIns="27432" bIns="27432">
            <a:spAutoFit/>
          </a:bodyPr>
          <a:lstStyle/>
          <a:p>
            <a:pPr algn="l">
              <a:spcAft>
                <a:spcPts val="400"/>
              </a:spcAft>
            </a:pPr>
            <a:r>
              <a:rPr sz="1100" b="0">
                <a:solidFill>
                  <a:srgbClr val="5B6775"/>
                </a:solidFill>
                <a:latin typeface="Calibri"/>
              </a:rPr>
              <a:t>PowerNext-AI  ·  CPRI × MIT Bengaluru  ·  Track 1  ·  Impulse Generator Settings</a:t>
            </a:r>
          </a:p>
        </p:txBody>
      </p:sp>
      <p:sp>
        <p:nvSpPr>
          <p:cNvPr id="8" name="TextBox 7"/>
          <p:cNvSpPr txBox="1"/>
          <p:nvPr/>
        </p:nvSpPr>
        <p:spPr>
          <a:xfrm>
            <a:off x="9144000" y="6428232"/>
            <a:ext cx="2496312" cy="274320"/>
          </a:xfrm>
          <a:prstGeom prst="rect">
            <a:avLst/>
          </a:prstGeom>
          <a:noFill/>
        </p:spPr>
        <p:txBody>
          <a:bodyPr wrap="square" anchor="t" lIns="54864" rIns="54864" tIns="27432" bIns="27432">
            <a:spAutoFit/>
          </a:bodyPr>
          <a:lstStyle/>
          <a:p>
            <a:pPr algn="r">
              <a:spcAft>
                <a:spcPts val="400"/>
              </a:spcAft>
            </a:pPr>
            <a:r>
              <a:rPr sz="1100" b="0">
                <a:solidFill>
                  <a:srgbClr val="5B6775"/>
                </a:solidFill>
                <a:latin typeface="Calibri"/>
              </a:rPr>
              <a:t>Team Slayers   |   16</a:t>
            </a:r>
          </a:p>
        </p:txBody>
      </p:sp>
      <p:sp>
        <p:nvSpPr>
          <p:cNvPr id="9" name="Rectangle 8"/>
          <p:cNvSpPr/>
          <p:nvPr/>
        </p:nvSpPr>
        <p:spPr>
          <a:xfrm>
            <a:off x="548640" y="1828800"/>
            <a:ext cx="3566160" cy="292608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828800"/>
            <a:ext cx="64008" cy="292608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920240"/>
            <a:ext cx="3291839" cy="457200"/>
          </a:xfrm>
          <a:prstGeom prst="rect">
            <a:avLst/>
          </a:prstGeom>
          <a:noFill/>
        </p:spPr>
        <p:txBody>
          <a:bodyPr wrap="square" anchor="t" lIns="54864" rIns="54864" tIns="27432" bIns="27432">
            <a:spAutoFit/>
          </a:bodyPr>
          <a:lstStyle/>
          <a:p>
            <a:pPr algn="l">
              <a:spcAft>
                <a:spcPts val="400"/>
              </a:spcAft>
            </a:pPr>
            <a:r>
              <a:rPr sz="2000" b="1">
                <a:solidFill>
                  <a:srgbClr val="0B2545"/>
                </a:solidFill>
                <a:latin typeface="Calibri"/>
              </a:rPr>
              <a:t>Retrain on real shots</a:t>
            </a:r>
          </a:p>
        </p:txBody>
      </p:sp>
      <p:sp>
        <p:nvSpPr>
          <p:cNvPr id="12" name="TextBox 11"/>
          <p:cNvSpPr txBox="1"/>
          <p:nvPr/>
        </p:nvSpPr>
        <p:spPr>
          <a:xfrm>
            <a:off x="731520" y="2395728"/>
            <a:ext cx="3246120" cy="2286000"/>
          </a:xfrm>
          <a:prstGeom prst="rect">
            <a:avLst/>
          </a:prstGeom>
          <a:noFill/>
        </p:spPr>
        <p:txBody>
          <a:bodyPr wrap="square" anchor="t" lIns="54864" rIns="54864" tIns="27432" bIns="27432">
            <a:spAutoFit/>
          </a:bodyPr>
          <a:lstStyle/>
          <a:p>
            <a:pPr algn="l">
              <a:spcAft>
                <a:spcPts val="400"/>
              </a:spcAft>
            </a:pPr>
            <a:r>
              <a:rPr sz="1600" b="0">
                <a:solidFill>
                  <a:srgbClr val="1F2A37"/>
                </a:solidFill>
                <a:latin typeface="Calibri"/>
              </a:rPr>
              <a:t>Replace the simulated hall's log with CPRI's measured trial shots</a:t>
            </a:r>
          </a:p>
          <a:p>
            <a:pPr algn="l">
              <a:spcAft>
                <a:spcPts val="400"/>
              </a:spcAft>
            </a:pPr>
            <a:r>
              <a:rPr sz="1600" b="0">
                <a:solidFill>
                  <a:srgbClr val="1F2A37"/>
                </a:solidFill>
                <a:latin typeface="Calibri"/>
              </a:rPr>
              <a:t>Re-run the benchmark and the paired tests</a:t>
            </a:r>
          </a:p>
        </p:txBody>
      </p:sp>
      <p:sp>
        <p:nvSpPr>
          <p:cNvPr id="13" name="Rectangle 12"/>
          <p:cNvSpPr/>
          <p:nvPr/>
        </p:nvSpPr>
        <p:spPr>
          <a:xfrm>
            <a:off x="4315968" y="1828800"/>
            <a:ext cx="3566160" cy="292608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15968" y="1828800"/>
            <a:ext cx="64008" cy="2926080"/>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98848" y="1920240"/>
            <a:ext cx="3291839" cy="457200"/>
          </a:xfrm>
          <a:prstGeom prst="rect">
            <a:avLst/>
          </a:prstGeom>
          <a:noFill/>
        </p:spPr>
        <p:txBody>
          <a:bodyPr wrap="square" anchor="t" lIns="54864" rIns="54864" tIns="27432" bIns="27432">
            <a:spAutoFit/>
          </a:bodyPr>
          <a:lstStyle/>
          <a:p>
            <a:pPr algn="l">
              <a:spcAft>
                <a:spcPts val="400"/>
              </a:spcAft>
            </a:pPr>
            <a:r>
              <a:rPr sz="2000" b="1">
                <a:solidFill>
                  <a:srgbClr val="0B2545"/>
                </a:solidFill>
                <a:latin typeface="Calibri"/>
              </a:rPr>
              <a:t>Confirm the hardware</a:t>
            </a:r>
          </a:p>
        </p:txBody>
      </p:sp>
      <p:sp>
        <p:nvSpPr>
          <p:cNvPr id="16" name="TextBox 15"/>
          <p:cNvSpPr txBox="1"/>
          <p:nvPr/>
        </p:nvSpPr>
        <p:spPr>
          <a:xfrm>
            <a:off x="4498848" y="2395728"/>
            <a:ext cx="3246120" cy="2286000"/>
          </a:xfrm>
          <a:prstGeom prst="rect">
            <a:avLst/>
          </a:prstGeom>
          <a:noFill/>
        </p:spPr>
        <p:txBody>
          <a:bodyPr wrap="square" anchor="t" lIns="54864" rIns="54864" tIns="27432" bIns="27432">
            <a:spAutoFit/>
          </a:bodyPr>
          <a:lstStyle/>
          <a:p>
            <a:pPr algn="l">
              <a:spcAft>
                <a:spcPts val="400"/>
              </a:spcAft>
            </a:pPr>
            <a:r>
              <a:rPr sz="1600" b="0">
                <a:solidFill>
                  <a:srgbClr val="1F2A37"/>
                </a:solidFill>
                <a:latin typeface="Calibri"/>
              </a:rPr>
              <a:t>Resistor units per stage</a:t>
            </a:r>
          </a:p>
          <a:p>
            <a:pPr algn="l">
              <a:spcAft>
                <a:spcPts val="400"/>
              </a:spcAft>
            </a:pPr>
            <a:r>
              <a:rPr sz="1600" b="0">
                <a:solidFill>
                  <a:srgbClr val="1F2A37"/>
                </a:solidFill>
                <a:latin typeface="Calibri"/>
              </a:rPr>
              <a:t>Loop inductance of the hall</a:t>
            </a:r>
          </a:p>
          <a:p>
            <a:pPr algn="l">
              <a:spcAft>
                <a:spcPts val="400"/>
              </a:spcAft>
            </a:pPr>
            <a:r>
              <a:rPr sz="1600" b="0">
                <a:solidFill>
                  <a:srgbClr val="1F2A37"/>
                </a:solidFill>
                <a:latin typeface="Calibri"/>
              </a:rPr>
              <a:t>Meaning of the nameplate stage connections</a:t>
            </a:r>
          </a:p>
        </p:txBody>
      </p:sp>
      <p:sp>
        <p:nvSpPr>
          <p:cNvPr id="17" name="Rectangle 16"/>
          <p:cNvSpPr/>
          <p:nvPr/>
        </p:nvSpPr>
        <p:spPr>
          <a:xfrm>
            <a:off x="8083296" y="1828800"/>
            <a:ext cx="3566160" cy="292608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83296" y="1828800"/>
            <a:ext cx="64008" cy="2926080"/>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66175" y="1920240"/>
            <a:ext cx="3291840" cy="457200"/>
          </a:xfrm>
          <a:prstGeom prst="rect">
            <a:avLst/>
          </a:prstGeom>
          <a:noFill/>
        </p:spPr>
        <p:txBody>
          <a:bodyPr wrap="square" anchor="t" lIns="54864" rIns="54864" tIns="27432" bIns="27432">
            <a:spAutoFit/>
          </a:bodyPr>
          <a:lstStyle/>
          <a:p>
            <a:pPr algn="l">
              <a:spcAft>
                <a:spcPts val="400"/>
              </a:spcAft>
            </a:pPr>
            <a:r>
              <a:rPr sz="2000" b="1">
                <a:solidFill>
                  <a:srgbClr val="0B2545"/>
                </a:solidFill>
                <a:latin typeface="Calibri"/>
              </a:rPr>
              <a:t>Validate the evaluator</a:t>
            </a:r>
          </a:p>
        </p:txBody>
      </p:sp>
      <p:sp>
        <p:nvSpPr>
          <p:cNvPr id="20" name="TextBox 19"/>
          <p:cNvSpPr txBox="1"/>
          <p:nvPr/>
        </p:nvSpPr>
        <p:spPr>
          <a:xfrm>
            <a:off x="8266175" y="2395728"/>
            <a:ext cx="3246120" cy="2286000"/>
          </a:xfrm>
          <a:prstGeom prst="rect">
            <a:avLst/>
          </a:prstGeom>
          <a:noFill/>
        </p:spPr>
        <p:txBody>
          <a:bodyPr wrap="square" anchor="t" lIns="54864" rIns="54864" tIns="27432" bIns="27432">
            <a:spAutoFit/>
          </a:bodyPr>
          <a:lstStyle/>
          <a:p>
            <a:pPr algn="l">
              <a:spcAft>
                <a:spcPts val="400"/>
              </a:spcAft>
            </a:pPr>
            <a:r>
              <a:rPr sz="1600" b="0">
                <a:solidFill>
                  <a:srgbClr val="1F2A37"/>
                </a:solidFill>
                <a:latin typeface="Calibri"/>
              </a:rPr>
              <a:t>IEC 61083-2 reference waveforms</a:t>
            </a:r>
          </a:p>
          <a:p>
            <a:pPr algn="l">
              <a:spcAft>
                <a:spcPts val="400"/>
              </a:spcAft>
            </a:pPr>
            <a:r>
              <a:rPr sz="1600" b="0">
                <a:solidFill>
                  <a:srgbClr val="1F2A37"/>
                </a:solidFill>
                <a:latin typeface="Calibri"/>
              </a:rPr>
              <a:t>The standard edition CPRI evaluates against</a:t>
            </a:r>
          </a:p>
        </p:txBody>
      </p:sp>
      <p:sp>
        <p:nvSpPr>
          <p:cNvPr id="21" name="Rectangle 20"/>
          <p:cNvSpPr/>
          <p:nvPr/>
        </p:nvSpPr>
        <p:spPr>
          <a:xfrm>
            <a:off x="548640" y="4983480"/>
            <a:ext cx="11064240" cy="109728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4983480"/>
            <a:ext cx="64008" cy="109728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5074920"/>
            <a:ext cx="10789920" cy="457200"/>
          </a:xfrm>
          <a:prstGeom prst="rect">
            <a:avLst/>
          </a:prstGeom>
          <a:noFill/>
        </p:spPr>
        <p:txBody>
          <a:bodyPr wrap="square" anchor="t" lIns="54864" rIns="54864" tIns="27432" bIns="27432">
            <a:spAutoFit/>
          </a:bodyPr>
          <a:lstStyle/>
          <a:p>
            <a:pPr algn="l">
              <a:spcAft>
                <a:spcPts val="400"/>
              </a:spcAft>
            </a:pPr>
            <a:r>
              <a:rPr sz="1800" b="1">
                <a:solidFill>
                  <a:srgbClr val="0B2545"/>
                </a:solidFill>
                <a:latin typeface="Calibri"/>
              </a:rPr>
              <a:t>Open to extend</a:t>
            </a:r>
          </a:p>
        </p:txBody>
      </p:sp>
      <p:sp>
        <p:nvSpPr>
          <p:cNvPr id="24" name="TextBox 23"/>
          <p:cNvSpPr txBox="1"/>
          <p:nvPr/>
        </p:nvSpPr>
        <p:spPr>
          <a:xfrm>
            <a:off x="731520" y="5550408"/>
            <a:ext cx="10744200" cy="457200"/>
          </a:xfrm>
          <a:prstGeom prst="rect">
            <a:avLst/>
          </a:prstGeom>
          <a:noFill/>
        </p:spPr>
        <p:txBody>
          <a:bodyPr wrap="square" anchor="t" lIns="54864" rIns="54864" tIns="27432" bIns="27432">
            <a:spAutoFit/>
          </a:bodyPr>
          <a:lstStyle/>
          <a:p>
            <a:pPr algn="l">
              <a:spcAft>
                <a:spcPts val="400"/>
              </a:spcAft>
            </a:pPr>
            <a:r>
              <a:rPr sz="1600" b="0">
                <a:solidFill>
                  <a:srgbClr val="1F2A37"/>
                </a:solidFill>
                <a:latin typeface="Calibri"/>
              </a:rPr>
              <a:t>Test-object failure modelling, other equipment classes, and a shared hall memory across machines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709160"/>
            <a:ext cx="12191695" cy="73152"/>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782312"/>
            <a:ext cx="12191695" cy="731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4855464"/>
            <a:ext cx="12191695" cy="73152"/>
          </a:xfrm>
          <a:prstGeom prst="rect">
            <a:avLst/>
          </a:prstGeom>
          <a:solidFill>
            <a:srgbClr val="138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554480"/>
            <a:ext cx="10515600" cy="1097280"/>
          </a:xfrm>
          <a:prstGeom prst="rect">
            <a:avLst/>
          </a:prstGeom>
          <a:noFill/>
        </p:spPr>
        <p:txBody>
          <a:bodyPr wrap="square" anchor="t" lIns="54864" rIns="54864" tIns="27432" bIns="27432">
            <a:spAutoFit/>
          </a:bodyPr>
          <a:lstStyle/>
          <a:p>
            <a:pPr algn="l">
              <a:spcAft>
                <a:spcPts val="400"/>
              </a:spcAft>
            </a:pPr>
            <a:r>
              <a:rPr sz="5400" b="1">
                <a:solidFill>
                  <a:srgbClr val="FFFFFF"/>
                </a:solidFill>
                <a:latin typeface="Calibri"/>
              </a:rPr>
              <a:t>Thank you</a:t>
            </a:r>
          </a:p>
        </p:txBody>
      </p:sp>
      <p:sp>
        <p:nvSpPr>
          <p:cNvPr id="7" name="TextBox 6"/>
          <p:cNvSpPr txBox="1"/>
          <p:nvPr/>
        </p:nvSpPr>
        <p:spPr>
          <a:xfrm>
            <a:off x="822960" y="2743200"/>
            <a:ext cx="10515600" cy="548640"/>
          </a:xfrm>
          <a:prstGeom prst="rect">
            <a:avLst/>
          </a:prstGeom>
          <a:noFill/>
        </p:spPr>
        <p:txBody>
          <a:bodyPr wrap="square" anchor="t" lIns="54864" rIns="54864" tIns="27432" bIns="27432">
            <a:spAutoFit/>
          </a:bodyPr>
          <a:lstStyle/>
          <a:p>
            <a:pPr algn="l">
              <a:spcAft>
                <a:spcPts val="400"/>
              </a:spcAft>
            </a:pPr>
            <a:r>
              <a:rPr sz="2400" b="1">
                <a:solidFill>
                  <a:srgbClr val="E8871E"/>
                </a:solidFill>
                <a:latin typeface="Calibri"/>
              </a:rPr>
              <a:t>Impulse Generator Settings  ·  Team Slayers</a:t>
            </a:r>
          </a:p>
        </p:txBody>
      </p:sp>
      <p:sp>
        <p:nvSpPr>
          <p:cNvPr id="8" name="TextBox 7"/>
          <p:cNvSpPr txBox="1"/>
          <p:nvPr/>
        </p:nvSpPr>
        <p:spPr>
          <a:xfrm>
            <a:off x="822960" y="3474720"/>
            <a:ext cx="10515600" cy="914400"/>
          </a:xfrm>
          <a:prstGeom prst="rect">
            <a:avLst/>
          </a:prstGeom>
          <a:noFill/>
        </p:spPr>
        <p:txBody>
          <a:bodyPr wrap="square" anchor="t" lIns="54864" rIns="54864" tIns="27432" bIns="27432">
            <a:spAutoFit/>
          </a:bodyPr>
          <a:lstStyle/>
          <a:p>
            <a:pPr algn="l">
              <a:spcAft>
                <a:spcPts val="400"/>
              </a:spcAft>
            </a:pPr>
            <a:r>
              <a:rPr sz="1800" b="0">
                <a:solidFill>
                  <a:srgbClr val="C9D2DD"/>
                </a:solidFill>
                <a:latin typeface="Calibri"/>
              </a:rPr>
              <a:t>Offline application, source, benchmark, deck and video:</a:t>
            </a:r>
          </a:p>
          <a:p>
            <a:pPr algn="l">
              <a:spcAft>
                <a:spcPts val="400"/>
              </a:spcAft>
            </a:pPr>
            <a:r>
              <a:rPr sz="1800" b="0">
                <a:solidFill>
                  <a:srgbClr val="C9D2DD"/>
                </a:solidFill>
                <a:latin typeface="Calibri"/>
              </a:rPr>
              <a:t>github.com/Shreyaskale7/Impulse_Twin</a:t>
            </a:r>
          </a:p>
        </p:txBody>
      </p:sp>
      <p:sp>
        <p:nvSpPr>
          <p:cNvPr id="9" name="TextBox 8"/>
          <p:cNvSpPr txBox="1"/>
          <p:nvPr/>
        </p:nvSpPr>
        <p:spPr>
          <a:xfrm>
            <a:off x="822960" y="5303520"/>
            <a:ext cx="10515600" cy="457200"/>
          </a:xfrm>
          <a:prstGeom prst="rect">
            <a:avLst/>
          </a:prstGeom>
          <a:noFill/>
        </p:spPr>
        <p:txBody>
          <a:bodyPr wrap="square" anchor="t" lIns="54864" rIns="54864" tIns="27432" bIns="27432">
            <a:spAutoFit/>
          </a:bodyPr>
          <a:lstStyle/>
          <a:p>
            <a:pPr algn="l">
              <a:spcAft>
                <a:spcPts val="400"/>
              </a:spcAft>
            </a:pPr>
            <a:r>
              <a:rPr sz="1600" b="0">
                <a:solidFill>
                  <a:srgbClr val="C9D2DD"/>
                </a:solidFill>
                <a:latin typeface="Calibri"/>
              </a:rPr>
              <a:t>PowerNext-AI  ·  CPRI with MIT Bengaluru  ·  Track 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